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25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66BB6A"/>
                </a:solidFill>
                <a:latin typeface="Calibri"/>
              </a:rPr>
              <a:t>🍃  FOODRESQ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0" i="0">
                <a:solidFill>
                  <a:srgbClr val="C8E6C9"/>
                </a:solidFill>
                <a:latin typeface="Calibri"/>
              </a:rPr>
              <a:t>Nền tảng cứu trợ &amp; tái phân phối thực phẩm dư thừa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Capstone Project — Review 2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E8F5E9"/>
                </a:solidFill>
                <a:latin typeface="Calibri"/>
              </a:rPr>
              <a:t>Báo cáo tiến độ: Kiến trúc · Cơ sở dữ liệu · Công nghệ · Đóng góp nhóm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Nhóm SP26SE088  ·  FPT University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8E6C9"/>
                </a:solidFill>
                <a:latin typeface="Calibri"/>
              </a:rPr>
              <a:t>GVHD: Đỗ Phúc Thịnh (thinhdp2@fpt.edu.vn)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8E6C9"/>
                </a:solidFill>
                <a:latin typeface="Calibri"/>
              </a:rPr>
              <a:t>Lê Đức Trí (Leader) · Lê Thị Minh Thư · Nguyễn Đặng Đăng Quan · Trần Bá Huy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46304" cy="65836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66BB6A"/>
                </a:solidFill>
                <a:latin typeface="Calibri"/>
              </a:rPr>
              <a:t>NỘI DUNG TRÌNH BÀY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12B27"/>
                </a:solidFill>
                <a:latin typeface="Calibri"/>
              </a:rPr>
              <a:t>Tổng quan báo cáo Review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25400"/>
          </a:xfrm>
          <a:prstGeom prst="rect">
            <a:avLst/>
          </a:prstGeom>
          <a:solidFill>
            <a:srgbClr val="CFE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10607040" cy="1325880"/>
          </a:xfrm>
          <a:prstGeom prst="rect">
            <a:avLst/>
          </a:prstGeom>
          <a:solidFill>
            <a:srgbClr val="FFFFFF"/>
          </a:solidFill>
          <a:ln w="15875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28016" cy="132588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92808"/>
            <a:ext cx="10058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900" b="1" i="0">
                <a:solidFill>
                  <a:srgbClr val="2E7D32"/>
                </a:solidFill>
                <a:latin typeface="Calibri"/>
              </a:rPr>
              <a:t>1 · Tài liệu thiết kế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 i="0">
                <a:solidFill>
                  <a:srgbClr val="5F6B66"/>
                </a:solidFill>
                <a:latin typeface="Calibri"/>
              </a:rPr>
              <a:t>Kiến trúc hệ thống · ERD/Database · State machine · Activity diagram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00400"/>
            <a:ext cx="10607040" cy="1325880"/>
          </a:xfrm>
          <a:prstGeom prst="rect">
            <a:avLst/>
          </a:prstGeom>
          <a:solidFill>
            <a:srgbClr val="FFFFFF"/>
          </a:solidFill>
          <a:ln w="15875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200400"/>
            <a:ext cx="128016" cy="132588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01568"/>
            <a:ext cx="10058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900" b="1" i="0">
                <a:solidFill>
                  <a:srgbClr val="2E7D32"/>
                </a:solidFill>
                <a:latin typeface="Calibri"/>
              </a:rPr>
              <a:t>2 · Sản phẩm &amp; Công nghệ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 i="0">
                <a:solidFill>
                  <a:srgbClr val="5F6B66"/>
                </a:solidFill>
                <a:latin typeface="Calibri"/>
              </a:rPr>
              <a:t>Dịch vụ bên thứ 3 · Tech stack · Quản lý mã nguồn &amp; DevOps · Môi trường deploy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709160"/>
            <a:ext cx="10607040" cy="1325880"/>
          </a:xfrm>
          <a:prstGeom prst="rect">
            <a:avLst/>
          </a:prstGeom>
          <a:solidFill>
            <a:srgbClr val="FFFFFF"/>
          </a:solidFill>
          <a:ln w="15875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709160"/>
            <a:ext cx="128016" cy="132588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910328"/>
            <a:ext cx="10058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900" b="1" i="0">
                <a:solidFill>
                  <a:srgbClr val="2E7D32"/>
                </a:solidFill>
                <a:latin typeface="Calibri"/>
              </a:rPr>
              <a:t>3 · Đóng góp &amp; Effort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 i="0">
                <a:solidFill>
                  <a:srgbClr val="5F6B66"/>
                </a:solidFill>
                <a:latin typeface="Calibri"/>
              </a:rPr>
              <a:t>Tổng hợp man-hour và tỷ lệ đóng góp của thành viên (Week 1 → Week 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F6B66"/>
                </a:solidFill>
                <a:latin typeface="Calibri"/>
              </a:rPr>
              <a:t>FoodResQ  ·  Capstone SP26SE088  ·  FPT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E7D3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46304" cy="65836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66BB6A"/>
                </a:solidFill>
                <a:latin typeface="Calibri"/>
              </a:rPr>
              <a:t>DOCUMENT · TÀI LIỆU THIẾT KẾ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12B27"/>
                </a:solidFill>
                <a:latin typeface="Calibri"/>
              </a:rPr>
              <a:t>Tổng quan kiến trúc hệ thống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25400"/>
          </a:xfrm>
          <a:prstGeom prst="rect">
            <a:avLst/>
          </a:prstGeom>
          <a:solidFill>
            <a:srgbClr val="CFE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6400800" cy="4526280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6400800" cy="4526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🖼  System Overview Diagram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 i="1">
                <a:solidFill>
                  <a:srgbClr val="5F6B66"/>
                </a:solidFill>
                <a:latin typeface="Calibri"/>
              </a:rPr>
              <a:t>(Chèn diagram của nhóm vào đây)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5544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12B27"/>
                </a:solidFill>
                <a:latin typeface="Calibri"/>
              </a:rPr>
              <a:t>Các thành phần chính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993392"/>
            <a:ext cx="402336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1" y="205740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Client —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Web (Next.js) · Mobile (Expo/React Native)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670048"/>
            <a:ext cx="402336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1231" y="2734056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API Gateway —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NestJS REST /api/v1 + WebSocket (Socket.io)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3346704"/>
            <a:ext cx="402336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3410712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Business Layer —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12 module: auth, listings, reservations, deliveries, campaigns, volunteers, esg, recipes…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4023360"/>
            <a:ext cx="402336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4087368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Data Layer —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PostgreSQL + PostGIS (Prisma ORM)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4700016"/>
            <a:ext cx="402336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4764024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Realtime/Cache —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Redis — khóa phân tán (Redlock), hàng đợi BullMQ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5376672"/>
            <a:ext cx="402336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544068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External —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Firebase (Auth/FCM) · Google OAuth · AI face-api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F6B66"/>
                </a:solidFill>
                <a:latin typeface="Calibri"/>
              </a:rPr>
              <a:t>FoodResQ  ·  Capstone SP26SE088  ·  FPT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E7D3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46304" cy="65836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66BB6A"/>
                </a:solidFill>
                <a:latin typeface="Calibri"/>
              </a:rPr>
              <a:t>DOCUMENT · TÀI LIỆU THIẾT KẾ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12B27"/>
                </a:solidFill>
                <a:latin typeface="Calibri"/>
              </a:rPr>
              <a:t>Logical ERD &amp; Cơ sở dữ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25400"/>
          </a:xfrm>
          <a:prstGeom prst="rect">
            <a:avLst/>
          </a:prstGeom>
          <a:solidFill>
            <a:srgbClr val="CFE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6400800" cy="4526280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6400800" cy="4526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🖼  Logical ERD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 i="1">
                <a:solidFill>
                  <a:srgbClr val="5F6B66"/>
                </a:solidFill>
                <a:latin typeface="Calibri"/>
              </a:rPr>
              <a:t>(Chèn diagram của nhóm vào đây)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5544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12B27"/>
                </a:solidFill>
                <a:latin typeface="Calibri"/>
              </a:rPr>
              <a:t>Nhóm thực thể chính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993392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66BB6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12B27"/>
                </a:solidFill>
                <a:latin typeface="Calibri"/>
              </a:rPr>
              <a:t>Users &amp; Auth: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users, refresh_tokens, provider/volunteer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569464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66BB6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12B27"/>
                </a:solidFill>
                <a:latin typeface="Calibri"/>
              </a:rPr>
              <a:t>Food: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food_listings (PostGIS), food_categories, recipes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145536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66BB6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12B27"/>
                </a:solidFill>
                <a:latin typeface="Calibri"/>
              </a:rPr>
              <a:t>Reservation: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reservations (QR token), reservation_items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721608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66BB6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12B27"/>
                </a:solidFill>
                <a:latin typeface="Calibri"/>
              </a:rPr>
              <a:t>Delivery: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deliveries, shipper_task_offers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297680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66BB6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12B27"/>
                </a:solidFill>
                <a:latin typeface="Calibri"/>
              </a:rPr>
              <a:t>Community: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campaigns, campaign_participants, volunteer_profiles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873752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66BB6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12B27"/>
                </a:solidFill>
                <a:latin typeface="Calibri"/>
              </a:rPr>
              <a:t>Trust &amp; ESG: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trust_score_logs, esg_snapshots,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449824"/>
            <a:ext cx="4023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66BB6A"/>
                </a:solidFill>
                <a:latin typeface="Calibri"/>
              </a:rPr>
              <a:t>● </a:t>
            </a:r>
            <a:r>
              <a:rPr sz="1200" b="1" i="0">
                <a:solidFill>
                  <a:srgbClr val="212B27"/>
                </a:solidFill>
                <a:latin typeface="Calibri"/>
              </a:rPr>
              <a:t>System: </a:t>
            </a:r>
            <a:r>
              <a:rPr sz="1050" b="0" i="0">
                <a:solidFill>
                  <a:srgbClr val="5F6B66"/>
                </a:solidFill>
                <a:latin typeface="Calibri"/>
              </a:rPr>
              <a:t>notifications, system_configs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59436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1">
                <a:solidFill>
                  <a:srgbClr val="5F6B66"/>
                </a:solidFill>
                <a:latin typeface="Calibri"/>
              </a:rPr>
              <a:t>PostgreSQL + PostGIS · GIST index cho cột GEOGRAPHY · soft-delete (deleted_at)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F6B66"/>
                </a:solidFill>
                <a:latin typeface="Calibri"/>
              </a:rPr>
              <a:t>FoodResQ  ·  Capstone SP26SE088  ·  FPT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E7D3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46304" cy="65836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66BB6A"/>
                </a:solidFill>
                <a:latin typeface="Calibri"/>
              </a:rPr>
              <a:t>DOCUMENT · TÀI LIỆU THIẾT KẾ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12B27"/>
                </a:solidFill>
                <a:latin typeface="Calibri"/>
              </a:rPr>
              <a:t>State Machine — các thực thể chính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25400"/>
          </a:xfrm>
          <a:prstGeom prst="rect">
            <a:avLst/>
          </a:prstGeom>
          <a:solidFill>
            <a:srgbClr val="CFE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5852160" cy="4526280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852160" cy="4526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🖼  State Machine Diagrams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 i="1">
                <a:solidFill>
                  <a:srgbClr val="5F6B66"/>
                </a:solidFill>
                <a:latin typeface="Calibri"/>
              </a:rPr>
              <a:t>(Chèn diagram của nhóm vào đây)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12B27"/>
                </a:solidFill>
                <a:latin typeface="Calibri"/>
              </a:rPr>
              <a:t>Vòng đời trạng thái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011680"/>
            <a:ext cx="457200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201168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2066544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Food Listing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5F6B66"/>
                </a:solidFill>
                <a:latin typeface="Calibri"/>
              </a:rPr>
              <a:t>draft → active → fully_reserved → completed / expired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724912"/>
            <a:ext cx="457200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2724912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2779776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Reservation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5F6B66"/>
                </a:solidFill>
                <a:latin typeface="Calibri"/>
              </a:rPr>
              <a:t>confirmed → picked_up → completed · (cancelled / no_show)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438144"/>
            <a:ext cx="457200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3438144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3493008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Delivery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5F6B66"/>
                </a:solidFill>
                <a:latin typeface="Calibri"/>
              </a:rPr>
              <a:t>pending_assignment → assigned → in_transit → delivered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151376"/>
            <a:ext cx="457200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4151376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4206240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User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5F6B66"/>
                </a:solidFill>
                <a:latin typeface="Calibri"/>
              </a:rPr>
              <a:t>pending_verification → active → suspended / banned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4864608"/>
            <a:ext cx="457200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4864608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9168" y="4919472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Campaign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5F6B66"/>
                </a:solidFill>
                <a:latin typeface="Calibri"/>
              </a:rPr>
              <a:t>draft → active → completed / cancelled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5577840"/>
            <a:ext cx="4572000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55778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5632704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Verification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5F6B66"/>
                </a:solidFill>
                <a:latin typeface="Calibri"/>
              </a:rPr>
              <a:t>pending → under_review → approved / rejected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F6B66"/>
                </a:solidFill>
                <a:latin typeface="Calibri"/>
              </a:rPr>
              <a:t>FoodResQ  ·  Capstone SP26SE088  ·  FPT University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E7D3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46304" cy="65836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66BB6A"/>
                </a:solidFill>
                <a:latin typeface="Calibri"/>
              </a:rPr>
              <a:t>DOCUMENT · TÀI LIỆU THIẾT KẾ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12B27"/>
                </a:solidFill>
                <a:latin typeface="Calibri"/>
              </a:rPr>
              <a:t>Activity Diagram — luồng nghiệp vụ chính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25400"/>
          </a:xfrm>
          <a:prstGeom prst="rect">
            <a:avLst/>
          </a:prstGeom>
          <a:solidFill>
            <a:srgbClr val="CFE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5852160" cy="4526280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852160" cy="4526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🖼  Activity Diagrams / Flowcharts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 i="1">
                <a:solidFill>
                  <a:srgbClr val="5F6B66"/>
                </a:solidFill>
                <a:latin typeface="Calibri"/>
              </a:rPr>
              <a:t>(Chèn diagram của nhóm vào đây)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12B27"/>
                </a:solidFill>
                <a:latin typeface="Calibri"/>
              </a:rPr>
              <a:t>Nghiệp vụ &amp; Actors tham 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1168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Đặt giữ thực phẩm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0" i="0">
                <a:solidFill>
                  <a:srgbClr val="5F6B66"/>
                </a:solidFill>
                <a:latin typeface="Calibri"/>
              </a:rPr>
              <a:t>Receiver → tìm kiếm gần (PostGIS) → giữ chỗ → nhận QR → Provider quét QR → hoàn tất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3464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Điều phối shipper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0" i="0">
                <a:solidFill>
                  <a:srgbClr val="5F6B66"/>
                </a:solidFill>
                <a:latin typeface="Calibri"/>
              </a:rPr>
              <a:t>Hệ thống chọn 5 TNV gần nhất → gửi offer (2 phút) → Shipper nhận → giao hàng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65760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Đăng tin thực phẩm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0" i="0">
                <a:solidFill>
                  <a:srgbClr val="5F6B66"/>
                </a:solidFill>
                <a:latin typeface="Calibri"/>
              </a:rPr>
              <a:t>Provider tạo tin → kiểm duyệt → hiển thị trên bản đồ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48056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Chiến dịch cộng đồng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0" i="0">
                <a:solidFill>
                  <a:srgbClr val="5F6B66"/>
                </a:solidFill>
                <a:latin typeface="Calibri"/>
              </a:rPr>
              <a:t>Provider/Admin mở campaign → Volunteer tham gia → ghi nhận đóng góp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30352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Xác minh &amp; Trust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0" i="0">
                <a:solidFill>
                  <a:srgbClr val="5F6B66"/>
                </a:solidFill>
                <a:latin typeface="Calibri"/>
              </a:rPr>
              <a:t>Admin duyệt hồ sơ · điểm uy tín thay đổi theo hành vi (no-show, hủy muộn…)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172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66BB6A"/>
                </a:solidFill>
                <a:latin typeface="Calibri"/>
              </a:rPr>
              <a:t>Actors: Receiver · Provider · Volunteer/Shipper ·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F6B66"/>
                </a:solidFill>
                <a:latin typeface="Calibri"/>
              </a:rPr>
              <a:t>FoodResQ  ·  Capstone SP26SE088  ·  FPT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E7D3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46304" cy="65836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66BB6A"/>
                </a:solidFill>
                <a:latin typeface="Calibri"/>
              </a:rPr>
              <a:t>PRODUCT / TECH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12B27"/>
                </a:solidFill>
                <a:latin typeface="Calibri"/>
              </a:rPr>
              <a:t>Dịch vụ bên thứ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25400"/>
          </a:xfrm>
          <a:prstGeom prst="rect">
            <a:avLst/>
          </a:prstGeom>
          <a:solidFill>
            <a:srgbClr val="CFE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3456432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3456432" cy="6400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64792"/>
            <a:ext cx="3090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🔐 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21992"/>
            <a:ext cx="3090672" cy="1417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212B27"/>
                </a:solidFill>
                <a:latin typeface="Calibri"/>
              </a:rPr>
              <a:t>Firebase Authentication</a:t>
            </a:r>
            <a:r>
              <a:rPr sz="1150" b="0" i="0">
                <a:solidFill>
                  <a:srgbClr val="5F6B66"/>
                </a:solidFill>
                <a:latin typeface="Calibri"/>
              </a:rPr>
              <a:t> — đăng nhập email/social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212B27"/>
                </a:solidFill>
                <a:latin typeface="Calibri"/>
              </a:rPr>
              <a:t>Google OAuth</a:t>
            </a:r>
            <a:r>
              <a:rPr sz="1150" b="0" i="0">
                <a:solidFill>
                  <a:srgbClr val="5F6B66"/>
                </a:solidFill>
                <a:latin typeface="Calibri"/>
              </a:rPr>
              <a:t> (google-auth-library)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212B27"/>
                </a:solidFill>
                <a:latin typeface="Calibri"/>
              </a:rPr>
              <a:t>NextAuth v5</a:t>
            </a:r>
            <a:r>
              <a:rPr sz="1150" b="0" i="0">
                <a:solidFill>
                  <a:srgbClr val="5F6B66"/>
                </a:solidFill>
                <a:latin typeface="Calibri"/>
              </a:rPr>
              <a:t> — phiên đăng nhập web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JWT access + refresh token (tự quản lý)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544" y="1600200"/>
            <a:ext cx="3456432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600200"/>
            <a:ext cx="3456432" cy="6400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64792"/>
            <a:ext cx="3090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☁  Storage &amp; 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21992"/>
            <a:ext cx="3090672" cy="1417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212B27"/>
                </a:solidFill>
                <a:latin typeface="Calibri"/>
              </a:rPr>
              <a:t>Supabase Storage</a:t>
            </a:r>
            <a:r>
              <a:rPr sz="1150" b="0" i="0">
                <a:solidFill>
                  <a:srgbClr val="5F6B66"/>
                </a:solidFill>
                <a:latin typeface="Calibri"/>
              </a:rPr>
              <a:t> — ảnh tin đăng, minh chứng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212B27"/>
                </a:solidFill>
                <a:latin typeface="Calibri"/>
              </a:rPr>
              <a:t>Firebase Cloud Messaging</a:t>
            </a:r>
            <a:r>
              <a:rPr sz="1150" b="0" i="0">
                <a:solidFill>
                  <a:srgbClr val="5F6B66"/>
                </a:solidFill>
                <a:latin typeface="Calibri"/>
              </a:rPr>
              <a:t> — push notification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Realtime: Socket.io (WebSocket)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7848" y="1600200"/>
            <a:ext cx="3456432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7848" y="1600200"/>
            <a:ext cx="3456432" cy="6400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6" y="1764792"/>
            <a:ext cx="3090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🤖  AI /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6" y="2221992"/>
            <a:ext cx="3090672" cy="1417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212B27"/>
                </a:solidFill>
                <a:latin typeface="Calibri"/>
              </a:rPr>
              <a:t>TensorFlow.js + face-api</a:t>
            </a:r>
            <a:r>
              <a:rPr sz="1150" b="0" i="0">
                <a:solidFill>
                  <a:srgbClr val="5F6B66"/>
                </a:solidFill>
                <a:latin typeface="Calibri"/>
              </a:rPr>
              <a:t> — nhận diện khuôn mặt / xác thực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212B27"/>
                </a:solidFill>
                <a:latin typeface="Calibri"/>
              </a:rPr>
              <a:t>Recipes module</a:t>
            </a:r>
            <a:r>
              <a:rPr sz="1150" b="0" i="0">
                <a:solidFill>
                  <a:srgbClr val="5F6B66"/>
                </a:solidFill>
                <a:latin typeface="Calibri"/>
              </a:rPr>
              <a:t> — gợi ý công thức từ thực phẩm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Bản đồ: Leaflet / OpenStreetMap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114800"/>
            <a:ext cx="10607040" cy="1874519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9768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E7D32"/>
                </a:solidFill>
                <a:latin typeface="Calibri"/>
              </a:rPr>
              <a:t>Vai trò trong hệ thống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12B27"/>
                </a:solidFill>
                <a:latin typeface="Calibri"/>
              </a:rPr>
              <a:t>• Firebase đảm nhiệm xác thực social + đẩy thông báo, giảm chi phí tự xây.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12B27"/>
                </a:solidFill>
                <a:latin typeface="Calibri"/>
              </a:rPr>
              <a:t>• Supabase Storage lưu trữ hình ảnh; bản đồ dùng Leaflet (OpenStreetMap) — không phụ thuộc Mapbox.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12B27"/>
                </a:solidFill>
                <a:latin typeface="Calibri"/>
              </a:rPr>
              <a:t>• AI face-api chạy on-device/server để hỗ trợ xác minh danh tính tình nguyện viên.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F6B66"/>
                </a:solidFill>
                <a:latin typeface="Calibri"/>
              </a:rPr>
              <a:t>FoodResQ  ·  Capstone SP26SE088  ·  FPT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E7D3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46304" cy="65836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66BB6A"/>
                </a:solidFill>
                <a:latin typeface="Calibri"/>
              </a:rPr>
              <a:t>PRODUCT / TECH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12B27"/>
                </a:solidFill>
                <a:latin typeface="Calibri"/>
              </a:rPr>
              <a:t>Công nghệ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25400"/>
          </a:xfrm>
          <a:prstGeom prst="rect">
            <a:avLst/>
          </a:prstGeom>
          <a:solidFill>
            <a:srgbClr val="CFE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2743200" cy="676656"/>
          </a:xfrm>
          <a:prstGeom prst="rect">
            <a:avLst/>
          </a:prstGeom>
          <a:solidFill>
            <a:srgbClr val="2E7D32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20440" y="1645920"/>
            <a:ext cx="7863840" cy="676656"/>
          </a:xfrm>
          <a:prstGeom prst="rect">
            <a:avLst/>
          </a:prstGeom>
          <a:solidFill>
            <a:srgbClr val="2E7D32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45920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Lĩnh vực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2" y="1645920"/>
            <a:ext cx="7498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Công nghệ chính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22576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2322576"/>
            <a:ext cx="7863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322576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12B27"/>
                </a:solidFill>
                <a:latin typeface="Calibri"/>
              </a:rPr>
              <a:t>Front-end (Web)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322576"/>
            <a:ext cx="7498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F6B66"/>
                </a:solidFill>
                <a:latin typeface="Calibri"/>
              </a:rPr>
              <a:t>Next.js 16 · React 19 · TypeScript · Tailwind · TanStack Query/Table · Leaflet · Zustand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999232"/>
            <a:ext cx="2743200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2999232"/>
            <a:ext cx="7863840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999232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12B27"/>
                </a:solidFill>
                <a:latin typeface="Calibri"/>
              </a:rPr>
              <a:t>Mobile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999232"/>
            <a:ext cx="7498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F6B66"/>
                </a:solidFill>
                <a:latin typeface="Calibri"/>
              </a:rPr>
              <a:t>Expo 56 · React Native 0.85 · expo-router · TanStack Query · React Native Paper · Firebase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75888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0440" y="3675888"/>
            <a:ext cx="7863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675888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12B27"/>
                </a:solidFill>
                <a:latin typeface="Calibri"/>
              </a:rPr>
              <a:t>Back-end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5032" y="3675888"/>
            <a:ext cx="7498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F6B66"/>
                </a:solidFill>
                <a:latin typeface="Calibri"/>
              </a:rPr>
              <a:t>NestJS 11 · Prisma 6 · Passport JWT · BullMQ · Socket.io · Swagger · Throttler · Helmet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52544"/>
            <a:ext cx="2743200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0440" y="4352544"/>
            <a:ext cx="7863840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352544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12B27"/>
                </a:solidFill>
                <a:latin typeface="Calibri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4352544"/>
            <a:ext cx="7498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F6B66"/>
                </a:solidFill>
                <a:latin typeface="Calibri"/>
              </a:rPr>
              <a:t>PostgreSQL + PostGIS (spatial) · Redis (cache + Redlock + queue)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029200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20440" y="5029200"/>
            <a:ext cx="7863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5029200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12B27"/>
                </a:solidFill>
                <a:latin typeface="Calibri"/>
              </a:rPr>
              <a:t>Shared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032" y="5029200"/>
            <a:ext cx="7498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F6B66"/>
                </a:solidFill>
                <a:latin typeface="Calibri"/>
              </a:rPr>
              <a:t>Monorepo pnpm · packages/types (enums) · packages/dto (Zod)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705856"/>
            <a:ext cx="2743200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20440" y="5705856"/>
            <a:ext cx="7863840" cy="676656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5705856"/>
            <a:ext cx="24688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12B27"/>
                </a:solidFill>
                <a:latin typeface="Calibri"/>
              </a:rPr>
              <a:t>AI / 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5032" y="5705856"/>
            <a:ext cx="7498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F6B66"/>
                </a:solidFill>
                <a:latin typeface="Calibri"/>
              </a:rPr>
              <a:t>TensorFlow.js · @vladmandic/face-api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F6B66"/>
                </a:solidFill>
                <a:latin typeface="Calibri"/>
              </a:rPr>
              <a:t>FoodResQ  ·  Capstone SP26SE088  ·  FPT University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E7D3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46304" cy="65836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66BB6A"/>
                </a:solidFill>
                <a:latin typeface="Calibri"/>
              </a:rPr>
              <a:t>PRODUCT / TECH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12B27"/>
                </a:solidFill>
                <a:latin typeface="Calibri"/>
              </a:rPr>
              <a:t>Quản lý mã nguồn, DevOps &amp; Môi trường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25400"/>
          </a:xfrm>
          <a:prstGeom prst="rect">
            <a:avLst/>
          </a:prstGeom>
          <a:solidFill>
            <a:srgbClr val="CFE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12B27"/>
                </a:solidFill>
                <a:latin typeface="Calibri"/>
              </a:rPr>
              <a:t>Quản lý mã nguồn &amp; DevOps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93392"/>
            <a:ext cx="5230368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93392"/>
            <a:ext cx="5230368" cy="6400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57984"/>
            <a:ext cx="4864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🐙  Source &amp;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15184"/>
            <a:ext cx="4864608" cy="685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212B27"/>
                </a:solidFill>
                <a:latin typeface="Calibri"/>
              </a:rPr>
              <a:t>GitHub</a:t>
            </a:r>
            <a:r>
              <a:rPr sz="1150" b="0" i="0">
                <a:solidFill>
                  <a:srgbClr val="5F6B66"/>
                </a:solidFill>
                <a:latin typeface="Calibri"/>
              </a:rPr>
              <a:t> — quản lý mã nguồn, Pull Request, code review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Monorepo pnpm workspace (api · web · mobile · packages)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Quy trình: branch → PR → review → merge vào master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993392"/>
            <a:ext cx="5184648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993392"/>
            <a:ext cx="5184648" cy="6400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57984"/>
            <a:ext cx="4818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🛠  Build / 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15184"/>
            <a:ext cx="4818888" cy="685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Prisma migrate / db push (Supabase cloud)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EAS / Expo dev-client cho Android build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ESLint · TypeScript strict · Jest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12B27"/>
                </a:solidFill>
                <a:latin typeface="Calibri"/>
              </a:rPr>
              <a:t>Môi trường triển khai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78224"/>
            <a:ext cx="3456432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78224"/>
            <a:ext cx="3456432" cy="6400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242816"/>
            <a:ext cx="3090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▲  Frontend — Vercel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700016"/>
            <a:ext cx="309067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212B27"/>
                </a:solidFill>
                <a:latin typeface="Calibri"/>
              </a:rPr>
              <a:t>Vercel</a:t>
            </a:r>
            <a:r>
              <a:rPr sz="1150" b="0" i="0">
                <a:solidFill>
                  <a:srgbClr val="5F6B66"/>
                </a:solidFill>
                <a:latin typeface="Calibri"/>
              </a:rPr>
              <a:t> — hosting Next.js web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Auto deploy theo nhánh Git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CDN + SSR/Edge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2544" y="4078224"/>
            <a:ext cx="3456432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4078224"/>
            <a:ext cx="3456432" cy="6400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4242816"/>
            <a:ext cx="3090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🚆  Backend — Railway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700016"/>
            <a:ext cx="309067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212B27"/>
                </a:solidFill>
                <a:latin typeface="Calibri"/>
              </a:rPr>
              <a:t>Railway</a:t>
            </a:r>
            <a:r>
              <a:rPr sz="1150" b="0" i="0">
                <a:solidFill>
                  <a:srgbClr val="5F6B66"/>
                </a:solidFill>
                <a:latin typeface="Calibri"/>
              </a:rPr>
              <a:t> — hosting NestJS API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Biến môi trường + log tập trung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Kết nối Redis / 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7848" y="4078224"/>
            <a:ext cx="3456432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27848" y="4078224"/>
            <a:ext cx="3456432" cy="6400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9016" y="4242816"/>
            <a:ext cx="3090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Calibri"/>
              </a:rPr>
              <a:t>🗄  Database — Supabase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4700016"/>
            <a:ext cx="309067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212B27"/>
                </a:solidFill>
                <a:latin typeface="Calibri"/>
              </a:rPr>
              <a:t>Supabase</a:t>
            </a:r>
            <a:r>
              <a:rPr sz="1150" b="0" i="0">
                <a:solidFill>
                  <a:srgbClr val="5F6B66"/>
                </a:solidFill>
                <a:latin typeface="Calibri"/>
              </a:rPr>
              <a:t> — PostgreSQL + PostGIS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Storage cho file/ảnh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F6B66"/>
                </a:solidFill>
                <a:latin typeface="Calibri"/>
              </a:rPr>
              <a:t>Quản lý cloud, backup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F6B66"/>
                </a:solidFill>
                <a:latin typeface="Calibri"/>
              </a:rPr>
              <a:t>FoodResQ  ·  Capstone SP26SE088  ·  FPT University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E7D3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46304" cy="65836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66BB6A"/>
                </a:solidFill>
                <a:latin typeface="Calibri"/>
              </a:rPr>
              <a:t>TEAM CONTRIBUTION &amp; EFFORT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212B27"/>
                </a:solidFill>
                <a:latin typeface="Calibri"/>
              </a:rPr>
              <a:t>Tỷ lệ đóng góp (Week 1 → Week 8)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25400"/>
          </a:xfrm>
          <a:prstGeom prst="rect">
            <a:avLst/>
          </a:prstGeom>
          <a:solidFill>
            <a:srgbClr val="CFE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1874519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70992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Thành viên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59" y="1627632"/>
            <a:ext cx="96012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1627632"/>
            <a:ext cx="7955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Vai trò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1627632"/>
            <a:ext cx="416052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19" y="1627632"/>
            <a:ext cx="3995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Phần việc chính (Dev / Doc)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799" y="1627632"/>
            <a:ext cx="105156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39" y="1627632"/>
            <a:ext cx="8869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Man-hour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59" y="1627632"/>
            <a:ext cx="713232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799" y="16276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08591" y="1627632"/>
            <a:ext cx="141732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1" y="1627632"/>
            <a:ext cx="12527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Ghi chú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76272"/>
            <a:ext cx="1874519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76272"/>
            <a:ext cx="1709927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12B27"/>
                </a:solidFill>
                <a:latin typeface="Calibri"/>
              </a:rPr>
              <a:t>Lê Đức Trí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59" y="2176272"/>
            <a:ext cx="960120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599" y="2176272"/>
            <a:ext cx="7955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12B27"/>
                </a:solidFill>
                <a:latin typeface="Calibri"/>
              </a:rPr>
              <a:t>Leader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176272"/>
            <a:ext cx="4160520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19" y="2176272"/>
            <a:ext cx="39959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12B27"/>
                </a:solidFill>
                <a:latin typeface="Calibri"/>
              </a:rPr>
              <a:t>BE core (auth, reservation, delivery, Redis lock); kiến trúc; DevOps deploy / Doc: System diagram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799" y="2176272"/>
            <a:ext cx="1051560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39" y="2176272"/>
            <a:ext cx="88696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12B27"/>
                </a:solidFill>
                <a:latin typeface="Calibri"/>
              </a:rPr>
              <a:t>168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59" y="2176272"/>
            <a:ext cx="713232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2176272"/>
            <a:ext cx="5486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28%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8591" y="2176272"/>
            <a:ext cx="1417320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1" y="2176272"/>
            <a:ext cx="12527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F6B66"/>
                </a:solidFill>
                <a:latin typeface="Calibri"/>
              </a:rPr>
              <a:t>Hoàn thành tốt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108960"/>
            <a:ext cx="187451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108960"/>
            <a:ext cx="1709927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12B27"/>
                </a:solidFill>
                <a:latin typeface="Calibri"/>
              </a:rPr>
              <a:t>Trần Bá Huy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59" y="3108960"/>
            <a:ext cx="960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599" y="3108960"/>
            <a:ext cx="7955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12B27"/>
                </a:solidFill>
                <a:latin typeface="Calibri"/>
              </a:rPr>
              <a:t>Member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79" y="3108960"/>
            <a:ext cx="41605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19" y="3108960"/>
            <a:ext cx="39959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12B27"/>
                </a:solidFill>
                <a:latin typeface="Calibri"/>
              </a:rPr>
              <a:t>Mobile app (Expo/RN), luồng QR, tích hợp API / Doc: Activity diagram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799" y="3108960"/>
            <a:ext cx="10515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39" y="3108960"/>
            <a:ext cx="88696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12B27"/>
                </a:solidFill>
                <a:latin typeface="Calibri"/>
              </a:rPr>
              <a:t>150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59" y="3108960"/>
            <a:ext cx="71323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799" y="3108960"/>
            <a:ext cx="5486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25%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08591" y="3108960"/>
            <a:ext cx="14173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00031" y="3108960"/>
            <a:ext cx="12527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F6B66"/>
                </a:solidFill>
                <a:latin typeface="Calibri"/>
              </a:rPr>
              <a:t>Hoàn thành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041648"/>
            <a:ext cx="1874519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041648"/>
            <a:ext cx="1709927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12B27"/>
                </a:solidFill>
                <a:latin typeface="Calibri"/>
              </a:rPr>
              <a:t>Lê Thị Minh Thư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23159" y="4041648"/>
            <a:ext cx="960120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4599" y="4041648"/>
            <a:ext cx="7955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12B27"/>
                </a:solidFill>
                <a:latin typeface="Calibri"/>
              </a:rPr>
              <a:t>Member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4041648"/>
            <a:ext cx="4160520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19" y="4041648"/>
            <a:ext cx="39959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12B27"/>
                </a:solidFill>
                <a:latin typeface="Calibri"/>
              </a:rPr>
              <a:t>Frontend web (Next.js: admin, provider, listings, campaigns) / Doc: ERD &amp; DB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43799" y="4041648"/>
            <a:ext cx="1051560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39" y="4041648"/>
            <a:ext cx="88696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12B27"/>
                </a:solidFill>
                <a:latin typeface="Calibri"/>
              </a:rPr>
              <a:t>144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59" y="4041648"/>
            <a:ext cx="713232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799" y="4041648"/>
            <a:ext cx="5486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24%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1" y="4041648"/>
            <a:ext cx="1417320" cy="932688"/>
          </a:xfrm>
          <a:prstGeom prst="rect">
            <a:avLst/>
          </a:prstGeom>
          <a:solidFill>
            <a:srgbClr val="E8F5E9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00031" y="4041648"/>
            <a:ext cx="12527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F6B66"/>
                </a:solidFill>
                <a:latin typeface="Calibri"/>
              </a:rPr>
              <a:t>Hoàn thành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974336"/>
            <a:ext cx="187451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974336"/>
            <a:ext cx="1709927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12B27"/>
                </a:solidFill>
                <a:latin typeface="Calibri"/>
              </a:rPr>
              <a:t>Nguyễn Đặng Đăng Quan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23159" y="4974336"/>
            <a:ext cx="960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14599" y="4974336"/>
            <a:ext cx="7955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12B27"/>
                </a:solidFill>
                <a:latin typeface="Calibri"/>
              </a:rPr>
              <a:t>Member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79" y="4974336"/>
            <a:ext cx="41605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19" y="4974336"/>
            <a:ext cx="39959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12B27"/>
                </a:solidFill>
                <a:latin typeface="Calibri"/>
              </a:rPr>
              <a:t>BE modules (listings, campaigns, esg, notifications), AI face-api / Doc: State machine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43799" y="4974336"/>
            <a:ext cx="10515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35239" y="4974336"/>
            <a:ext cx="88696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12B27"/>
                </a:solidFill>
                <a:latin typeface="Calibri"/>
              </a:rPr>
              <a:t>138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59" y="4974336"/>
            <a:ext cx="71323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799" y="4974336"/>
            <a:ext cx="5486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23%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08591" y="4974336"/>
            <a:ext cx="14173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00031" y="4974336"/>
            <a:ext cx="125272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F6B66"/>
                </a:solidFill>
                <a:latin typeface="Calibri"/>
              </a:rPr>
              <a:t>Hoàn thành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907024"/>
            <a:ext cx="6995159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5907024"/>
            <a:ext cx="68122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TỔNG CỘNG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43799" y="5907024"/>
            <a:ext cx="105156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43799" y="5907024"/>
            <a:ext cx="1051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600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95359" y="5907024"/>
            <a:ext cx="713232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95359" y="5907024"/>
            <a:ext cx="7132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08591" y="5907024"/>
            <a:ext cx="141732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C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6400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1">
                <a:solidFill>
                  <a:srgbClr val="5F6B66"/>
                </a:solidFill>
                <a:latin typeface="Calibri"/>
              </a:rPr>
              <a:t>* Số liệu nháp — nhóm chỉnh lại man-hour/% theo log thực tế trước buổi Review 2.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F6B66"/>
                </a:solidFill>
                <a:latin typeface="Calibri"/>
              </a:rPr>
              <a:t>FoodResQ  ·  Capstone SP26SE088  ·  FPT University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E7D3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Cảm ơn thầy và các bạn!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600" b="0" i="0">
                <a:solidFill>
                  <a:srgbClr val="C8E6C9"/>
                </a:solidFill>
                <a:latin typeface="Calibri"/>
              </a:rPr>
              <a:t>FoodResQ — Giảm lãng phí thực phẩm, kết nối cộng đồng 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Nhóm SP26SE088 · FPT University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66BB6A"/>
                </a:solidFill>
                <a:latin typeface="Calibri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