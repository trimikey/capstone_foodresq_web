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8F5"/>
        </a:solidFill>
      </p:bgPr>
    </p:bg>
    <p:spTree>
      <p:nvGrpSpPr>
        <p:cNvPr id="1" name=""/>
        <p:cNvGrpSpPr/>
        <p:nvPr/>
      </p:nvGrpSpPr>
      <p:grpSpPr>
        <a:xfrm>
          <a:off x="0" y="0"/>
          <a:ext cx="0" cy="0"/>
          <a:chOff x="0" y="0"/>
          <a:chExt cx="0" cy="0"/>
        </a:xfrm>
      </p:grpSpPr>
      <p:pic>
        <p:nvPicPr>
          <p:cNvPr id="2" name="Image 0" descr="D:\Capstone_FoodResQ_Web\apps\web\public\hero_food_bg.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C1E18">
              <a:alpha val="82000"/>
            </a:srgbClr>
          </a:solidFill>
          <a:ln w="12700">
            <a:solidFill>
              <a:srgbClr val="333333">
                <a:alpha val="0"/>
              </a:srgbClr>
            </a:solidFill>
            <a:prstDash val="solid"/>
          </a:ln>
        </p:spPr>
      </p:sp>
      <p:pic>
        <p:nvPicPr>
          <p:cNvPr id="4" name="Image 1" descr="D:\Capstone_FoodResQ_Web\apps\web\public\Logo_FoodResQ.png">    </p:cNvPr>
          <p:cNvPicPr>
            <a:picLocks noChangeAspect="1"/>
          </p:cNvPicPr>
          <p:nvPr/>
        </p:nvPicPr>
        <p:blipFill>
          <a:blip r:embed="rId2"/>
          <a:stretch>
            <a:fillRect/>
          </a:stretch>
        </p:blipFill>
        <p:spPr>
          <a:xfrm>
            <a:off x="658368" y="402336"/>
            <a:ext cx="1234440" cy="530352"/>
          </a:xfrm>
          <a:prstGeom prst="rect">
            <a:avLst/>
          </a:prstGeom>
        </p:spPr>
      </p:pic>
      <p:sp>
        <p:nvSpPr>
          <p:cNvPr id="5" name="Text 1"/>
          <p:cNvSpPr/>
          <p:nvPr/>
        </p:nvSpPr>
        <p:spPr>
          <a:xfrm>
            <a:off x="658368" y="1572768"/>
            <a:ext cx="4937760" cy="694944"/>
          </a:xfrm>
          <a:prstGeom prst="rect">
            <a:avLst/>
          </a:prstGeom>
          <a:noFill/>
          <a:ln/>
        </p:spPr>
        <p:txBody>
          <a:bodyPr wrap="square" lIns="0" tIns="0" rIns="0" bIns="0" rtlCol="0" anchor="ctr"/>
          <a:lstStyle/>
          <a:p>
            <a:pPr indent="0" marL="0">
              <a:buNone/>
            </a:pPr>
            <a:r>
              <a:rPr lang="en-US" sz="3800" b="1" dirty="0">
                <a:solidFill>
                  <a:srgbClr val="FFFFFF"/>
                </a:solidFill>
              </a:rPr>
              <a:t>FoodResQ</a:t>
            </a:r>
            <a:endParaRPr lang="en-US" sz="3800" dirty="0"/>
          </a:p>
        </p:txBody>
      </p:sp>
      <p:sp>
        <p:nvSpPr>
          <p:cNvPr id="6" name="Text 2"/>
          <p:cNvSpPr/>
          <p:nvPr/>
        </p:nvSpPr>
        <p:spPr>
          <a:xfrm>
            <a:off x="676656" y="2331720"/>
            <a:ext cx="5623560" cy="457200"/>
          </a:xfrm>
          <a:prstGeom prst="rect">
            <a:avLst/>
          </a:prstGeom>
          <a:noFill/>
          <a:ln/>
        </p:spPr>
        <p:txBody>
          <a:bodyPr wrap="square" lIns="0" tIns="0" rIns="0" bIns="0" rtlCol="0" anchor="ctr"/>
          <a:lstStyle/>
          <a:p>
            <a:pPr indent="0" marL="0">
              <a:buNone/>
            </a:pPr>
            <a:r>
              <a:rPr lang="en-US" sz="1800" b="1" dirty="0">
                <a:solidFill>
                  <a:srgbClr val="EAF5EA"/>
                </a:solidFill>
              </a:rPr>
              <a:t>Nền tảng cứu trợ và phân phối thực phẩm dư thừa</a:t>
            </a:r>
            <a:endParaRPr lang="en-US" sz="1800" dirty="0"/>
          </a:p>
        </p:txBody>
      </p:sp>
      <p:sp>
        <p:nvSpPr>
          <p:cNvPr id="7" name="Text 3"/>
          <p:cNvSpPr/>
          <p:nvPr/>
        </p:nvSpPr>
        <p:spPr>
          <a:xfrm>
            <a:off x="694944" y="2962656"/>
            <a:ext cx="5440680" cy="804672"/>
          </a:xfrm>
          <a:prstGeom prst="rect">
            <a:avLst/>
          </a:prstGeom>
          <a:noFill/>
          <a:ln/>
        </p:spPr>
        <p:txBody>
          <a:bodyPr wrap="square" lIns="0" tIns="0" rIns="0" bIns="0" rtlCol="0" anchor="ctr">
            <a:normAutofit/>
          </a:bodyPr>
          <a:lstStyle/>
          <a:p>
            <a:pPr indent="0" marL="0">
              <a:buNone/>
            </a:pPr>
            <a:r>
              <a:rPr lang="en-US" sz="1220" dirty="0">
                <a:solidFill>
                  <a:srgbClr val="FFFFFF"/>
                </a:solidFill>
              </a:rPr>
              <a:t>Kết nối nhà cung cấp, người nhận, tình nguyện viên và tổ chức từ thiện qua hệ thống đặt suất, QR, giao hàng, chiến dịch bếp và báo cáo tác động.</a:t>
            </a:r>
            <a:endParaRPr lang="en-US" sz="1220" dirty="0"/>
          </a:p>
        </p:txBody>
      </p:sp>
      <p:sp>
        <p:nvSpPr>
          <p:cNvPr id="8" name="Shape 4"/>
          <p:cNvSpPr/>
          <p:nvPr/>
        </p:nvSpPr>
        <p:spPr>
          <a:xfrm>
            <a:off x="694944" y="4041648"/>
            <a:ext cx="1737360" cy="310896"/>
          </a:xfrm>
          <a:prstGeom prst="roundRect">
            <a:avLst>
              <a:gd name="adj" fmla="val 14706"/>
            </a:avLst>
          </a:prstGeom>
          <a:solidFill>
            <a:srgbClr val="FFFFFF"/>
          </a:solidFill>
          <a:ln w="12700">
            <a:solidFill>
              <a:srgbClr val="FFFFFF">
                <a:alpha val="0"/>
              </a:srgbClr>
            </a:solidFill>
            <a:prstDash val="solid"/>
          </a:ln>
        </p:spPr>
      </p:sp>
      <p:sp>
        <p:nvSpPr>
          <p:cNvPr id="9" name="Text 5"/>
          <p:cNvSpPr/>
          <p:nvPr/>
        </p:nvSpPr>
        <p:spPr>
          <a:xfrm>
            <a:off x="786384" y="4110228"/>
            <a:ext cx="1554480" cy="128016"/>
          </a:xfrm>
          <a:prstGeom prst="rect">
            <a:avLst/>
          </a:prstGeom>
          <a:noFill/>
          <a:ln/>
        </p:spPr>
        <p:txBody>
          <a:bodyPr wrap="square" lIns="0" tIns="0" rIns="0" bIns="0" rtlCol="0" anchor="ctr"/>
          <a:lstStyle/>
          <a:p>
            <a:pPr algn="ctr" indent="0" marL="0">
              <a:buNone/>
            </a:pPr>
            <a:r>
              <a:rPr lang="en-US" sz="770" b="1" dirty="0">
                <a:solidFill>
                  <a:srgbClr val="17312B"/>
                </a:solidFill>
              </a:rPr>
              <a:t>Capstone SP26SE088</a:t>
            </a:r>
            <a:endParaRPr lang="en-US" sz="770" dirty="0"/>
          </a:p>
        </p:txBody>
      </p:sp>
      <p:sp>
        <p:nvSpPr>
          <p:cNvPr id="10" name="Shape 6"/>
          <p:cNvSpPr/>
          <p:nvPr/>
        </p:nvSpPr>
        <p:spPr>
          <a:xfrm>
            <a:off x="2633472" y="4041648"/>
            <a:ext cx="1481328" cy="310896"/>
          </a:xfrm>
          <a:prstGeom prst="roundRect">
            <a:avLst>
              <a:gd name="adj" fmla="val 14706"/>
            </a:avLst>
          </a:prstGeom>
          <a:solidFill>
            <a:srgbClr val="FFFFFF"/>
          </a:solidFill>
          <a:ln w="12700">
            <a:solidFill>
              <a:srgbClr val="FFFFFF">
                <a:alpha val="0"/>
              </a:srgbClr>
            </a:solidFill>
            <a:prstDash val="solid"/>
          </a:ln>
        </p:spPr>
      </p:sp>
      <p:sp>
        <p:nvSpPr>
          <p:cNvPr id="11" name="Text 7"/>
          <p:cNvSpPr/>
          <p:nvPr/>
        </p:nvSpPr>
        <p:spPr>
          <a:xfrm>
            <a:off x="2724912" y="4110228"/>
            <a:ext cx="1298448" cy="128016"/>
          </a:xfrm>
          <a:prstGeom prst="rect">
            <a:avLst/>
          </a:prstGeom>
          <a:noFill/>
          <a:ln/>
        </p:spPr>
        <p:txBody>
          <a:bodyPr wrap="square" lIns="0" tIns="0" rIns="0" bIns="0" rtlCol="0" anchor="ctr"/>
          <a:lstStyle/>
          <a:p>
            <a:pPr algn="ctr" indent="0" marL="0">
              <a:buNone/>
            </a:pPr>
            <a:r>
              <a:rPr lang="en-US" sz="770" b="1" dirty="0">
                <a:solidFill>
                  <a:srgbClr val="17312B"/>
                </a:solidFill>
              </a:rPr>
              <a:t>FPT University</a:t>
            </a:r>
            <a:endParaRPr lang="en-US" sz="770" dirty="0"/>
          </a:p>
        </p:txBody>
      </p:sp>
      <p:sp>
        <p:nvSpPr>
          <p:cNvPr id="12" name="Shape 8"/>
          <p:cNvSpPr/>
          <p:nvPr/>
        </p:nvSpPr>
        <p:spPr>
          <a:xfrm>
            <a:off x="4279392" y="4041648"/>
            <a:ext cx="1645920" cy="310896"/>
          </a:xfrm>
          <a:prstGeom prst="roundRect">
            <a:avLst>
              <a:gd name="adj" fmla="val 14706"/>
            </a:avLst>
          </a:prstGeom>
          <a:solidFill>
            <a:srgbClr val="FFFFFF"/>
          </a:solidFill>
          <a:ln w="12700">
            <a:solidFill>
              <a:srgbClr val="FFFFFF">
                <a:alpha val="0"/>
              </a:srgbClr>
            </a:solidFill>
            <a:prstDash val="solid"/>
          </a:ln>
        </p:spPr>
      </p:sp>
      <p:sp>
        <p:nvSpPr>
          <p:cNvPr id="13" name="Text 9"/>
          <p:cNvSpPr/>
          <p:nvPr/>
        </p:nvSpPr>
        <p:spPr>
          <a:xfrm>
            <a:off x="4370832" y="4110228"/>
            <a:ext cx="1463040" cy="128016"/>
          </a:xfrm>
          <a:prstGeom prst="rect">
            <a:avLst/>
          </a:prstGeom>
          <a:noFill/>
          <a:ln/>
        </p:spPr>
        <p:txBody>
          <a:bodyPr wrap="square" lIns="0" tIns="0" rIns="0" bIns="0" rtlCol="0" anchor="ctr"/>
          <a:lstStyle/>
          <a:p>
            <a:pPr algn="ctr" indent="0" marL="0">
              <a:buNone/>
            </a:pPr>
            <a:r>
              <a:rPr lang="en-US" sz="770" b="1" dirty="0">
                <a:solidFill>
                  <a:srgbClr val="17312B"/>
                </a:solidFill>
              </a:rPr>
              <a:t>System Overview</a:t>
            </a:r>
            <a:endParaRPr lang="en-US" sz="7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502920" y="475488"/>
            <a:ext cx="7772400" cy="502920"/>
          </a:xfrm>
          <a:prstGeom prst="rect">
            <a:avLst/>
          </a:prstGeom>
          <a:noFill/>
          <a:ln/>
        </p:spPr>
        <p:txBody>
          <a:bodyPr wrap="square" lIns="0" tIns="0" rIns="0" bIns="0" rtlCol="0" anchor="ctr"/>
          <a:lstStyle/>
          <a:p>
            <a:pPr indent="0" marL="0">
              <a:buNone/>
            </a:pPr>
            <a:r>
              <a:rPr lang="en-US" sz="2500" b="1" dirty="0">
                <a:solidFill>
                  <a:srgbClr val="17312B"/>
                </a:solidFill>
              </a:rPr>
              <a:t>Vấn đề &amp; mục tiêu</a:t>
            </a:r>
            <a:endParaRPr lang="en-US" sz="2500" dirty="0"/>
          </a:p>
        </p:txBody>
      </p:sp>
      <p:sp>
        <p:nvSpPr>
          <p:cNvPr id="3" name="Text 1"/>
          <p:cNvSpPr/>
          <p:nvPr/>
        </p:nvSpPr>
        <p:spPr>
          <a:xfrm>
            <a:off x="502920" y="987552"/>
            <a:ext cx="8046720" cy="292608"/>
          </a:xfrm>
          <a:prstGeom prst="rect">
            <a:avLst/>
          </a:prstGeom>
          <a:noFill/>
          <a:ln/>
        </p:spPr>
        <p:txBody>
          <a:bodyPr wrap="square" lIns="0" tIns="0" rIns="0" bIns="0" rtlCol="0" anchor="ctr"/>
          <a:lstStyle/>
          <a:p>
            <a:pPr indent="0" marL="0">
              <a:buNone/>
            </a:pPr>
            <a:r>
              <a:rPr lang="en-US" sz="1050" dirty="0">
                <a:solidFill>
                  <a:srgbClr val="5D6A66"/>
                </a:solidFill>
              </a:rPr>
              <a:t>Từ thực phẩm dư thừa đến bữa ăn được phân phối đúng người, đúng thời điểm.</a:t>
            </a:r>
            <a:endParaRPr lang="en-US" sz="1050" dirty="0"/>
          </a:p>
        </p:txBody>
      </p:sp>
      <p:sp>
        <p:nvSpPr>
          <p:cNvPr id="4" name="Shape 2"/>
          <p:cNvSpPr/>
          <p:nvPr/>
        </p:nvSpPr>
        <p:spPr>
          <a:xfrm>
            <a:off x="502920" y="6446520"/>
            <a:ext cx="11173968" cy="0"/>
          </a:xfrm>
          <a:prstGeom prst="line">
            <a:avLst/>
          </a:prstGeom>
          <a:noFill/>
          <a:ln w="12700">
            <a:solidFill>
              <a:srgbClr val="D7E3DA"/>
            </a:solidFill>
            <a:prstDash val="solid"/>
          </a:ln>
        </p:spPr>
      </p:sp>
      <p:sp>
        <p:nvSpPr>
          <p:cNvPr id="5" name="Text 3"/>
          <p:cNvSpPr/>
          <p:nvPr/>
        </p:nvSpPr>
        <p:spPr>
          <a:xfrm>
            <a:off x="502920" y="6519672"/>
            <a:ext cx="4389120" cy="164592"/>
          </a:xfrm>
          <a:prstGeom prst="rect">
            <a:avLst/>
          </a:prstGeom>
          <a:noFill/>
          <a:ln/>
        </p:spPr>
        <p:txBody>
          <a:bodyPr wrap="square" lIns="0" tIns="0" rIns="0" bIns="0" rtlCol="0" anchor="ctr"/>
          <a:lstStyle/>
          <a:p>
            <a:pPr indent="0" marL="0">
              <a:buNone/>
            </a:pPr>
            <a:r>
              <a:rPr lang="en-US" sz="760" dirty="0">
                <a:solidFill>
                  <a:srgbClr val="5D6A66"/>
                </a:solidFill>
                <a:latin typeface="Aptos" pitchFamily="34" charset="0"/>
                <a:ea typeface="Aptos" pitchFamily="34" charset="-122"/>
                <a:cs typeface="Aptos" pitchFamily="34" charset="-120"/>
              </a:rPr>
              <a:t>FoodResQ | Capstone SP26SE088</a:t>
            </a:r>
            <a:endParaRPr lang="en-US" sz="760" dirty="0"/>
          </a:p>
        </p:txBody>
      </p:sp>
      <p:sp>
        <p:nvSpPr>
          <p:cNvPr id="6" name="Text 4"/>
          <p:cNvSpPr/>
          <p:nvPr/>
        </p:nvSpPr>
        <p:spPr>
          <a:xfrm>
            <a:off x="11192256" y="6492240"/>
            <a:ext cx="457200" cy="201168"/>
          </a:xfrm>
          <a:prstGeom prst="rect">
            <a:avLst/>
          </a:prstGeom>
          <a:noFill/>
          <a:ln/>
        </p:spPr>
        <p:txBody>
          <a:bodyPr wrap="square" lIns="0" tIns="0" rIns="0" bIns="0" rtlCol="0" anchor="ctr"/>
          <a:lstStyle/>
          <a:p>
            <a:pPr algn="r" indent="0" marL="0">
              <a:buNone/>
            </a:pPr>
            <a:r>
              <a:rPr lang="en-US" sz="800" b="1" dirty="0">
                <a:solidFill>
                  <a:srgbClr val="5D6A66"/>
                </a:solidFill>
              </a:rPr>
              <a:t>02</a:t>
            </a:r>
            <a:endParaRPr lang="en-US" sz="800" dirty="0"/>
          </a:p>
        </p:txBody>
      </p:sp>
      <p:pic>
        <p:nvPicPr>
          <p:cNvPr id="7" name="Image 0" descr="D:\Capstone_FoodResQ_Web\apps\web\public\Logo_FoodResQ.png">    </p:cNvPr>
          <p:cNvPicPr>
            <a:picLocks noChangeAspect="1"/>
          </p:cNvPicPr>
          <p:nvPr/>
        </p:nvPicPr>
        <p:blipFill>
          <a:blip r:embed="rId1"/>
          <a:stretch>
            <a:fillRect/>
          </a:stretch>
        </p:blipFill>
        <p:spPr>
          <a:xfrm>
            <a:off x="10652760" y="310896"/>
            <a:ext cx="960120" cy="420624"/>
          </a:xfrm>
          <a:prstGeom prst="rect">
            <a:avLst/>
          </a:prstGeom>
        </p:spPr>
      </p:pic>
      <p:sp>
        <p:nvSpPr>
          <p:cNvPr id="8" name="Shape 5"/>
          <p:cNvSpPr/>
          <p:nvPr/>
        </p:nvSpPr>
        <p:spPr>
          <a:xfrm>
            <a:off x="640080" y="1554480"/>
            <a:ext cx="3429000" cy="3474720"/>
          </a:xfrm>
          <a:prstGeom prst="roundRect">
            <a:avLst>
              <a:gd name="adj" fmla="val 1600"/>
            </a:avLst>
          </a:prstGeom>
          <a:solidFill>
            <a:srgbClr val="FFFFFF"/>
          </a:solidFill>
          <a:ln w="12700">
            <a:solidFill>
              <a:srgbClr val="D7E3DA"/>
            </a:solidFill>
            <a:prstDash val="solid"/>
          </a:ln>
        </p:spPr>
      </p:sp>
      <p:sp>
        <p:nvSpPr>
          <p:cNvPr id="9" name="Shape 6"/>
          <p:cNvSpPr/>
          <p:nvPr/>
        </p:nvSpPr>
        <p:spPr>
          <a:xfrm>
            <a:off x="640080" y="1554480"/>
            <a:ext cx="73152" cy="3474720"/>
          </a:xfrm>
          <a:prstGeom prst="rect">
            <a:avLst/>
          </a:prstGeom>
          <a:solidFill>
            <a:srgbClr val="D94D3F"/>
          </a:solidFill>
          <a:ln w="12700">
            <a:solidFill>
              <a:srgbClr val="D94D3F">
                <a:alpha val="0"/>
              </a:srgbClr>
            </a:solidFill>
            <a:prstDash val="solid"/>
          </a:ln>
        </p:spPr>
      </p:sp>
      <p:sp>
        <p:nvSpPr>
          <p:cNvPr id="10" name="Text 7"/>
          <p:cNvSpPr/>
          <p:nvPr/>
        </p:nvSpPr>
        <p:spPr>
          <a:xfrm>
            <a:off x="850392" y="1719072"/>
            <a:ext cx="3081528" cy="228600"/>
          </a:xfrm>
          <a:prstGeom prst="rect">
            <a:avLst/>
          </a:prstGeom>
          <a:noFill/>
          <a:ln/>
        </p:spPr>
        <p:txBody>
          <a:bodyPr wrap="square" lIns="0" tIns="0" rIns="0" bIns="0" rtlCol="0" anchor="ctr"/>
          <a:lstStyle/>
          <a:p>
            <a:pPr indent="0" marL="0">
              <a:buNone/>
            </a:pPr>
            <a:r>
              <a:rPr lang="en-US" sz="1150" b="1" dirty="0">
                <a:solidFill>
                  <a:srgbClr val="17312B"/>
                </a:solidFill>
              </a:rPr>
              <a:t>Vấn đề xã hội</a:t>
            </a:r>
            <a:endParaRPr lang="en-US" sz="1150" dirty="0"/>
          </a:p>
        </p:txBody>
      </p:sp>
      <p:sp>
        <p:nvSpPr>
          <p:cNvPr id="11" name="Text 8"/>
          <p:cNvSpPr/>
          <p:nvPr/>
        </p:nvSpPr>
        <p:spPr>
          <a:xfrm>
            <a:off x="850392" y="2029968"/>
            <a:ext cx="3081528" cy="283464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 Nhà hàng, tiệm bánh, siêu thị có đồ ăn dư cuối ngày.</a:t>
            </a:r>
            <a:endParaRPr lang="en-US" sz="870" dirty="0"/>
          </a:p>
          <a:p>
            <a:pPr indent="0" marL="0">
              <a:buNone/>
            </a:pPr>
            <a:r>
              <a:rPr lang="en-US" sz="870" dirty="0">
                <a:solidFill>
                  <a:srgbClr val="5D6A66"/>
                </a:solidFill>
              </a:rPr>
              <a:t>- Người khó khăn và tổ chức từ thiện thiếu kênh nhận kịp thời.</a:t>
            </a:r>
            <a:endParaRPr lang="en-US" sz="870" dirty="0"/>
          </a:p>
          <a:p>
            <a:pPr indent="0" marL="0">
              <a:buNone/>
            </a:pPr>
            <a:r>
              <a:rPr lang="en-US" sz="870" dirty="0">
                <a:solidFill>
                  <a:srgbClr val="5D6A66"/>
                </a:solidFill>
              </a:rPr>
              <a:t>- Điều phối thủ công dễ trễ hạn, thiếu minh bạch.</a:t>
            </a:r>
            <a:endParaRPr lang="en-US" sz="870" dirty="0"/>
          </a:p>
        </p:txBody>
      </p:sp>
      <p:sp>
        <p:nvSpPr>
          <p:cNvPr id="12" name="Shape 9"/>
          <p:cNvSpPr/>
          <p:nvPr/>
        </p:nvSpPr>
        <p:spPr>
          <a:xfrm>
            <a:off x="4370832" y="1554480"/>
            <a:ext cx="3429000" cy="3474720"/>
          </a:xfrm>
          <a:prstGeom prst="roundRect">
            <a:avLst>
              <a:gd name="adj" fmla="val 1600"/>
            </a:avLst>
          </a:prstGeom>
          <a:solidFill>
            <a:srgbClr val="FFFFFF"/>
          </a:solidFill>
          <a:ln w="12700">
            <a:solidFill>
              <a:srgbClr val="D7E3DA"/>
            </a:solidFill>
            <a:prstDash val="solid"/>
          </a:ln>
        </p:spPr>
      </p:sp>
      <p:sp>
        <p:nvSpPr>
          <p:cNvPr id="13" name="Shape 10"/>
          <p:cNvSpPr/>
          <p:nvPr/>
        </p:nvSpPr>
        <p:spPr>
          <a:xfrm>
            <a:off x="4370832" y="1554480"/>
            <a:ext cx="73152" cy="3474720"/>
          </a:xfrm>
          <a:prstGeom prst="rect">
            <a:avLst/>
          </a:prstGeom>
          <a:solidFill>
            <a:srgbClr val="1F8A4C"/>
          </a:solidFill>
          <a:ln w="12700">
            <a:solidFill>
              <a:srgbClr val="1F8A4C">
                <a:alpha val="0"/>
              </a:srgbClr>
            </a:solidFill>
            <a:prstDash val="solid"/>
          </a:ln>
        </p:spPr>
      </p:sp>
      <p:sp>
        <p:nvSpPr>
          <p:cNvPr id="14" name="Text 11"/>
          <p:cNvSpPr/>
          <p:nvPr/>
        </p:nvSpPr>
        <p:spPr>
          <a:xfrm>
            <a:off x="4581144" y="1719072"/>
            <a:ext cx="3081528" cy="228600"/>
          </a:xfrm>
          <a:prstGeom prst="rect">
            <a:avLst/>
          </a:prstGeom>
          <a:noFill/>
          <a:ln/>
        </p:spPr>
        <p:txBody>
          <a:bodyPr wrap="square" lIns="0" tIns="0" rIns="0" bIns="0" rtlCol="0" anchor="ctr"/>
          <a:lstStyle/>
          <a:p>
            <a:pPr indent="0" marL="0">
              <a:buNone/>
            </a:pPr>
            <a:r>
              <a:rPr lang="en-US" sz="1150" b="1" dirty="0">
                <a:solidFill>
                  <a:srgbClr val="17312B"/>
                </a:solidFill>
              </a:rPr>
              <a:t>Mục tiêu hệ thống</a:t>
            </a:r>
            <a:endParaRPr lang="en-US" sz="1150" dirty="0"/>
          </a:p>
        </p:txBody>
      </p:sp>
      <p:sp>
        <p:nvSpPr>
          <p:cNvPr id="15" name="Text 12"/>
          <p:cNvSpPr/>
          <p:nvPr/>
        </p:nvSpPr>
        <p:spPr>
          <a:xfrm>
            <a:off x="4581144" y="2029968"/>
            <a:ext cx="3081528" cy="283464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 Đăng đồ ăn nhanh theo vị trí và thời gian nhận.</a:t>
            </a:r>
            <a:endParaRPr lang="en-US" sz="870" dirty="0"/>
          </a:p>
          <a:p>
            <a:pPr indent="0" marL="0">
              <a:buNone/>
            </a:pPr>
            <a:r>
              <a:rPr lang="en-US" sz="870" dirty="0">
                <a:solidFill>
                  <a:srgbClr val="5D6A66"/>
                </a:solidFill>
              </a:rPr>
              <a:t>- Đặt giữ suất công bằng, tránh lạm dụng.</a:t>
            </a:r>
            <a:endParaRPr lang="en-US" sz="870" dirty="0"/>
          </a:p>
          <a:p>
            <a:pPr indent="0" marL="0">
              <a:buNone/>
            </a:pPr>
            <a:r>
              <a:rPr lang="en-US" sz="870" dirty="0">
                <a:solidFill>
                  <a:srgbClr val="5D6A66"/>
                </a:solidFill>
              </a:rPr>
              <a:t>- Hỗ trợ giao hàng, bếp từ thiện và đo lường tác động ESG.</a:t>
            </a:r>
            <a:endParaRPr lang="en-US" sz="870" dirty="0"/>
          </a:p>
        </p:txBody>
      </p:sp>
      <p:pic>
        <p:nvPicPr>
          <p:cNvPr id="16" name="Image 1" descr="D:\Capstone_FoodResQ_Web\apps\web\public\eco_beneficiary.png">    </p:cNvPr>
          <p:cNvPicPr>
            <a:picLocks noChangeAspect="1"/>
          </p:cNvPicPr>
          <p:nvPr/>
        </p:nvPicPr>
        <p:blipFill>
          <a:blip r:embed="rId2"/>
          <a:stretch>
            <a:fillRect/>
          </a:stretch>
        </p:blipFill>
        <p:spPr>
          <a:xfrm>
            <a:off x="8119872" y="1508760"/>
            <a:ext cx="3291840" cy="3611880"/>
          </a:xfrm>
          <a:prstGeom prst="rect">
            <a:avLst/>
          </a:prstGeom>
        </p:spPr>
      </p:pic>
      <p:sp>
        <p:nvSpPr>
          <p:cNvPr id="17" name="Shape 13"/>
          <p:cNvSpPr/>
          <p:nvPr/>
        </p:nvSpPr>
        <p:spPr>
          <a:xfrm>
            <a:off x="8119872" y="4791456"/>
            <a:ext cx="3291840" cy="329184"/>
          </a:xfrm>
          <a:prstGeom prst="rect">
            <a:avLst/>
          </a:prstGeom>
          <a:solidFill>
            <a:srgbClr val="17312B">
              <a:alpha val="92000"/>
            </a:srgbClr>
          </a:solidFill>
          <a:ln w="12700">
            <a:solidFill>
              <a:srgbClr val="17312B">
                <a:alpha val="0"/>
              </a:srgbClr>
            </a:solidFill>
            <a:prstDash val="solid"/>
          </a:ln>
        </p:spPr>
      </p:sp>
      <p:sp>
        <p:nvSpPr>
          <p:cNvPr id="18" name="Text 14"/>
          <p:cNvSpPr/>
          <p:nvPr/>
        </p:nvSpPr>
        <p:spPr>
          <a:xfrm>
            <a:off x="8247888" y="4882896"/>
            <a:ext cx="3035808" cy="128016"/>
          </a:xfrm>
          <a:prstGeom prst="rect">
            <a:avLst/>
          </a:prstGeom>
          <a:noFill/>
          <a:ln/>
        </p:spPr>
        <p:txBody>
          <a:bodyPr wrap="square" lIns="0" tIns="0" rIns="0" bIns="0" rtlCol="0" anchor="ctr"/>
          <a:lstStyle/>
          <a:p>
            <a:pPr indent="0" marL="0">
              <a:buNone/>
            </a:pPr>
            <a:r>
              <a:rPr lang="en-US" sz="720" b="1" dirty="0">
                <a:solidFill>
                  <a:srgbClr val="FFFFFF"/>
                </a:solidFill>
              </a:rPr>
              <a:t>Tác động: giảm lãng phí, tăng bữa ăn hỗ trợ</a:t>
            </a:r>
            <a:endParaRPr lang="en-US" sz="72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502920" y="475488"/>
            <a:ext cx="7772400" cy="502920"/>
          </a:xfrm>
          <a:prstGeom prst="rect">
            <a:avLst/>
          </a:prstGeom>
          <a:noFill/>
          <a:ln/>
        </p:spPr>
        <p:txBody>
          <a:bodyPr wrap="square" lIns="0" tIns="0" rIns="0" bIns="0" rtlCol="0" anchor="ctr"/>
          <a:lstStyle/>
          <a:p>
            <a:pPr indent="0" marL="0">
              <a:buNone/>
            </a:pPr>
            <a:r>
              <a:rPr lang="en-US" sz="2500" b="1" dirty="0">
                <a:solidFill>
                  <a:srgbClr val="17312B"/>
                </a:solidFill>
              </a:rPr>
              <a:t>FoodResQ là gì?</a:t>
            </a:r>
            <a:endParaRPr lang="en-US" sz="2500" dirty="0"/>
          </a:p>
        </p:txBody>
      </p:sp>
      <p:sp>
        <p:nvSpPr>
          <p:cNvPr id="3" name="Text 1"/>
          <p:cNvSpPr/>
          <p:nvPr/>
        </p:nvSpPr>
        <p:spPr>
          <a:xfrm>
            <a:off x="502920" y="987552"/>
            <a:ext cx="8046720" cy="292608"/>
          </a:xfrm>
          <a:prstGeom prst="rect">
            <a:avLst/>
          </a:prstGeom>
          <a:noFill/>
          <a:ln/>
        </p:spPr>
        <p:txBody>
          <a:bodyPr wrap="square" lIns="0" tIns="0" rIns="0" bIns="0" rtlCol="0" anchor="ctr"/>
          <a:lstStyle/>
          <a:p>
            <a:pPr indent="0" marL="0">
              <a:buNone/>
            </a:pPr>
            <a:r>
              <a:rPr lang="en-US" sz="1050" dirty="0">
                <a:solidFill>
                  <a:srgbClr val="5D6A66"/>
                </a:solidFill>
              </a:rPr>
              <a:t>Một nền tảng client-server tập trung: mọi nghiệp vụ đi qua NestJS API, không client nào truy cập DB trực tiếp.</a:t>
            </a:r>
            <a:endParaRPr lang="en-US" sz="1050" dirty="0"/>
          </a:p>
        </p:txBody>
      </p:sp>
      <p:sp>
        <p:nvSpPr>
          <p:cNvPr id="4" name="Shape 2"/>
          <p:cNvSpPr/>
          <p:nvPr/>
        </p:nvSpPr>
        <p:spPr>
          <a:xfrm>
            <a:off x="502920" y="6446520"/>
            <a:ext cx="11173968" cy="0"/>
          </a:xfrm>
          <a:prstGeom prst="line">
            <a:avLst/>
          </a:prstGeom>
          <a:noFill/>
          <a:ln w="12700">
            <a:solidFill>
              <a:srgbClr val="D7E3DA"/>
            </a:solidFill>
            <a:prstDash val="solid"/>
          </a:ln>
        </p:spPr>
      </p:sp>
      <p:sp>
        <p:nvSpPr>
          <p:cNvPr id="5" name="Text 3"/>
          <p:cNvSpPr/>
          <p:nvPr/>
        </p:nvSpPr>
        <p:spPr>
          <a:xfrm>
            <a:off x="502920" y="6519672"/>
            <a:ext cx="4389120" cy="164592"/>
          </a:xfrm>
          <a:prstGeom prst="rect">
            <a:avLst/>
          </a:prstGeom>
          <a:noFill/>
          <a:ln/>
        </p:spPr>
        <p:txBody>
          <a:bodyPr wrap="square" lIns="0" tIns="0" rIns="0" bIns="0" rtlCol="0" anchor="ctr"/>
          <a:lstStyle/>
          <a:p>
            <a:pPr indent="0" marL="0">
              <a:buNone/>
            </a:pPr>
            <a:r>
              <a:rPr lang="en-US" sz="760" dirty="0">
                <a:solidFill>
                  <a:srgbClr val="5D6A66"/>
                </a:solidFill>
                <a:latin typeface="Aptos" pitchFamily="34" charset="0"/>
                <a:ea typeface="Aptos" pitchFamily="34" charset="-122"/>
                <a:cs typeface="Aptos" pitchFamily="34" charset="-120"/>
              </a:rPr>
              <a:t>FoodResQ | Capstone SP26SE088</a:t>
            </a:r>
            <a:endParaRPr lang="en-US" sz="760" dirty="0"/>
          </a:p>
        </p:txBody>
      </p:sp>
      <p:sp>
        <p:nvSpPr>
          <p:cNvPr id="6" name="Text 4"/>
          <p:cNvSpPr/>
          <p:nvPr/>
        </p:nvSpPr>
        <p:spPr>
          <a:xfrm>
            <a:off x="11192256" y="6492240"/>
            <a:ext cx="457200" cy="201168"/>
          </a:xfrm>
          <a:prstGeom prst="rect">
            <a:avLst/>
          </a:prstGeom>
          <a:noFill/>
          <a:ln/>
        </p:spPr>
        <p:txBody>
          <a:bodyPr wrap="square" lIns="0" tIns="0" rIns="0" bIns="0" rtlCol="0" anchor="ctr"/>
          <a:lstStyle/>
          <a:p>
            <a:pPr algn="r" indent="0" marL="0">
              <a:buNone/>
            </a:pPr>
            <a:r>
              <a:rPr lang="en-US" sz="800" b="1" dirty="0">
                <a:solidFill>
                  <a:srgbClr val="5D6A66"/>
                </a:solidFill>
              </a:rPr>
              <a:t>03</a:t>
            </a:r>
            <a:endParaRPr lang="en-US" sz="800" dirty="0"/>
          </a:p>
        </p:txBody>
      </p:sp>
      <p:pic>
        <p:nvPicPr>
          <p:cNvPr id="7" name="Image 0" descr="D:\Capstone_FoodResQ_Web\apps\web\public\Logo_FoodResQ.png">    </p:cNvPr>
          <p:cNvPicPr>
            <a:picLocks noChangeAspect="1"/>
          </p:cNvPicPr>
          <p:nvPr/>
        </p:nvPicPr>
        <p:blipFill>
          <a:blip r:embed="rId1"/>
          <a:stretch>
            <a:fillRect/>
          </a:stretch>
        </p:blipFill>
        <p:spPr>
          <a:xfrm>
            <a:off x="10652760" y="310896"/>
            <a:ext cx="960120" cy="420624"/>
          </a:xfrm>
          <a:prstGeom prst="rect">
            <a:avLst/>
          </a:prstGeom>
        </p:spPr>
      </p:pic>
      <p:sp>
        <p:nvSpPr>
          <p:cNvPr id="8" name="Shape 5"/>
          <p:cNvSpPr/>
          <p:nvPr/>
        </p:nvSpPr>
        <p:spPr>
          <a:xfrm>
            <a:off x="640080" y="1920240"/>
            <a:ext cx="1508760" cy="777240"/>
          </a:xfrm>
          <a:prstGeom prst="roundRect">
            <a:avLst>
              <a:gd name="adj" fmla="val 5882"/>
            </a:avLst>
          </a:prstGeom>
          <a:solidFill>
            <a:srgbClr val="EAF6ED"/>
          </a:solidFill>
          <a:ln w="12700">
            <a:solidFill>
              <a:srgbClr val="D7E3DA"/>
            </a:solidFill>
            <a:prstDash val="solid"/>
          </a:ln>
        </p:spPr>
      </p:sp>
      <p:sp>
        <p:nvSpPr>
          <p:cNvPr id="9" name="Text 6"/>
          <p:cNvSpPr/>
          <p:nvPr/>
        </p:nvSpPr>
        <p:spPr>
          <a:xfrm>
            <a:off x="713232" y="2029968"/>
            <a:ext cx="1362456" cy="57607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Provider</a:t>
            </a:r>
            <a:endParaRPr lang="en-US" sz="840" dirty="0"/>
          </a:p>
          <a:p>
            <a:pPr algn="ctr" indent="0" marL="0">
              <a:buNone/>
            </a:pPr>
            <a:r>
              <a:rPr lang="en-US" sz="840" b="1" dirty="0">
                <a:solidFill>
                  <a:srgbClr val="17312B"/>
                </a:solidFill>
              </a:rPr>
              <a:t>đăng thực phẩm</a:t>
            </a:r>
            <a:endParaRPr lang="en-US" sz="840" dirty="0"/>
          </a:p>
        </p:txBody>
      </p:sp>
      <p:sp>
        <p:nvSpPr>
          <p:cNvPr id="10" name="Shape 7"/>
          <p:cNvSpPr/>
          <p:nvPr/>
        </p:nvSpPr>
        <p:spPr>
          <a:xfrm>
            <a:off x="2286000" y="2130552"/>
            <a:ext cx="502920" cy="292608"/>
          </a:xfrm>
          <a:prstGeom prst="rightArrow">
            <a:avLst/>
          </a:prstGeom>
          <a:solidFill>
            <a:srgbClr val="1F8A4C"/>
          </a:solidFill>
          <a:ln w="12700">
            <a:solidFill>
              <a:srgbClr val="1F8A4C">
                <a:alpha val="0"/>
              </a:srgbClr>
            </a:solidFill>
            <a:prstDash val="solid"/>
          </a:ln>
        </p:spPr>
      </p:sp>
      <p:sp>
        <p:nvSpPr>
          <p:cNvPr id="11" name="Shape 8"/>
          <p:cNvSpPr/>
          <p:nvPr/>
        </p:nvSpPr>
        <p:spPr>
          <a:xfrm>
            <a:off x="2907792" y="1920240"/>
            <a:ext cx="1508760" cy="777240"/>
          </a:xfrm>
          <a:prstGeom prst="roundRect">
            <a:avLst>
              <a:gd name="adj" fmla="val 5882"/>
            </a:avLst>
          </a:prstGeom>
          <a:solidFill>
            <a:srgbClr val="FFF4E8"/>
          </a:solidFill>
          <a:ln w="12700">
            <a:solidFill>
              <a:srgbClr val="D7E3DA"/>
            </a:solidFill>
            <a:prstDash val="solid"/>
          </a:ln>
        </p:spPr>
      </p:sp>
      <p:sp>
        <p:nvSpPr>
          <p:cNvPr id="12" name="Text 9"/>
          <p:cNvSpPr/>
          <p:nvPr/>
        </p:nvSpPr>
        <p:spPr>
          <a:xfrm>
            <a:off x="2980944" y="2029968"/>
            <a:ext cx="1362456" cy="57607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Receiver</a:t>
            </a:r>
            <a:endParaRPr lang="en-US" sz="840" dirty="0"/>
          </a:p>
          <a:p>
            <a:pPr algn="ctr" indent="0" marL="0">
              <a:buNone/>
            </a:pPr>
            <a:r>
              <a:rPr lang="en-US" sz="840" b="1" dirty="0">
                <a:solidFill>
                  <a:srgbClr val="17312B"/>
                </a:solidFill>
              </a:rPr>
              <a:t>đặt suất</a:t>
            </a:r>
            <a:endParaRPr lang="en-US" sz="840" dirty="0"/>
          </a:p>
        </p:txBody>
      </p:sp>
      <p:sp>
        <p:nvSpPr>
          <p:cNvPr id="13" name="Shape 10"/>
          <p:cNvSpPr/>
          <p:nvPr/>
        </p:nvSpPr>
        <p:spPr>
          <a:xfrm>
            <a:off x="4553712" y="2130552"/>
            <a:ext cx="502920" cy="292608"/>
          </a:xfrm>
          <a:prstGeom prst="rightArrow">
            <a:avLst/>
          </a:prstGeom>
          <a:solidFill>
            <a:srgbClr val="1F8A4C"/>
          </a:solidFill>
          <a:ln w="12700">
            <a:solidFill>
              <a:srgbClr val="1F8A4C">
                <a:alpha val="0"/>
              </a:srgbClr>
            </a:solidFill>
            <a:prstDash val="solid"/>
          </a:ln>
        </p:spPr>
      </p:sp>
      <p:sp>
        <p:nvSpPr>
          <p:cNvPr id="14" name="Shape 11"/>
          <p:cNvSpPr/>
          <p:nvPr/>
        </p:nvSpPr>
        <p:spPr>
          <a:xfrm>
            <a:off x="5175504" y="1920240"/>
            <a:ext cx="1508760" cy="777240"/>
          </a:xfrm>
          <a:prstGeom prst="roundRect">
            <a:avLst>
              <a:gd name="adj" fmla="val 5882"/>
            </a:avLst>
          </a:prstGeom>
          <a:solidFill>
            <a:srgbClr val="E9F2FA"/>
          </a:solidFill>
          <a:ln w="12700">
            <a:solidFill>
              <a:srgbClr val="D7E3DA"/>
            </a:solidFill>
            <a:prstDash val="solid"/>
          </a:ln>
        </p:spPr>
      </p:sp>
      <p:sp>
        <p:nvSpPr>
          <p:cNvPr id="15" name="Text 12"/>
          <p:cNvSpPr/>
          <p:nvPr/>
        </p:nvSpPr>
        <p:spPr>
          <a:xfrm>
            <a:off x="5248656" y="2029968"/>
            <a:ext cx="1362456" cy="57607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QR / Face</a:t>
            </a:r>
            <a:endParaRPr lang="en-US" sz="840" dirty="0"/>
          </a:p>
          <a:p>
            <a:pPr algn="ctr" indent="0" marL="0">
              <a:buNone/>
            </a:pPr>
            <a:r>
              <a:rPr lang="en-US" sz="840" b="1" dirty="0">
                <a:solidFill>
                  <a:srgbClr val="17312B"/>
                </a:solidFill>
              </a:rPr>
              <a:t>xác minh</a:t>
            </a:r>
            <a:endParaRPr lang="en-US" sz="840" dirty="0"/>
          </a:p>
        </p:txBody>
      </p:sp>
      <p:sp>
        <p:nvSpPr>
          <p:cNvPr id="16" name="Shape 13"/>
          <p:cNvSpPr/>
          <p:nvPr/>
        </p:nvSpPr>
        <p:spPr>
          <a:xfrm>
            <a:off x="6821424" y="2130552"/>
            <a:ext cx="502920" cy="292608"/>
          </a:xfrm>
          <a:prstGeom prst="rightArrow">
            <a:avLst/>
          </a:prstGeom>
          <a:solidFill>
            <a:srgbClr val="1F8A4C"/>
          </a:solidFill>
          <a:ln w="12700">
            <a:solidFill>
              <a:srgbClr val="1F8A4C">
                <a:alpha val="0"/>
              </a:srgbClr>
            </a:solidFill>
            <a:prstDash val="solid"/>
          </a:ln>
        </p:spPr>
      </p:sp>
      <p:sp>
        <p:nvSpPr>
          <p:cNvPr id="17" name="Shape 14"/>
          <p:cNvSpPr/>
          <p:nvPr/>
        </p:nvSpPr>
        <p:spPr>
          <a:xfrm>
            <a:off x="7443216" y="1920240"/>
            <a:ext cx="1508760" cy="777240"/>
          </a:xfrm>
          <a:prstGeom prst="roundRect">
            <a:avLst>
              <a:gd name="adj" fmla="val 5882"/>
            </a:avLst>
          </a:prstGeom>
          <a:solidFill>
            <a:srgbClr val="EEF6FF"/>
          </a:solidFill>
          <a:ln w="12700">
            <a:solidFill>
              <a:srgbClr val="D7E3DA"/>
            </a:solidFill>
            <a:prstDash val="solid"/>
          </a:ln>
        </p:spPr>
      </p:sp>
      <p:sp>
        <p:nvSpPr>
          <p:cNvPr id="18" name="Text 15"/>
          <p:cNvSpPr/>
          <p:nvPr/>
        </p:nvSpPr>
        <p:spPr>
          <a:xfrm>
            <a:off x="7516368" y="2029968"/>
            <a:ext cx="1362456" cy="57607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Volunteer</a:t>
            </a:r>
            <a:endParaRPr lang="en-US" sz="840" dirty="0"/>
          </a:p>
          <a:p>
            <a:pPr algn="ctr" indent="0" marL="0">
              <a:buNone/>
            </a:pPr>
            <a:r>
              <a:rPr lang="en-US" sz="840" b="1" dirty="0">
                <a:solidFill>
                  <a:srgbClr val="17312B"/>
                </a:solidFill>
              </a:rPr>
              <a:t>giao hàng</a:t>
            </a:r>
            <a:endParaRPr lang="en-US" sz="840" dirty="0"/>
          </a:p>
        </p:txBody>
      </p:sp>
      <p:sp>
        <p:nvSpPr>
          <p:cNvPr id="19" name="Shape 16"/>
          <p:cNvSpPr/>
          <p:nvPr/>
        </p:nvSpPr>
        <p:spPr>
          <a:xfrm>
            <a:off x="9089136" y="2130552"/>
            <a:ext cx="502920" cy="292608"/>
          </a:xfrm>
          <a:prstGeom prst="rightArrow">
            <a:avLst/>
          </a:prstGeom>
          <a:solidFill>
            <a:srgbClr val="1F8A4C"/>
          </a:solidFill>
          <a:ln w="12700">
            <a:solidFill>
              <a:srgbClr val="1F8A4C">
                <a:alpha val="0"/>
              </a:srgbClr>
            </a:solidFill>
            <a:prstDash val="solid"/>
          </a:ln>
        </p:spPr>
      </p:sp>
      <p:sp>
        <p:nvSpPr>
          <p:cNvPr id="20" name="Shape 17"/>
          <p:cNvSpPr/>
          <p:nvPr/>
        </p:nvSpPr>
        <p:spPr>
          <a:xfrm>
            <a:off x="9710928" y="1920240"/>
            <a:ext cx="1508760" cy="777240"/>
          </a:xfrm>
          <a:prstGeom prst="roundRect">
            <a:avLst>
              <a:gd name="adj" fmla="val 5882"/>
            </a:avLst>
          </a:prstGeom>
          <a:solidFill>
            <a:srgbClr val="F8EFEF"/>
          </a:solidFill>
          <a:ln w="12700">
            <a:solidFill>
              <a:srgbClr val="D7E3DA"/>
            </a:solidFill>
            <a:prstDash val="solid"/>
          </a:ln>
        </p:spPr>
      </p:sp>
      <p:sp>
        <p:nvSpPr>
          <p:cNvPr id="21" name="Text 18"/>
          <p:cNvSpPr/>
          <p:nvPr/>
        </p:nvSpPr>
        <p:spPr>
          <a:xfrm>
            <a:off x="9784080" y="2029968"/>
            <a:ext cx="1362456" cy="57607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Admin</a:t>
            </a:r>
            <a:endParaRPr lang="en-US" sz="840" dirty="0"/>
          </a:p>
          <a:p>
            <a:pPr algn="ctr" indent="0" marL="0">
              <a:buNone/>
            </a:pPr>
            <a:r>
              <a:rPr lang="en-US" sz="840" b="1" dirty="0">
                <a:solidFill>
                  <a:srgbClr val="17312B"/>
                </a:solidFill>
              </a:rPr>
              <a:t>quản trị</a:t>
            </a:r>
            <a:endParaRPr lang="en-US" sz="840" dirty="0"/>
          </a:p>
        </p:txBody>
      </p:sp>
      <p:sp>
        <p:nvSpPr>
          <p:cNvPr id="22" name="Shape 19"/>
          <p:cNvSpPr/>
          <p:nvPr/>
        </p:nvSpPr>
        <p:spPr>
          <a:xfrm>
            <a:off x="713232" y="3703320"/>
            <a:ext cx="2487168" cy="1325880"/>
          </a:xfrm>
          <a:prstGeom prst="roundRect">
            <a:avLst>
              <a:gd name="adj" fmla="val 4138"/>
            </a:avLst>
          </a:prstGeom>
          <a:solidFill>
            <a:srgbClr val="FFFFFF"/>
          </a:solidFill>
          <a:ln w="12700">
            <a:solidFill>
              <a:srgbClr val="D7E3DA"/>
            </a:solidFill>
            <a:prstDash val="solid"/>
          </a:ln>
        </p:spPr>
      </p:sp>
      <p:sp>
        <p:nvSpPr>
          <p:cNvPr id="23" name="Shape 20"/>
          <p:cNvSpPr/>
          <p:nvPr/>
        </p:nvSpPr>
        <p:spPr>
          <a:xfrm>
            <a:off x="713232" y="3703320"/>
            <a:ext cx="73152" cy="1325880"/>
          </a:xfrm>
          <a:prstGeom prst="rect">
            <a:avLst/>
          </a:prstGeom>
          <a:solidFill>
            <a:srgbClr val="1F8A4C"/>
          </a:solidFill>
          <a:ln w="12700">
            <a:solidFill>
              <a:srgbClr val="1F8A4C">
                <a:alpha val="0"/>
              </a:srgbClr>
            </a:solidFill>
            <a:prstDash val="solid"/>
          </a:ln>
        </p:spPr>
      </p:sp>
      <p:sp>
        <p:nvSpPr>
          <p:cNvPr id="24" name="Text 21"/>
          <p:cNvSpPr/>
          <p:nvPr/>
        </p:nvSpPr>
        <p:spPr>
          <a:xfrm>
            <a:off x="923544" y="3867912"/>
            <a:ext cx="2139696" cy="228600"/>
          </a:xfrm>
          <a:prstGeom prst="rect">
            <a:avLst/>
          </a:prstGeom>
          <a:noFill/>
          <a:ln/>
        </p:spPr>
        <p:txBody>
          <a:bodyPr wrap="square" lIns="0" tIns="0" rIns="0" bIns="0" rtlCol="0" anchor="ctr"/>
          <a:lstStyle/>
          <a:p>
            <a:pPr indent="0" marL="0">
              <a:buNone/>
            </a:pPr>
            <a:r>
              <a:rPr lang="en-US" sz="1150" b="1" dirty="0">
                <a:solidFill>
                  <a:srgbClr val="17312B"/>
                </a:solidFill>
              </a:rPr>
              <a:t>Điểm khác biệt</a:t>
            </a:r>
            <a:endParaRPr lang="en-US" sz="1150" dirty="0"/>
          </a:p>
        </p:txBody>
      </p:sp>
      <p:sp>
        <p:nvSpPr>
          <p:cNvPr id="25" name="Text 22"/>
          <p:cNvSpPr/>
          <p:nvPr/>
        </p:nvSpPr>
        <p:spPr>
          <a:xfrm>
            <a:off x="923544" y="4178808"/>
            <a:ext cx="2139696" cy="68580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Kết hợp cứu trợ thực phẩm lẻ, giao hàng tình nguyện, chiến dịch bếp nấu và báo cáo ESG trong một hệ thống.</a:t>
            </a:r>
            <a:endParaRPr lang="en-US" sz="870" dirty="0"/>
          </a:p>
        </p:txBody>
      </p:sp>
      <p:sp>
        <p:nvSpPr>
          <p:cNvPr id="26" name="Shape 23"/>
          <p:cNvSpPr/>
          <p:nvPr/>
        </p:nvSpPr>
        <p:spPr>
          <a:xfrm>
            <a:off x="3520440" y="3703320"/>
            <a:ext cx="2487168" cy="1325880"/>
          </a:xfrm>
          <a:prstGeom prst="roundRect">
            <a:avLst>
              <a:gd name="adj" fmla="val 4138"/>
            </a:avLst>
          </a:prstGeom>
          <a:solidFill>
            <a:srgbClr val="FFFFFF"/>
          </a:solidFill>
          <a:ln w="12700">
            <a:solidFill>
              <a:srgbClr val="D7E3DA"/>
            </a:solidFill>
            <a:prstDash val="solid"/>
          </a:ln>
        </p:spPr>
      </p:sp>
      <p:sp>
        <p:nvSpPr>
          <p:cNvPr id="27" name="Shape 24"/>
          <p:cNvSpPr/>
          <p:nvPr/>
        </p:nvSpPr>
        <p:spPr>
          <a:xfrm>
            <a:off x="3520440" y="3703320"/>
            <a:ext cx="73152" cy="1325880"/>
          </a:xfrm>
          <a:prstGeom prst="rect">
            <a:avLst/>
          </a:prstGeom>
          <a:solidFill>
            <a:srgbClr val="2574A9"/>
          </a:solidFill>
          <a:ln w="12700">
            <a:solidFill>
              <a:srgbClr val="2574A9">
                <a:alpha val="0"/>
              </a:srgbClr>
            </a:solidFill>
            <a:prstDash val="solid"/>
          </a:ln>
        </p:spPr>
      </p:sp>
      <p:sp>
        <p:nvSpPr>
          <p:cNvPr id="28" name="Text 25"/>
          <p:cNvSpPr/>
          <p:nvPr/>
        </p:nvSpPr>
        <p:spPr>
          <a:xfrm>
            <a:off x="3730752" y="3867912"/>
            <a:ext cx="2139696" cy="228600"/>
          </a:xfrm>
          <a:prstGeom prst="rect">
            <a:avLst/>
          </a:prstGeom>
          <a:noFill/>
          <a:ln/>
        </p:spPr>
        <p:txBody>
          <a:bodyPr wrap="square" lIns="0" tIns="0" rIns="0" bIns="0" rtlCol="0" anchor="ctr"/>
          <a:lstStyle/>
          <a:p>
            <a:pPr indent="0" marL="0">
              <a:buNone/>
            </a:pPr>
            <a:r>
              <a:rPr lang="en-US" sz="1150" b="1" dirty="0">
                <a:solidFill>
                  <a:srgbClr val="17312B"/>
                </a:solidFill>
              </a:rPr>
              <a:t>Minh bạch</a:t>
            </a:r>
            <a:endParaRPr lang="en-US" sz="1150" dirty="0"/>
          </a:p>
        </p:txBody>
      </p:sp>
      <p:sp>
        <p:nvSpPr>
          <p:cNvPr id="29" name="Text 26"/>
          <p:cNvSpPr/>
          <p:nvPr/>
        </p:nvSpPr>
        <p:spPr>
          <a:xfrm>
            <a:off x="3730752" y="4178808"/>
            <a:ext cx="2139696" cy="68580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QR token, ảnh bằng chứng, lịch sử trạng thái, audit log, report và rating.</a:t>
            </a:r>
            <a:endParaRPr lang="en-US" sz="870" dirty="0"/>
          </a:p>
        </p:txBody>
      </p:sp>
      <p:sp>
        <p:nvSpPr>
          <p:cNvPr id="30" name="Shape 27"/>
          <p:cNvSpPr/>
          <p:nvPr/>
        </p:nvSpPr>
        <p:spPr>
          <a:xfrm>
            <a:off x="6327648" y="3703320"/>
            <a:ext cx="2487168" cy="1325880"/>
          </a:xfrm>
          <a:prstGeom prst="roundRect">
            <a:avLst>
              <a:gd name="adj" fmla="val 4138"/>
            </a:avLst>
          </a:prstGeom>
          <a:solidFill>
            <a:srgbClr val="FFFFFF"/>
          </a:solidFill>
          <a:ln w="12700">
            <a:solidFill>
              <a:srgbClr val="D7E3DA"/>
            </a:solidFill>
            <a:prstDash val="solid"/>
          </a:ln>
        </p:spPr>
      </p:sp>
      <p:sp>
        <p:nvSpPr>
          <p:cNvPr id="31" name="Shape 28"/>
          <p:cNvSpPr/>
          <p:nvPr/>
        </p:nvSpPr>
        <p:spPr>
          <a:xfrm>
            <a:off x="6327648" y="3703320"/>
            <a:ext cx="73152" cy="1325880"/>
          </a:xfrm>
          <a:prstGeom prst="rect">
            <a:avLst/>
          </a:prstGeom>
          <a:solidFill>
            <a:srgbClr val="F28C38"/>
          </a:solidFill>
          <a:ln w="12700">
            <a:solidFill>
              <a:srgbClr val="F28C38">
                <a:alpha val="0"/>
              </a:srgbClr>
            </a:solidFill>
            <a:prstDash val="solid"/>
          </a:ln>
        </p:spPr>
      </p:sp>
      <p:sp>
        <p:nvSpPr>
          <p:cNvPr id="32" name="Text 29"/>
          <p:cNvSpPr/>
          <p:nvPr/>
        </p:nvSpPr>
        <p:spPr>
          <a:xfrm>
            <a:off x="6537960" y="3867912"/>
            <a:ext cx="2139696" cy="228600"/>
          </a:xfrm>
          <a:prstGeom prst="rect">
            <a:avLst/>
          </a:prstGeom>
          <a:noFill/>
          <a:ln/>
        </p:spPr>
        <p:txBody>
          <a:bodyPr wrap="square" lIns="0" tIns="0" rIns="0" bIns="0" rtlCol="0" anchor="ctr"/>
          <a:lstStyle/>
          <a:p>
            <a:pPr indent="0" marL="0">
              <a:buNone/>
            </a:pPr>
            <a:r>
              <a:rPr lang="en-US" sz="1150" b="1" dirty="0">
                <a:solidFill>
                  <a:srgbClr val="17312B"/>
                </a:solidFill>
              </a:rPr>
              <a:t>Công bằng</a:t>
            </a:r>
            <a:endParaRPr lang="en-US" sz="1150" dirty="0"/>
          </a:p>
        </p:txBody>
      </p:sp>
      <p:sp>
        <p:nvSpPr>
          <p:cNvPr id="33" name="Text 30"/>
          <p:cNvSpPr/>
          <p:nvPr/>
        </p:nvSpPr>
        <p:spPr>
          <a:xfrm>
            <a:off x="6537960" y="4178808"/>
            <a:ext cx="2139696" cy="68580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Giới hạn đặt/ngày, trust score, lock Redis khi đặt suất và ưu tiên theo vị trí.</a:t>
            </a:r>
            <a:endParaRPr lang="en-US" sz="870" dirty="0"/>
          </a:p>
        </p:txBody>
      </p:sp>
      <p:sp>
        <p:nvSpPr>
          <p:cNvPr id="34" name="Shape 31"/>
          <p:cNvSpPr/>
          <p:nvPr/>
        </p:nvSpPr>
        <p:spPr>
          <a:xfrm>
            <a:off x="9125712" y="3703320"/>
            <a:ext cx="2103120" cy="1325880"/>
          </a:xfrm>
          <a:prstGeom prst="roundRect">
            <a:avLst>
              <a:gd name="adj" fmla="val 4138"/>
            </a:avLst>
          </a:prstGeom>
          <a:solidFill>
            <a:srgbClr val="FFFFFF"/>
          </a:solidFill>
          <a:ln w="12700">
            <a:solidFill>
              <a:srgbClr val="D7E3DA"/>
            </a:solidFill>
            <a:prstDash val="solid"/>
          </a:ln>
        </p:spPr>
      </p:sp>
      <p:sp>
        <p:nvSpPr>
          <p:cNvPr id="35" name="Shape 32"/>
          <p:cNvSpPr/>
          <p:nvPr/>
        </p:nvSpPr>
        <p:spPr>
          <a:xfrm>
            <a:off x="9125712" y="3703320"/>
            <a:ext cx="73152" cy="1325880"/>
          </a:xfrm>
          <a:prstGeom prst="rect">
            <a:avLst/>
          </a:prstGeom>
          <a:solidFill>
            <a:srgbClr val="72B16A"/>
          </a:solidFill>
          <a:ln w="12700">
            <a:solidFill>
              <a:srgbClr val="72B16A">
                <a:alpha val="0"/>
              </a:srgbClr>
            </a:solidFill>
            <a:prstDash val="solid"/>
          </a:ln>
        </p:spPr>
      </p:sp>
      <p:sp>
        <p:nvSpPr>
          <p:cNvPr id="36" name="Text 33"/>
          <p:cNvSpPr/>
          <p:nvPr/>
        </p:nvSpPr>
        <p:spPr>
          <a:xfrm>
            <a:off x="9336024" y="3867912"/>
            <a:ext cx="1755648" cy="228600"/>
          </a:xfrm>
          <a:prstGeom prst="rect">
            <a:avLst/>
          </a:prstGeom>
          <a:noFill/>
          <a:ln/>
        </p:spPr>
        <p:txBody>
          <a:bodyPr wrap="square" lIns="0" tIns="0" rIns="0" bIns="0" rtlCol="0" anchor="ctr"/>
          <a:lstStyle/>
          <a:p>
            <a:pPr indent="0" marL="0">
              <a:buNone/>
            </a:pPr>
            <a:r>
              <a:rPr lang="en-US" sz="1150" b="1" dirty="0">
                <a:solidFill>
                  <a:srgbClr val="17312B"/>
                </a:solidFill>
              </a:rPr>
              <a:t>Mở rộng</a:t>
            </a:r>
            <a:endParaRPr lang="en-US" sz="1150" dirty="0"/>
          </a:p>
        </p:txBody>
      </p:sp>
      <p:sp>
        <p:nvSpPr>
          <p:cNvPr id="37" name="Text 34"/>
          <p:cNvSpPr/>
          <p:nvPr/>
        </p:nvSpPr>
        <p:spPr>
          <a:xfrm>
            <a:off x="9336024" y="4178808"/>
            <a:ext cx="1755648" cy="68580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PostGIS, queue, WebSocket, FCM và cấu hình động.</a:t>
            </a:r>
            <a:endParaRPr lang="en-US" sz="87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502920" y="475488"/>
            <a:ext cx="7772400" cy="502920"/>
          </a:xfrm>
          <a:prstGeom prst="rect">
            <a:avLst/>
          </a:prstGeom>
          <a:noFill/>
          <a:ln/>
        </p:spPr>
        <p:txBody>
          <a:bodyPr wrap="square" lIns="0" tIns="0" rIns="0" bIns="0" rtlCol="0" anchor="ctr"/>
          <a:lstStyle/>
          <a:p>
            <a:pPr indent="0" marL="0">
              <a:buNone/>
            </a:pPr>
            <a:r>
              <a:rPr lang="en-US" sz="2500" b="1" dirty="0">
                <a:solidFill>
                  <a:srgbClr val="17312B"/>
                </a:solidFill>
              </a:rPr>
              <a:t>Các vai trò chính</a:t>
            </a:r>
            <a:endParaRPr lang="en-US" sz="2500" dirty="0"/>
          </a:p>
        </p:txBody>
      </p:sp>
      <p:sp>
        <p:nvSpPr>
          <p:cNvPr id="3" name="Text 1"/>
          <p:cNvSpPr/>
          <p:nvPr/>
        </p:nvSpPr>
        <p:spPr>
          <a:xfrm>
            <a:off x="502920" y="987552"/>
            <a:ext cx="8046720" cy="292608"/>
          </a:xfrm>
          <a:prstGeom prst="rect">
            <a:avLst/>
          </a:prstGeom>
          <a:noFill/>
          <a:ln/>
        </p:spPr>
        <p:txBody>
          <a:bodyPr wrap="square" lIns="0" tIns="0" rIns="0" bIns="0" rtlCol="0" anchor="ctr"/>
          <a:lstStyle/>
          <a:p>
            <a:pPr indent="0" marL="0">
              <a:buNone/>
            </a:pPr>
            <a:r>
              <a:rPr lang="en-US" sz="1050" dirty="0">
                <a:solidFill>
                  <a:srgbClr val="5D6A66"/>
                </a:solidFill>
              </a:rPr>
              <a:t>Mỗi vai trò có profile riêng, quyền riêng và hành trình sử dụng riêng.</a:t>
            </a:r>
            <a:endParaRPr lang="en-US" sz="1050" dirty="0"/>
          </a:p>
        </p:txBody>
      </p:sp>
      <p:sp>
        <p:nvSpPr>
          <p:cNvPr id="4" name="Shape 2"/>
          <p:cNvSpPr/>
          <p:nvPr/>
        </p:nvSpPr>
        <p:spPr>
          <a:xfrm>
            <a:off x="502920" y="6446520"/>
            <a:ext cx="11173968" cy="0"/>
          </a:xfrm>
          <a:prstGeom prst="line">
            <a:avLst/>
          </a:prstGeom>
          <a:noFill/>
          <a:ln w="12700">
            <a:solidFill>
              <a:srgbClr val="D7E3DA"/>
            </a:solidFill>
            <a:prstDash val="solid"/>
          </a:ln>
        </p:spPr>
      </p:sp>
      <p:sp>
        <p:nvSpPr>
          <p:cNvPr id="5" name="Text 3"/>
          <p:cNvSpPr/>
          <p:nvPr/>
        </p:nvSpPr>
        <p:spPr>
          <a:xfrm>
            <a:off x="502920" y="6519672"/>
            <a:ext cx="4389120" cy="164592"/>
          </a:xfrm>
          <a:prstGeom prst="rect">
            <a:avLst/>
          </a:prstGeom>
          <a:noFill/>
          <a:ln/>
        </p:spPr>
        <p:txBody>
          <a:bodyPr wrap="square" lIns="0" tIns="0" rIns="0" bIns="0" rtlCol="0" anchor="ctr"/>
          <a:lstStyle/>
          <a:p>
            <a:pPr indent="0" marL="0">
              <a:buNone/>
            </a:pPr>
            <a:r>
              <a:rPr lang="en-US" sz="760" dirty="0">
                <a:solidFill>
                  <a:srgbClr val="5D6A66"/>
                </a:solidFill>
                <a:latin typeface="Aptos" pitchFamily="34" charset="0"/>
                <a:ea typeface="Aptos" pitchFamily="34" charset="-122"/>
                <a:cs typeface="Aptos" pitchFamily="34" charset="-120"/>
              </a:rPr>
              <a:t>FoodResQ | Capstone SP26SE088</a:t>
            </a:r>
            <a:endParaRPr lang="en-US" sz="760" dirty="0"/>
          </a:p>
        </p:txBody>
      </p:sp>
      <p:sp>
        <p:nvSpPr>
          <p:cNvPr id="6" name="Text 4"/>
          <p:cNvSpPr/>
          <p:nvPr/>
        </p:nvSpPr>
        <p:spPr>
          <a:xfrm>
            <a:off x="11192256" y="6492240"/>
            <a:ext cx="457200" cy="201168"/>
          </a:xfrm>
          <a:prstGeom prst="rect">
            <a:avLst/>
          </a:prstGeom>
          <a:noFill/>
          <a:ln/>
        </p:spPr>
        <p:txBody>
          <a:bodyPr wrap="square" lIns="0" tIns="0" rIns="0" bIns="0" rtlCol="0" anchor="ctr"/>
          <a:lstStyle/>
          <a:p>
            <a:pPr algn="r" indent="0" marL="0">
              <a:buNone/>
            </a:pPr>
            <a:r>
              <a:rPr lang="en-US" sz="800" b="1" dirty="0">
                <a:solidFill>
                  <a:srgbClr val="5D6A66"/>
                </a:solidFill>
              </a:rPr>
              <a:t>04</a:t>
            </a:r>
            <a:endParaRPr lang="en-US" sz="800" dirty="0"/>
          </a:p>
        </p:txBody>
      </p:sp>
      <p:pic>
        <p:nvPicPr>
          <p:cNvPr id="7" name="Image 0" descr="D:\Capstone_FoodResQ_Web\apps\web\public\Logo_FoodResQ.png">    </p:cNvPr>
          <p:cNvPicPr>
            <a:picLocks noChangeAspect="1"/>
          </p:cNvPicPr>
          <p:nvPr/>
        </p:nvPicPr>
        <p:blipFill>
          <a:blip r:embed="rId1"/>
          <a:stretch>
            <a:fillRect/>
          </a:stretch>
        </p:blipFill>
        <p:spPr>
          <a:xfrm>
            <a:off x="10652760" y="310896"/>
            <a:ext cx="960120" cy="420624"/>
          </a:xfrm>
          <a:prstGeom prst="rect">
            <a:avLst/>
          </a:prstGeom>
        </p:spPr>
      </p:pic>
      <p:pic>
        <p:nvPicPr>
          <p:cNvPr id="8" name="Image 1" descr="D:\Capstone_FoodResQ_Web\apps\web\public\food_lunchbox.png">    </p:cNvPr>
          <p:cNvPicPr>
            <a:picLocks noChangeAspect="1"/>
          </p:cNvPicPr>
          <p:nvPr/>
        </p:nvPicPr>
        <p:blipFill>
          <a:blip r:embed="rId2"/>
          <a:stretch>
            <a:fillRect/>
          </a:stretch>
        </p:blipFill>
        <p:spPr>
          <a:xfrm>
            <a:off x="658368" y="1417320"/>
            <a:ext cx="2194560" cy="1572768"/>
          </a:xfrm>
          <a:prstGeom prst="rect">
            <a:avLst/>
          </a:prstGeom>
        </p:spPr>
      </p:pic>
      <p:sp>
        <p:nvSpPr>
          <p:cNvPr id="9" name="Shape 5"/>
          <p:cNvSpPr/>
          <p:nvPr/>
        </p:nvSpPr>
        <p:spPr>
          <a:xfrm>
            <a:off x="658368" y="2660904"/>
            <a:ext cx="2194560" cy="329184"/>
          </a:xfrm>
          <a:prstGeom prst="rect">
            <a:avLst/>
          </a:prstGeom>
          <a:solidFill>
            <a:srgbClr val="17312B">
              <a:alpha val="92000"/>
            </a:srgbClr>
          </a:solidFill>
          <a:ln w="12700">
            <a:solidFill>
              <a:srgbClr val="17312B">
                <a:alpha val="0"/>
              </a:srgbClr>
            </a:solidFill>
            <a:prstDash val="solid"/>
          </a:ln>
        </p:spPr>
      </p:sp>
      <p:sp>
        <p:nvSpPr>
          <p:cNvPr id="10" name="Text 6"/>
          <p:cNvSpPr/>
          <p:nvPr/>
        </p:nvSpPr>
        <p:spPr>
          <a:xfrm>
            <a:off x="786384" y="2752344"/>
            <a:ext cx="1938528" cy="128016"/>
          </a:xfrm>
          <a:prstGeom prst="rect">
            <a:avLst/>
          </a:prstGeom>
          <a:noFill/>
          <a:ln/>
        </p:spPr>
        <p:txBody>
          <a:bodyPr wrap="square" lIns="0" tIns="0" rIns="0" bIns="0" rtlCol="0" anchor="ctr"/>
          <a:lstStyle/>
          <a:p>
            <a:pPr indent="0" marL="0">
              <a:buNone/>
            </a:pPr>
            <a:r>
              <a:rPr lang="en-US" sz="720" b="1" dirty="0">
                <a:solidFill>
                  <a:srgbClr val="FFFFFF"/>
                </a:solidFill>
              </a:rPr>
              <a:t>Provider</a:t>
            </a:r>
            <a:endParaRPr lang="en-US" sz="720" dirty="0"/>
          </a:p>
        </p:txBody>
      </p:sp>
      <p:sp>
        <p:nvSpPr>
          <p:cNvPr id="11" name="Shape 7"/>
          <p:cNvSpPr/>
          <p:nvPr/>
        </p:nvSpPr>
        <p:spPr>
          <a:xfrm>
            <a:off x="658368" y="3182112"/>
            <a:ext cx="2194560" cy="1645920"/>
          </a:xfrm>
          <a:prstGeom prst="roundRect">
            <a:avLst>
              <a:gd name="adj" fmla="val 3333"/>
            </a:avLst>
          </a:prstGeom>
          <a:solidFill>
            <a:srgbClr val="FFFFFF"/>
          </a:solidFill>
          <a:ln w="12700">
            <a:solidFill>
              <a:srgbClr val="D7E3DA"/>
            </a:solidFill>
            <a:prstDash val="solid"/>
          </a:ln>
        </p:spPr>
      </p:sp>
      <p:sp>
        <p:nvSpPr>
          <p:cNvPr id="12" name="Shape 8"/>
          <p:cNvSpPr/>
          <p:nvPr/>
        </p:nvSpPr>
        <p:spPr>
          <a:xfrm>
            <a:off x="658368" y="3182112"/>
            <a:ext cx="73152" cy="1645920"/>
          </a:xfrm>
          <a:prstGeom prst="rect">
            <a:avLst/>
          </a:prstGeom>
          <a:solidFill>
            <a:srgbClr val="1F8A4C"/>
          </a:solidFill>
          <a:ln w="12700">
            <a:solidFill>
              <a:srgbClr val="1F8A4C">
                <a:alpha val="0"/>
              </a:srgbClr>
            </a:solidFill>
            <a:prstDash val="solid"/>
          </a:ln>
        </p:spPr>
      </p:sp>
      <p:sp>
        <p:nvSpPr>
          <p:cNvPr id="13" name="Text 9"/>
          <p:cNvSpPr/>
          <p:nvPr/>
        </p:nvSpPr>
        <p:spPr>
          <a:xfrm>
            <a:off x="868680" y="3346704"/>
            <a:ext cx="1847088" cy="228600"/>
          </a:xfrm>
          <a:prstGeom prst="rect">
            <a:avLst/>
          </a:prstGeom>
          <a:noFill/>
          <a:ln/>
        </p:spPr>
        <p:txBody>
          <a:bodyPr wrap="square" lIns="0" tIns="0" rIns="0" bIns="0" rtlCol="0" anchor="ctr"/>
          <a:lstStyle/>
          <a:p>
            <a:pPr indent="0" marL="0">
              <a:buNone/>
            </a:pPr>
            <a:r>
              <a:rPr lang="en-US" sz="1150" b="1" dirty="0">
                <a:solidFill>
                  <a:srgbClr val="17312B"/>
                </a:solidFill>
              </a:rPr>
              <a:t>Nhà cung cấp</a:t>
            </a:r>
            <a:endParaRPr lang="en-US" sz="1150" dirty="0"/>
          </a:p>
        </p:txBody>
      </p:sp>
      <p:sp>
        <p:nvSpPr>
          <p:cNvPr id="14" name="Text 10"/>
          <p:cNvSpPr/>
          <p:nvPr/>
        </p:nvSpPr>
        <p:spPr>
          <a:xfrm>
            <a:off x="868680" y="3657600"/>
            <a:ext cx="1847088" cy="100584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Tạo listing, quản lý tồn, xác nhận pickup, xem ESG.</a:t>
            </a:r>
            <a:endParaRPr lang="en-US" sz="870" dirty="0"/>
          </a:p>
        </p:txBody>
      </p:sp>
      <p:pic>
        <p:nvPicPr>
          <p:cNvPr id="15" name="Image 2" descr="D:\Capstone_FoodResQ_Web\apps\web\public\eco_beneficiary.png">    </p:cNvPr>
          <p:cNvPicPr>
            <a:picLocks noChangeAspect="1"/>
          </p:cNvPicPr>
          <p:nvPr/>
        </p:nvPicPr>
        <p:blipFill>
          <a:blip r:embed="rId3"/>
          <a:stretch>
            <a:fillRect/>
          </a:stretch>
        </p:blipFill>
        <p:spPr>
          <a:xfrm>
            <a:off x="3136392" y="1417320"/>
            <a:ext cx="2194560" cy="1572768"/>
          </a:xfrm>
          <a:prstGeom prst="rect">
            <a:avLst/>
          </a:prstGeom>
        </p:spPr>
      </p:pic>
      <p:sp>
        <p:nvSpPr>
          <p:cNvPr id="16" name="Shape 11"/>
          <p:cNvSpPr/>
          <p:nvPr/>
        </p:nvSpPr>
        <p:spPr>
          <a:xfrm>
            <a:off x="3136392" y="2660904"/>
            <a:ext cx="2194560" cy="329184"/>
          </a:xfrm>
          <a:prstGeom prst="rect">
            <a:avLst/>
          </a:prstGeom>
          <a:solidFill>
            <a:srgbClr val="17312B">
              <a:alpha val="92000"/>
            </a:srgbClr>
          </a:solidFill>
          <a:ln w="12700">
            <a:solidFill>
              <a:srgbClr val="17312B">
                <a:alpha val="0"/>
              </a:srgbClr>
            </a:solidFill>
            <a:prstDash val="solid"/>
          </a:ln>
        </p:spPr>
      </p:sp>
      <p:sp>
        <p:nvSpPr>
          <p:cNvPr id="17" name="Text 12"/>
          <p:cNvSpPr/>
          <p:nvPr/>
        </p:nvSpPr>
        <p:spPr>
          <a:xfrm>
            <a:off x="3264408" y="2752344"/>
            <a:ext cx="1938528" cy="128016"/>
          </a:xfrm>
          <a:prstGeom prst="rect">
            <a:avLst/>
          </a:prstGeom>
          <a:noFill/>
          <a:ln/>
        </p:spPr>
        <p:txBody>
          <a:bodyPr wrap="square" lIns="0" tIns="0" rIns="0" bIns="0" rtlCol="0" anchor="ctr"/>
          <a:lstStyle/>
          <a:p>
            <a:pPr indent="0" marL="0">
              <a:buNone/>
            </a:pPr>
            <a:r>
              <a:rPr lang="en-US" sz="720" b="1" dirty="0">
                <a:solidFill>
                  <a:srgbClr val="FFFFFF"/>
                </a:solidFill>
              </a:rPr>
              <a:t>Receiver</a:t>
            </a:r>
            <a:endParaRPr lang="en-US" sz="720" dirty="0"/>
          </a:p>
        </p:txBody>
      </p:sp>
      <p:sp>
        <p:nvSpPr>
          <p:cNvPr id="18" name="Shape 13"/>
          <p:cNvSpPr/>
          <p:nvPr/>
        </p:nvSpPr>
        <p:spPr>
          <a:xfrm>
            <a:off x="3136392" y="3182112"/>
            <a:ext cx="2194560" cy="1645920"/>
          </a:xfrm>
          <a:prstGeom prst="roundRect">
            <a:avLst>
              <a:gd name="adj" fmla="val 3333"/>
            </a:avLst>
          </a:prstGeom>
          <a:solidFill>
            <a:srgbClr val="FFFFFF"/>
          </a:solidFill>
          <a:ln w="12700">
            <a:solidFill>
              <a:srgbClr val="D7E3DA"/>
            </a:solidFill>
            <a:prstDash val="solid"/>
          </a:ln>
        </p:spPr>
      </p:sp>
      <p:sp>
        <p:nvSpPr>
          <p:cNvPr id="19" name="Shape 14"/>
          <p:cNvSpPr/>
          <p:nvPr/>
        </p:nvSpPr>
        <p:spPr>
          <a:xfrm>
            <a:off x="3136392" y="3182112"/>
            <a:ext cx="73152" cy="1645920"/>
          </a:xfrm>
          <a:prstGeom prst="rect">
            <a:avLst/>
          </a:prstGeom>
          <a:solidFill>
            <a:srgbClr val="F28C38"/>
          </a:solidFill>
          <a:ln w="12700">
            <a:solidFill>
              <a:srgbClr val="F28C38">
                <a:alpha val="0"/>
              </a:srgbClr>
            </a:solidFill>
            <a:prstDash val="solid"/>
          </a:ln>
        </p:spPr>
      </p:sp>
      <p:sp>
        <p:nvSpPr>
          <p:cNvPr id="20" name="Text 15"/>
          <p:cNvSpPr/>
          <p:nvPr/>
        </p:nvSpPr>
        <p:spPr>
          <a:xfrm>
            <a:off x="3346704" y="3346704"/>
            <a:ext cx="1847088" cy="228600"/>
          </a:xfrm>
          <a:prstGeom prst="rect">
            <a:avLst/>
          </a:prstGeom>
          <a:noFill/>
          <a:ln/>
        </p:spPr>
        <p:txBody>
          <a:bodyPr wrap="square" lIns="0" tIns="0" rIns="0" bIns="0" rtlCol="0" anchor="ctr"/>
          <a:lstStyle/>
          <a:p>
            <a:pPr indent="0" marL="0">
              <a:buNone/>
            </a:pPr>
            <a:r>
              <a:rPr lang="en-US" sz="1150" b="1" dirty="0">
                <a:solidFill>
                  <a:srgbClr val="17312B"/>
                </a:solidFill>
              </a:rPr>
              <a:t>Người nhận</a:t>
            </a:r>
            <a:endParaRPr lang="en-US" sz="1150" dirty="0"/>
          </a:p>
        </p:txBody>
      </p:sp>
      <p:sp>
        <p:nvSpPr>
          <p:cNvPr id="21" name="Text 16"/>
          <p:cNvSpPr/>
          <p:nvPr/>
        </p:nvSpPr>
        <p:spPr>
          <a:xfrm>
            <a:off x="3346704" y="3657600"/>
            <a:ext cx="1847088" cy="100584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Tìm đồ gần mình, đặt suất, nhận QR, đánh giá/báo cáo.</a:t>
            </a:r>
            <a:endParaRPr lang="en-US" sz="870" dirty="0"/>
          </a:p>
        </p:txBody>
      </p:sp>
      <p:pic>
        <p:nvPicPr>
          <p:cNvPr id="22" name="Image 3" descr="D:\Capstone_FoodResQ_Web\apps\web\public\shipper_TC.png">    </p:cNvPr>
          <p:cNvPicPr>
            <a:picLocks noChangeAspect="1"/>
          </p:cNvPicPr>
          <p:nvPr/>
        </p:nvPicPr>
        <p:blipFill>
          <a:blip r:embed="rId4"/>
          <a:stretch>
            <a:fillRect/>
          </a:stretch>
        </p:blipFill>
        <p:spPr>
          <a:xfrm>
            <a:off x="5614416" y="1417320"/>
            <a:ext cx="2194560" cy="1572768"/>
          </a:xfrm>
          <a:prstGeom prst="rect">
            <a:avLst/>
          </a:prstGeom>
        </p:spPr>
      </p:pic>
      <p:sp>
        <p:nvSpPr>
          <p:cNvPr id="23" name="Shape 17"/>
          <p:cNvSpPr/>
          <p:nvPr/>
        </p:nvSpPr>
        <p:spPr>
          <a:xfrm>
            <a:off x="5614416" y="2660904"/>
            <a:ext cx="2194560" cy="329184"/>
          </a:xfrm>
          <a:prstGeom prst="rect">
            <a:avLst/>
          </a:prstGeom>
          <a:solidFill>
            <a:srgbClr val="17312B">
              <a:alpha val="92000"/>
            </a:srgbClr>
          </a:solidFill>
          <a:ln w="12700">
            <a:solidFill>
              <a:srgbClr val="17312B">
                <a:alpha val="0"/>
              </a:srgbClr>
            </a:solidFill>
            <a:prstDash val="solid"/>
          </a:ln>
        </p:spPr>
      </p:sp>
      <p:sp>
        <p:nvSpPr>
          <p:cNvPr id="24" name="Text 18"/>
          <p:cNvSpPr/>
          <p:nvPr/>
        </p:nvSpPr>
        <p:spPr>
          <a:xfrm>
            <a:off x="5742432" y="2752344"/>
            <a:ext cx="1938528" cy="128016"/>
          </a:xfrm>
          <a:prstGeom prst="rect">
            <a:avLst/>
          </a:prstGeom>
          <a:noFill/>
          <a:ln/>
        </p:spPr>
        <p:txBody>
          <a:bodyPr wrap="square" lIns="0" tIns="0" rIns="0" bIns="0" rtlCol="0" anchor="ctr"/>
          <a:lstStyle/>
          <a:p>
            <a:pPr indent="0" marL="0">
              <a:buNone/>
            </a:pPr>
            <a:r>
              <a:rPr lang="en-US" sz="720" b="1" dirty="0">
                <a:solidFill>
                  <a:srgbClr val="FFFFFF"/>
                </a:solidFill>
              </a:rPr>
              <a:t>Volunteer</a:t>
            </a:r>
            <a:endParaRPr lang="en-US" sz="720" dirty="0"/>
          </a:p>
        </p:txBody>
      </p:sp>
      <p:sp>
        <p:nvSpPr>
          <p:cNvPr id="25" name="Shape 19"/>
          <p:cNvSpPr/>
          <p:nvPr/>
        </p:nvSpPr>
        <p:spPr>
          <a:xfrm>
            <a:off x="5614416" y="3182112"/>
            <a:ext cx="2194560" cy="1645920"/>
          </a:xfrm>
          <a:prstGeom prst="roundRect">
            <a:avLst>
              <a:gd name="adj" fmla="val 3333"/>
            </a:avLst>
          </a:prstGeom>
          <a:solidFill>
            <a:srgbClr val="FFFFFF"/>
          </a:solidFill>
          <a:ln w="12700">
            <a:solidFill>
              <a:srgbClr val="D7E3DA"/>
            </a:solidFill>
            <a:prstDash val="solid"/>
          </a:ln>
        </p:spPr>
      </p:sp>
      <p:sp>
        <p:nvSpPr>
          <p:cNvPr id="26" name="Shape 20"/>
          <p:cNvSpPr/>
          <p:nvPr/>
        </p:nvSpPr>
        <p:spPr>
          <a:xfrm>
            <a:off x="5614416" y="3182112"/>
            <a:ext cx="73152" cy="1645920"/>
          </a:xfrm>
          <a:prstGeom prst="rect">
            <a:avLst/>
          </a:prstGeom>
          <a:solidFill>
            <a:srgbClr val="2574A9"/>
          </a:solidFill>
          <a:ln w="12700">
            <a:solidFill>
              <a:srgbClr val="2574A9">
                <a:alpha val="0"/>
              </a:srgbClr>
            </a:solidFill>
            <a:prstDash val="solid"/>
          </a:ln>
        </p:spPr>
      </p:sp>
      <p:sp>
        <p:nvSpPr>
          <p:cNvPr id="27" name="Text 21"/>
          <p:cNvSpPr/>
          <p:nvPr/>
        </p:nvSpPr>
        <p:spPr>
          <a:xfrm>
            <a:off x="5824728" y="3346704"/>
            <a:ext cx="1847088" cy="228600"/>
          </a:xfrm>
          <a:prstGeom prst="rect">
            <a:avLst/>
          </a:prstGeom>
          <a:noFill/>
          <a:ln/>
        </p:spPr>
        <p:txBody>
          <a:bodyPr wrap="square" lIns="0" tIns="0" rIns="0" bIns="0" rtlCol="0" anchor="ctr"/>
          <a:lstStyle/>
          <a:p>
            <a:pPr indent="0" marL="0">
              <a:buNone/>
            </a:pPr>
            <a:r>
              <a:rPr lang="en-US" sz="1150" b="1" dirty="0">
                <a:solidFill>
                  <a:srgbClr val="17312B"/>
                </a:solidFill>
              </a:rPr>
              <a:t>Tình nguyện viên</a:t>
            </a:r>
            <a:endParaRPr lang="en-US" sz="1150" dirty="0"/>
          </a:p>
        </p:txBody>
      </p:sp>
      <p:sp>
        <p:nvSpPr>
          <p:cNvPr id="28" name="Text 22"/>
          <p:cNvSpPr/>
          <p:nvPr/>
        </p:nvSpPr>
        <p:spPr>
          <a:xfrm>
            <a:off x="5824728" y="3657600"/>
            <a:ext cx="1847088" cy="100584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Giao đơn, tham gia bếp, nhận điểm cống hiến.</a:t>
            </a:r>
            <a:endParaRPr lang="en-US" sz="870" dirty="0"/>
          </a:p>
        </p:txBody>
      </p:sp>
      <p:pic>
        <p:nvPicPr>
          <p:cNvPr id="29" name="Image 4" descr="D:\Capstone_FoodResQ_Web\apps\web\public\impact_kitchen.png">    </p:cNvPr>
          <p:cNvPicPr>
            <a:picLocks noChangeAspect="1"/>
          </p:cNvPicPr>
          <p:nvPr/>
        </p:nvPicPr>
        <p:blipFill>
          <a:blip r:embed="rId5"/>
          <a:stretch>
            <a:fillRect/>
          </a:stretch>
        </p:blipFill>
        <p:spPr>
          <a:xfrm>
            <a:off x="8092440" y="1417320"/>
            <a:ext cx="2194560" cy="1572768"/>
          </a:xfrm>
          <a:prstGeom prst="rect">
            <a:avLst/>
          </a:prstGeom>
        </p:spPr>
      </p:pic>
      <p:sp>
        <p:nvSpPr>
          <p:cNvPr id="30" name="Shape 23"/>
          <p:cNvSpPr/>
          <p:nvPr/>
        </p:nvSpPr>
        <p:spPr>
          <a:xfrm>
            <a:off x="8092440" y="2660904"/>
            <a:ext cx="2194560" cy="329184"/>
          </a:xfrm>
          <a:prstGeom prst="rect">
            <a:avLst/>
          </a:prstGeom>
          <a:solidFill>
            <a:srgbClr val="17312B">
              <a:alpha val="92000"/>
            </a:srgbClr>
          </a:solidFill>
          <a:ln w="12700">
            <a:solidFill>
              <a:srgbClr val="17312B">
                <a:alpha val="0"/>
              </a:srgbClr>
            </a:solidFill>
            <a:prstDash val="solid"/>
          </a:ln>
        </p:spPr>
      </p:sp>
      <p:sp>
        <p:nvSpPr>
          <p:cNvPr id="31" name="Text 24"/>
          <p:cNvSpPr/>
          <p:nvPr/>
        </p:nvSpPr>
        <p:spPr>
          <a:xfrm>
            <a:off x="8220456" y="2752344"/>
            <a:ext cx="1938528" cy="128016"/>
          </a:xfrm>
          <a:prstGeom prst="rect">
            <a:avLst/>
          </a:prstGeom>
          <a:noFill/>
          <a:ln/>
        </p:spPr>
        <p:txBody>
          <a:bodyPr wrap="square" lIns="0" tIns="0" rIns="0" bIns="0" rtlCol="0" anchor="ctr"/>
          <a:lstStyle/>
          <a:p>
            <a:pPr indent="0" marL="0">
              <a:buNone/>
            </a:pPr>
            <a:r>
              <a:rPr lang="en-US" sz="720" b="1" dirty="0">
                <a:solidFill>
                  <a:srgbClr val="FFFFFF"/>
                </a:solidFill>
              </a:rPr>
              <a:t>Charity</a:t>
            </a:r>
            <a:endParaRPr lang="en-US" sz="720" dirty="0"/>
          </a:p>
        </p:txBody>
      </p:sp>
      <p:sp>
        <p:nvSpPr>
          <p:cNvPr id="32" name="Shape 25"/>
          <p:cNvSpPr/>
          <p:nvPr/>
        </p:nvSpPr>
        <p:spPr>
          <a:xfrm>
            <a:off x="8092440" y="3182112"/>
            <a:ext cx="2194560" cy="1645920"/>
          </a:xfrm>
          <a:prstGeom prst="roundRect">
            <a:avLst>
              <a:gd name="adj" fmla="val 3333"/>
            </a:avLst>
          </a:prstGeom>
          <a:solidFill>
            <a:srgbClr val="FFFFFF"/>
          </a:solidFill>
          <a:ln w="12700">
            <a:solidFill>
              <a:srgbClr val="D7E3DA"/>
            </a:solidFill>
            <a:prstDash val="solid"/>
          </a:ln>
        </p:spPr>
      </p:sp>
      <p:sp>
        <p:nvSpPr>
          <p:cNvPr id="33" name="Shape 26"/>
          <p:cNvSpPr/>
          <p:nvPr/>
        </p:nvSpPr>
        <p:spPr>
          <a:xfrm>
            <a:off x="8092440" y="3182112"/>
            <a:ext cx="73152" cy="1645920"/>
          </a:xfrm>
          <a:prstGeom prst="rect">
            <a:avLst/>
          </a:prstGeom>
          <a:solidFill>
            <a:srgbClr val="72B16A"/>
          </a:solidFill>
          <a:ln w="12700">
            <a:solidFill>
              <a:srgbClr val="72B16A">
                <a:alpha val="0"/>
              </a:srgbClr>
            </a:solidFill>
            <a:prstDash val="solid"/>
          </a:ln>
        </p:spPr>
      </p:sp>
      <p:sp>
        <p:nvSpPr>
          <p:cNvPr id="34" name="Text 27"/>
          <p:cNvSpPr/>
          <p:nvPr/>
        </p:nvSpPr>
        <p:spPr>
          <a:xfrm>
            <a:off x="8302752" y="3346704"/>
            <a:ext cx="1847088" cy="228600"/>
          </a:xfrm>
          <a:prstGeom prst="rect">
            <a:avLst/>
          </a:prstGeom>
          <a:noFill/>
          <a:ln/>
        </p:spPr>
        <p:txBody>
          <a:bodyPr wrap="square" lIns="0" tIns="0" rIns="0" bIns="0" rtlCol="0" anchor="ctr"/>
          <a:lstStyle/>
          <a:p>
            <a:pPr indent="0" marL="0">
              <a:buNone/>
            </a:pPr>
            <a:r>
              <a:rPr lang="en-US" sz="1150" b="1" dirty="0">
                <a:solidFill>
                  <a:srgbClr val="17312B"/>
                </a:solidFill>
              </a:rPr>
              <a:t>Tổ chức từ thiện</a:t>
            </a:r>
            <a:endParaRPr lang="en-US" sz="1150" dirty="0"/>
          </a:p>
        </p:txBody>
      </p:sp>
      <p:sp>
        <p:nvSpPr>
          <p:cNvPr id="35" name="Text 28"/>
          <p:cNvSpPr/>
          <p:nvPr/>
        </p:nvSpPr>
        <p:spPr>
          <a:xfrm>
            <a:off x="8302752" y="3657600"/>
            <a:ext cx="1847088" cy="100584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Tạo chiến dịch bếp, quản lý ca, phân phối suất ăn.</a:t>
            </a:r>
            <a:endParaRPr lang="en-US" sz="870" dirty="0"/>
          </a:p>
        </p:txBody>
      </p:sp>
      <p:sp>
        <p:nvSpPr>
          <p:cNvPr id="36" name="Shape 29"/>
          <p:cNvSpPr/>
          <p:nvPr/>
        </p:nvSpPr>
        <p:spPr>
          <a:xfrm>
            <a:off x="10561320" y="1417320"/>
            <a:ext cx="987552" cy="3410712"/>
          </a:xfrm>
          <a:prstGeom prst="roundRect">
            <a:avLst>
              <a:gd name="adj" fmla="val 5556"/>
            </a:avLst>
          </a:prstGeom>
          <a:solidFill>
            <a:srgbClr val="FFFFFF"/>
          </a:solidFill>
          <a:ln w="12700">
            <a:solidFill>
              <a:srgbClr val="D7E3DA"/>
            </a:solidFill>
            <a:prstDash val="solid"/>
          </a:ln>
        </p:spPr>
      </p:sp>
      <p:sp>
        <p:nvSpPr>
          <p:cNvPr id="37" name="Shape 30"/>
          <p:cNvSpPr/>
          <p:nvPr/>
        </p:nvSpPr>
        <p:spPr>
          <a:xfrm>
            <a:off x="10561320" y="1417320"/>
            <a:ext cx="73152" cy="3410712"/>
          </a:xfrm>
          <a:prstGeom prst="rect">
            <a:avLst/>
          </a:prstGeom>
          <a:solidFill>
            <a:srgbClr val="D94D3F"/>
          </a:solidFill>
          <a:ln w="12700">
            <a:solidFill>
              <a:srgbClr val="D94D3F">
                <a:alpha val="0"/>
              </a:srgbClr>
            </a:solidFill>
            <a:prstDash val="solid"/>
          </a:ln>
        </p:spPr>
      </p:sp>
      <p:sp>
        <p:nvSpPr>
          <p:cNvPr id="38" name="Text 31"/>
          <p:cNvSpPr/>
          <p:nvPr/>
        </p:nvSpPr>
        <p:spPr>
          <a:xfrm>
            <a:off x="10771632" y="1581912"/>
            <a:ext cx="640080" cy="228600"/>
          </a:xfrm>
          <a:prstGeom prst="rect">
            <a:avLst/>
          </a:prstGeom>
          <a:noFill/>
          <a:ln/>
        </p:spPr>
        <p:txBody>
          <a:bodyPr wrap="square" lIns="0" tIns="0" rIns="0" bIns="0" rtlCol="0" anchor="ctr"/>
          <a:lstStyle/>
          <a:p>
            <a:pPr indent="0" marL="0">
              <a:buNone/>
            </a:pPr>
            <a:r>
              <a:rPr lang="en-US" sz="1150" b="1" dirty="0">
                <a:solidFill>
                  <a:srgbClr val="17312B"/>
                </a:solidFill>
              </a:rPr>
              <a:t>Admin</a:t>
            </a:r>
            <a:endParaRPr lang="en-US" sz="1150" dirty="0"/>
          </a:p>
        </p:txBody>
      </p:sp>
      <p:sp>
        <p:nvSpPr>
          <p:cNvPr id="39" name="Text 32"/>
          <p:cNvSpPr/>
          <p:nvPr/>
        </p:nvSpPr>
        <p:spPr>
          <a:xfrm>
            <a:off x="10771632" y="1892808"/>
            <a:ext cx="640080" cy="2770632"/>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Duyệt hồ sơ</a:t>
            </a:r>
            <a:endParaRPr lang="en-US" sz="870" dirty="0"/>
          </a:p>
          <a:p>
            <a:pPr indent="0" marL="0">
              <a:buNone/>
            </a:pPr>
            <a:r>
              <a:rPr lang="en-US" sz="870" dirty="0">
                <a:solidFill>
                  <a:srgbClr val="5D6A66"/>
                </a:solidFill>
              </a:rPr>
              <a:t>Xử lý report</a:t>
            </a:r>
            <a:endParaRPr lang="en-US" sz="870" dirty="0"/>
          </a:p>
          <a:p>
            <a:pPr indent="0" marL="0">
              <a:buNone/>
            </a:pPr>
            <a:r>
              <a:rPr lang="en-US" sz="870" dirty="0">
                <a:solidFill>
                  <a:srgbClr val="5D6A66"/>
                </a:solidFill>
              </a:rPr>
              <a:t>Quản lý user</a:t>
            </a:r>
            <a:endParaRPr lang="en-US" sz="870" dirty="0"/>
          </a:p>
          <a:p>
            <a:pPr indent="0" marL="0">
              <a:buNone/>
            </a:pPr>
            <a:r>
              <a:rPr lang="en-US" sz="870" dirty="0">
                <a:solidFill>
                  <a:srgbClr val="5D6A66"/>
                </a:solidFill>
              </a:rPr>
              <a:t>Theo dõi hệ thống</a:t>
            </a:r>
            <a:endParaRPr lang="en-US" sz="87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502920" y="475488"/>
            <a:ext cx="7772400" cy="502920"/>
          </a:xfrm>
          <a:prstGeom prst="rect">
            <a:avLst/>
          </a:prstGeom>
          <a:noFill/>
          <a:ln/>
        </p:spPr>
        <p:txBody>
          <a:bodyPr wrap="square" lIns="0" tIns="0" rIns="0" bIns="0" rtlCol="0" anchor="ctr"/>
          <a:lstStyle/>
          <a:p>
            <a:pPr indent="0" marL="0">
              <a:buNone/>
            </a:pPr>
            <a:r>
              <a:rPr lang="en-US" sz="2500" b="1" dirty="0">
                <a:solidFill>
                  <a:srgbClr val="17312B"/>
                </a:solidFill>
              </a:rPr>
              <a:t>Bức tranh module</a:t>
            </a:r>
            <a:endParaRPr lang="en-US" sz="2500" dirty="0"/>
          </a:p>
        </p:txBody>
      </p:sp>
      <p:sp>
        <p:nvSpPr>
          <p:cNvPr id="3" name="Text 1"/>
          <p:cNvSpPr/>
          <p:nvPr/>
        </p:nvSpPr>
        <p:spPr>
          <a:xfrm>
            <a:off x="502920" y="987552"/>
            <a:ext cx="8046720" cy="292608"/>
          </a:xfrm>
          <a:prstGeom prst="rect">
            <a:avLst/>
          </a:prstGeom>
          <a:noFill/>
          <a:ln/>
        </p:spPr>
        <p:txBody>
          <a:bodyPr wrap="square" lIns="0" tIns="0" rIns="0" bIns="0" rtlCol="0" anchor="ctr"/>
          <a:lstStyle/>
          <a:p>
            <a:pPr indent="0" marL="0">
              <a:buNone/>
            </a:pPr>
            <a:r>
              <a:rPr lang="en-US" sz="1050" dirty="0">
                <a:solidFill>
                  <a:srgbClr val="5D6A66"/>
                </a:solidFill>
              </a:rPr>
              <a:t>Các module bám theo nghiệp vụ, được tách trong NestJS và tái sử dụng qua web/mobile.</a:t>
            </a:r>
            <a:endParaRPr lang="en-US" sz="1050" dirty="0"/>
          </a:p>
        </p:txBody>
      </p:sp>
      <p:sp>
        <p:nvSpPr>
          <p:cNvPr id="4" name="Shape 2"/>
          <p:cNvSpPr/>
          <p:nvPr/>
        </p:nvSpPr>
        <p:spPr>
          <a:xfrm>
            <a:off x="502920" y="6446520"/>
            <a:ext cx="11173968" cy="0"/>
          </a:xfrm>
          <a:prstGeom prst="line">
            <a:avLst/>
          </a:prstGeom>
          <a:noFill/>
          <a:ln w="12700">
            <a:solidFill>
              <a:srgbClr val="D7E3DA"/>
            </a:solidFill>
            <a:prstDash val="solid"/>
          </a:ln>
        </p:spPr>
      </p:sp>
      <p:sp>
        <p:nvSpPr>
          <p:cNvPr id="5" name="Text 3"/>
          <p:cNvSpPr/>
          <p:nvPr/>
        </p:nvSpPr>
        <p:spPr>
          <a:xfrm>
            <a:off x="502920" y="6519672"/>
            <a:ext cx="4389120" cy="164592"/>
          </a:xfrm>
          <a:prstGeom prst="rect">
            <a:avLst/>
          </a:prstGeom>
          <a:noFill/>
          <a:ln/>
        </p:spPr>
        <p:txBody>
          <a:bodyPr wrap="square" lIns="0" tIns="0" rIns="0" bIns="0" rtlCol="0" anchor="ctr"/>
          <a:lstStyle/>
          <a:p>
            <a:pPr indent="0" marL="0">
              <a:buNone/>
            </a:pPr>
            <a:r>
              <a:rPr lang="en-US" sz="760" dirty="0">
                <a:solidFill>
                  <a:srgbClr val="5D6A66"/>
                </a:solidFill>
                <a:latin typeface="Aptos" pitchFamily="34" charset="0"/>
                <a:ea typeface="Aptos" pitchFamily="34" charset="-122"/>
                <a:cs typeface="Aptos" pitchFamily="34" charset="-120"/>
              </a:rPr>
              <a:t>FoodResQ | Capstone SP26SE088</a:t>
            </a:r>
            <a:endParaRPr lang="en-US" sz="760" dirty="0"/>
          </a:p>
        </p:txBody>
      </p:sp>
      <p:sp>
        <p:nvSpPr>
          <p:cNvPr id="6" name="Text 4"/>
          <p:cNvSpPr/>
          <p:nvPr/>
        </p:nvSpPr>
        <p:spPr>
          <a:xfrm>
            <a:off x="11192256" y="6492240"/>
            <a:ext cx="457200" cy="201168"/>
          </a:xfrm>
          <a:prstGeom prst="rect">
            <a:avLst/>
          </a:prstGeom>
          <a:noFill/>
          <a:ln/>
        </p:spPr>
        <p:txBody>
          <a:bodyPr wrap="square" lIns="0" tIns="0" rIns="0" bIns="0" rtlCol="0" anchor="ctr"/>
          <a:lstStyle/>
          <a:p>
            <a:pPr algn="r" indent="0" marL="0">
              <a:buNone/>
            </a:pPr>
            <a:r>
              <a:rPr lang="en-US" sz="800" b="1" dirty="0">
                <a:solidFill>
                  <a:srgbClr val="5D6A66"/>
                </a:solidFill>
              </a:rPr>
              <a:t>05</a:t>
            </a:r>
            <a:endParaRPr lang="en-US" sz="800" dirty="0"/>
          </a:p>
        </p:txBody>
      </p:sp>
      <p:pic>
        <p:nvPicPr>
          <p:cNvPr id="7" name="Image 0" descr="D:\Capstone_FoodResQ_Web\apps\web\public\Logo_FoodResQ.png">    </p:cNvPr>
          <p:cNvPicPr>
            <a:picLocks noChangeAspect="1"/>
          </p:cNvPicPr>
          <p:nvPr/>
        </p:nvPicPr>
        <p:blipFill>
          <a:blip r:embed="rId1"/>
          <a:stretch>
            <a:fillRect/>
          </a:stretch>
        </p:blipFill>
        <p:spPr>
          <a:xfrm>
            <a:off x="10652760" y="310896"/>
            <a:ext cx="960120" cy="420624"/>
          </a:xfrm>
          <a:prstGeom prst="rect">
            <a:avLst/>
          </a:prstGeom>
        </p:spPr>
      </p:pic>
      <p:sp>
        <p:nvSpPr>
          <p:cNvPr id="8" name="Shape 5"/>
          <p:cNvSpPr/>
          <p:nvPr/>
        </p:nvSpPr>
        <p:spPr>
          <a:xfrm>
            <a:off x="658368" y="1508760"/>
            <a:ext cx="2423160" cy="1481328"/>
          </a:xfrm>
          <a:prstGeom prst="roundRect">
            <a:avLst>
              <a:gd name="adj" fmla="val 3704"/>
            </a:avLst>
          </a:prstGeom>
          <a:solidFill>
            <a:srgbClr val="FFFFFF"/>
          </a:solidFill>
          <a:ln w="12700">
            <a:solidFill>
              <a:srgbClr val="D7E3DA"/>
            </a:solidFill>
            <a:prstDash val="solid"/>
          </a:ln>
        </p:spPr>
      </p:sp>
      <p:sp>
        <p:nvSpPr>
          <p:cNvPr id="9" name="Shape 6"/>
          <p:cNvSpPr/>
          <p:nvPr/>
        </p:nvSpPr>
        <p:spPr>
          <a:xfrm>
            <a:off x="658368" y="1508760"/>
            <a:ext cx="73152" cy="1481328"/>
          </a:xfrm>
          <a:prstGeom prst="rect">
            <a:avLst/>
          </a:prstGeom>
          <a:solidFill>
            <a:srgbClr val="1F8A4C"/>
          </a:solidFill>
          <a:ln w="12700">
            <a:solidFill>
              <a:srgbClr val="1F8A4C">
                <a:alpha val="0"/>
              </a:srgbClr>
            </a:solidFill>
            <a:prstDash val="solid"/>
          </a:ln>
        </p:spPr>
      </p:sp>
      <p:sp>
        <p:nvSpPr>
          <p:cNvPr id="10" name="Text 7"/>
          <p:cNvSpPr/>
          <p:nvPr/>
        </p:nvSpPr>
        <p:spPr>
          <a:xfrm>
            <a:off x="868680" y="1673352"/>
            <a:ext cx="2075688" cy="228600"/>
          </a:xfrm>
          <a:prstGeom prst="rect">
            <a:avLst/>
          </a:prstGeom>
          <a:noFill/>
          <a:ln/>
        </p:spPr>
        <p:txBody>
          <a:bodyPr wrap="square" lIns="0" tIns="0" rIns="0" bIns="0" rtlCol="0" anchor="ctr"/>
          <a:lstStyle/>
          <a:p>
            <a:pPr indent="0" marL="0">
              <a:buNone/>
            </a:pPr>
            <a:r>
              <a:rPr lang="en-US" sz="1150" b="1" dirty="0">
                <a:solidFill>
                  <a:srgbClr val="17312B"/>
                </a:solidFill>
              </a:rPr>
              <a:t>Auth &amp; Users</a:t>
            </a:r>
            <a:endParaRPr lang="en-US" sz="1150" dirty="0"/>
          </a:p>
        </p:txBody>
      </p:sp>
      <p:sp>
        <p:nvSpPr>
          <p:cNvPr id="11" name="Text 8"/>
          <p:cNvSpPr/>
          <p:nvPr/>
        </p:nvSpPr>
        <p:spPr>
          <a:xfrm>
            <a:off x="868680" y="1984248"/>
            <a:ext cx="2075688" cy="841248"/>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JWT, refresh token, Firebase login, profile theo vai trò</a:t>
            </a:r>
            <a:endParaRPr lang="en-US" sz="870" dirty="0"/>
          </a:p>
        </p:txBody>
      </p:sp>
      <p:sp>
        <p:nvSpPr>
          <p:cNvPr id="12" name="Shape 9"/>
          <p:cNvSpPr/>
          <p:nvPr/>
        </p:nvSpPr>
        <p:spPr>
          <a:xfrm>
            <a:off x="3447288" y="1508760"/>
            <a:ext cx="2423160" cy="1481328"/>
          </a:xfrm>
          <a:prstGeom prst="roundRect">
            <a:avLst>
              <a:gd name="adj" fmla="val 3704"/>
            </a:avLst>
          </a:prstGeom>
          <a:solidFill>
            <a:srgbClr val="FFFFFF"/>
          </a:solidFill>
          <a:ln w="12700">
            <a:solidFill>
              <a:srgbClr val="D7E3DA"/>
            </a:solidFill>
            <a:prstDash val="solid"/>
          </a:ln>
        </p:spPr>
      </p:sp>
      <p:sp>
        <p:nvSpPr>
          <p:cNvPr id="13" name="Shape 10"/>
          <p:cNvSpPr/>
          <p:nvPr/>
        </p:nvSpPr>
        <p:spPr>
          <a:xfrm>
            <a:off x="3447288" y="1508760"/>
            <a:ext cx="73152" cy="1481328"/>
          </a:xfrm>
          <a:prstGeom prst="rect">
            <a:avLst/>
          </a:prstGeom>
          <a:solidFill>
            <a:srgbClr val="F28C38"/>
          </a:solidFill>
          <a:ln w="12700">
            <a:solidFill>
              <a:srgbClr val="F28C38">
                <a:alpha val="0"/>
              </a:srgbClr>
            </a:solidFill>
            <a:prstDash val="solid"/>
          </a:ln>
        </p:spPr>
      </p:sp>
      <p:sp>
        <p:nvSpPr>
          <p:cNvPr id="14" name="Text 11"/>
          <p:cNvSpPr/>
          <p:nvPr/>
        </p:nvSpPr>
        <p:spPr>
          <a:xfrm>
            <a:off x="3657600" y="1673352"/>
            <a:ext cx="2075688" cy="228600"/>
          </a:xfrm>
          <a:prstGeom prst="rect">
            <a:avLst/>
          </a:prstGeom>
          <a:noFill/>
          <a:ln/>
        </p:spPr>
        <p:txBody>
          <a:bodyPr wrap="square" lIns="0" tIns="0" rIns="0" bIns="0" rtlCol="0" anchor="ctr"/>
          <a:lstStyle/>
          <a:p>
            <a:pPr indent="0" marL="0">
              <a:buNone/>
            </a:pPr>
            <a:r>
              <a:rPr lang="en-US" sz="1150" b="1" dirty="0">
                <a:solidFill>
                  <a:srgbClr val="17312B"/>
                </a:solidFill>
              </a:rPr>
              <a:t>Listings</a:t>
            </a:r>
            <a:endParaRPr lang="en-US" sz="1150" dirty="0"/>
          </a:p>
        </p:txBody>
      </p:sp>
      <p:sp>
        <p:nvSpPr>
          <p:cNvPr id="15" name="Text 12"/>
          <p:cNvSpPr/>
          <p:nvPr/>
        </p:nvSpPr>
        <p:spPr>
          <a:xfrm>
            <a:off x="3657600" y="1984248"/>
            <a:ext cx="2075688" cy="841248"/>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Đăng thực phẩm, danh mục, giờ nhận, vị trí PostGIS</a:t>
            </a:r>
            <a:endParaRPr lang="en-US" sz="870" dirty="0"/>
          </a:p>
        </p:txBody>
      </p:sp>
      <p:sp>
        <p:nvSpPr>
          <p:cNvPr id="16" name="Shape 13"/>
          <p:cNvSpPr/>
          <p:nvPr/>
        </p:nvSpPr>
        <p:spPr>
          <a:xfrm>
            <a:off x="6236208" y="1508760"/>
            <a:ext cx="2423160" cy="1481328"/>
          </a:xfrm>
          <a:prstGeom prst="roundRect">
            <a:avLst>
              <a:gd name="adj" fmla="val 3704"/>
            </a:avLst>
          </a:prstGeom>
          <a:solidFill>
            <a:srgbClr val="FFFFFF"/>
          </a:solidFill>
          <a:ln w="12700">
            <a:solidFill>
              <a:srgbClr val="D7E3DA"/>
            </a:solidFill>
            <a:prstDash val="solid"/>
          </a:ln>
        </p:spPr>
      </p:sp>
      <p:sp>
        <p:nvSpPr>
          <p:cNvPr id="17" name="Shape 14"/>
          <p:cNvSpPr/>
          <p:nvPr/>
        </p:nvSpPr>
        <p:spPr>
          <a:xfrm>
            <a:off x="6236208" y="1508760"/>
            <a:ext cx="73152" cy="1481328"/>
          </a:xfrm>
          <a:prstGeom prst="rect">
            <a:avLst/>
          </a:prstGeom>
          <a:solidFill>
            <a:srgbClr val="2574A9"/>
          </a:solidFill>
          <a:ln w="12700">
            <a:solidFill>
              <a:srgbClr val="2574A9">
                <a:alpha val="0"/>
              </a:srgbClr>
            </a:solidFill>
            <a:prstDash val="solid"/>
          </a:ln>
        </p:spPr>
      </p:sp>
      <p:sp>
        <p:nvSpPr>
          <p:cNvPr id="18" name="Text 15"/>
          <p:cNvSpPr/>
          <p:nvPr/>
        </p:nvSpPr>
        <p:spPr>
          <a:xfrm>
            <a:off x="6446520" y="1673352"/>
            <a:ext cx="2075688" cy="228600"/>
          </a:xfrm>
          <a:prstGeom prst="rect">
            <a:avLst/>
          </a:prstGeom>
          <a:noFill/>
          <a:ln/>
        </p:spPr>
        <p:txBody>
          <a:bodyPr wrap="square" lIns="0" tIns="0" rIns="0" bIns="0" rtlCol="0" anchor="ctr"/>
          <a:lstStyle/>
          <a:p>
            <a:pPr indent="0" marL="0">
              <a:buNone/>
            </a:pPr>
            <a:r>
              <a:rPr lang="en-US" sz="1150" b="1" dirty="0">
                <a:solidFill>
                  <a:srgbClr val="17312B"/>
                </a:solidFill>
              </a:rPr>
              <a:t>Reservations</a:t>
            </a:r>
            <a:endParaRPr lang="en-US" sz="1150" dirty="0"/>
          </a:p>
        </p:txBody>
      </p:sp>
      <p:sp>
        <p:nvSpPr>
          <p:cNvPr id="19" name="Text 16"/>
          <p:cNvSpPr/>
          <p:nvPr/>
        </p:nvSpPr>
        <p:spPr>
          <a:xfrm>
            <a:off x="6446520" y="1984248"/>
            <a:ext cx="2075688" cy="841248"/>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Đặt suất, QR, proof, rating, no-show/expiry</a:t>
            </a:r>
            <a:endParaRPr lang="en-US" sz="870" dirty="0"/>
          </a:p>
        </p:txBody>
      </p:sp>
      <p:sp>
        <p:nvSpPr>
          <p:cNvPr id="20" name="Shape 17"/>
          <p:cNvSpPr/>
          <p:nvPr/>
        </p:nvSpPr>
        <p:spPr>
          <a:xfrm>
            <a:off x="9025128" y="1508760"/>
            <a:ext cx="2423160" cy="1481328"/>
          </a:xfrm>
          <a:prstGeom prst="roundRect">
            <a:avLst>
              <a:gd name="adj" fmla="val 3704"/>
            </a:avLst>
          </a:prstGeom>
          <a:solidFill>
            <a:srgbClr val="FFFFFF"/>
          </a:solidFill>
          <a:ln w="12700">
            <a:solidFill>
              <a:srgbClr val="D7E3DA"/>
            </a:solidFill>
            <a:prstDash val="solid"/>
          </a:ln>
        </p:spPr>
      </p:sp>
      <p:sp>
        <p:nvSpPr>
          <p:cNvPr id="21" name="Shape 18"/>
          <p:cNvSpPr/>
          <p:nvPr/>
        </p:nvSpPr>
        <p:spPr>
          <a:xfrm>
            <a:off x="9025128" y="1508760"/>
            <a:ext cx="73152" cy="1481328"/>
          </a:xfrm>
          <a:prstGeom prst="rect">
            <a:avLst/>
          </a:prstGeom>
          <a:solidFill>
            <a:srgbClr val="72B16A"/>
          </a:solidFill>
          <a:ln w="12700">
            <a:solidFill>
              <a:srgbClr val="72B16A">
                <a:alpha val="0"/>
              </a:srgbClr>
            </a:solidFill>
            <a:prstDash val="solid"/>
          </a:ln>
        </p:spPr>
      </p:sp>
      <p:sp>
        <p:nvSpPr>
          <p:cNvPr id="22" name="Text 19"/>
          <p:cNvSpPr/>
          <p:nvPr/>
        </p:nvSpPr>
        <p:spPr>
          <a:xfrm>
            <a:off x="9235440" y="1673352"/>
            <a:ext cx="2075688" cy="228600"/>
          </a:xfrm>
          <a:prstGeom prst="rect">
            <a:avLst/>
          </a:prstGeom>
          <a:noFill/>
          <a:ln/>
        </p:spPr>
        <p:txBody>
          <a:bodyPr wrap="square" lIns="0" tIns="0" rIns="0" bIns="0" rtlCol="0" anchor="ctr"/>
          <a:lstStyle/>
          <a:p>
            <a:pPr indent="0" marL="0">
              <a:buNone/>
            </a:pPr>
            <a:r>
              <a:rPr lang="en-US" sz="1150" b="1" dirty="0">
                <a:solidFill>
                  <a:srgbClr val="17312B"/>
                </a:solidFill>
              </a:rPr>
              <a:t>Deliveries</a:t>
            </a:r>
            <a:endParaRPr lang="en-US" sz="1150" dirty="0"/>
          </a:p>
        </p:txBody>
      </p:sp>
      <p:sp>
        <p:nvSpPr>
          <p:cNvPr id="23" name="Text 20"/>
          <p:cNvSpPr/>
          <p:nvPr/>
        </p:nvSpPr>
        <p:spPr>
          <a:xfrm>
            <a:off x="9235440" y="1984248"/>
            <a:ext cx="2075688" cy="841248"/>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Offer shipper, tracking, trạng thái giao hàng, bulk run</a:t>
            </a:r>
            <a:endParaRPr lang="en-US" sz="870" dirty="0"/>
          </a:p>
        </p:txBody>
      </p:sp>
      <p:sp>
        <p:nvSpPr>
          <p:cNvPr id="24" name="Shape 21"/>
          <p:cNvSpPr/>
          <p:nvPr/>
        </p:nvSpPr>
        <p:spPr>
          <a:xfrm>
            <a:off x="658368" y="3566160"/>
            <a:ext cx="2423160" cy="1481328"/>
          </a:xfrm>
          <a:prstGeom prst="roundRect">
            <a:avLst>
              <a:gd name="adj" fmla="val 3704"/>
            </a:avLst>
          </a:prstGeom>
          <a:solidFill>
            <a:srgbClr val="FFFFFF"/>
          </a:solidFill>
          <a:ln w="12700">
            <a:solidFill>
              <a:srgbClr val="D7E3DA"/>
            </a:solidFill>
            <a:prstDash val="solid"/>
          </a:ln>
        </p:spPr>
      </p:sp>
      <p:sp>
        <p:nvSpPr>
          <p:cNvPr id="25" name="Shape 22"/>
          <p:cNvSpPr/>
          <p:nvPr/>
        </p:nvSpPr>
        <p:spPr>
          <a:xfrm>
            <a:off x="658368" y="3566160"/>
            <a:ext cx="73152" cy="1481328"/>
          </a:xfrm>
          <a:prstGeom prst="rect">
            <a:avLst/>
          </a:prstGeom>
          <a:solidFill>
            <a:srgbClr val="1F8A4C"/>
          </a:solidFill>
          <a:ln w="12700">
            <a:solidFill>
              <a:srgbClr val="1F8A4C">
                <a:alpha val="0"/>
              </a:srgbClr>
            </a:solidFill>
            <a:prstDash val="solid"/>
          </a:ln>
        </p:spPr>
      </p:sp>
      <p:sp>
        <p:nvSpPr>
          <p:cNvPr id="26" name="Text 23"/>
          <p:cNvSpPr/>
          <p:nvPr/>
        </p:nvSpPr>
        <p:spPr>
          <a:xfrm>
            <a:off x="868680" y="3730752"/>
            <a:ext cx="2075688" cy="228600"/>
          </a:xfrm>
          <a:prstGeom prst="rect">
            <a:avLst/>
          </a:prstGeom>
          <a:noFill/>
          <a:ln/>
        </p:spPr>
        <p:txBody>
          <a:bodyPr wrap="square" lIns="0" tIns="0" rIns="0" bIns="0" rtlCol="0" anchor="ctr"/>
          <a:lstStyle/>
          <a:p>
            <a:pPr indent="0" marL="0">
              <a:buNone/>
            </a:pPr>
            <a:r>
              <a:rPr lang="en-US" sz="1150" b="1" dirty="0">
                <a:solidFill>
                  <a:srgbClr val="17312B"/>
                </a:solidFill>
              </a:rPr>
              <a:t>Campaigns</a:t>
            </a:r>
            <a:endParaRPr lang="en-US" sz="1150" dirty="0"/>
          </a:p>
        </p:txBody>
      </p:sp>
      <p:sp>
        <p:nvSpPr>
          <p:cNvPr id="27" name="Text 24"/>
          <p:cNvSpPr/>
          <p:nvPr/>
        </p:nvSpPr>
        <p:spPr>
          <a:xfrm>
            <a:off x="868680" y="4041648"/>
            <a:ext cx="2075688" cy="841248"/>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Bếp từ thiện, ca làm, menu, donations, distribution</a:t>
            </a:r>
            <a:endParaRPr lang="en-US" sz="870" dirty="0"/>
          </a:p>
        </p:txBody>
      </p:sp>
      <p:sp>
        <p:nvSpPr>
          <p:cNvPr id="28" name="Shape 25"/>
          <p:cNvSpPr/>
          <p:nvPr/>
        </p:nvSpPr>
        <p:spPr>
          <a:xfrm>
            <a:off x="3447288" y="3566160"/>
            <a:ext cx="2423160" cy="1481328"/>
          </a:xfrm>
          <a:prstGeom prst="roundRect">
            <a:avLst>
              <a:gd name="adj" fmla="val 3704"/>
            </a:avLst>
          </a:prstGeom>
          <a:solidFill>
            <a:srgbClr val="FFFFFF"/>
          </a:solidFill>
          <a:ln w="12700">
            <a:solidFill>
              <a:srgbClr val="D7E3DA"/>
            </a:solidFill>
            <a:prstDash val="solid"/>
          </a:ln>
        </p:spPr>
      </p:sp>
      <p:sp>
        <p:nvSpPr>
          <p:cNvPr id="29" name="Shape 26"/>
          <p:cNvSpPr/>
          <p:nvPr/>
        </p:nvSpPr>
        <p:spPr>
          <a:xfrm>
            <a:off x="3447288" y="3566160"/>
            <a:ext cx="73152" cy="1481328"/>
          </a:xfrm>
          <a:prstGeom prst="rect">
            <a:avLst/>
          </a:prstGeom>
          <a:solidFill>
            <a:srgbClr val="D94D3F"/>
          </a:solidFill>
          <a:ln w="12700">
            <a:solidFill>
              <a:srgbClr val="D94D3F">
                <a:alpha val="0"/>
              </a:srgbClr>
            </a:solidFill>
            <a:prstDash val="solid"/>
          </a:ln>
        </p:spPr>
      </p:sp>
      <p:sp>
        <p:nvSpPr>
          <p:cNvPr id="30" name="Text 27"/>
          <p:cNvSpPr/>
          <p:nvPr/>
        </p:nvSpPr>
        <p:spPr>
          <a:xfrm>
            <a:off x="3657600" y="3730752"/>
            <a:ext cx="2075688" cy="228600"/>
          </a:xfrm>
          <a:prstGeom prst="rect">
            <a:avLst/>
          </a:prstGeom>
          <a:noFill/>
          <a:ln/>
        </p:spPr>
        <p:txBody>
          <a:bodyPr wrap="square" lIns="0" tIns="0" rIns="0" bIns="0" rtlCol="0" anchor="ctr"/>
          <a:lstStyle/>
          <a:p>
            <a:pPr indent="0" marL="0">
              <a:buNone/>
            </a:pPr>
            <a:r>
              <a:rPr lang="en-US" sz="1150" b="1" dirty="0">
                <a:solidFill>
                  <a:srgbClr val="17312B"/>
                </a:solidFill>
              </a:rPr>
              <a:t>Trust &amp; Reports</a:t>
            </a:r>
            <a:endParaRPr lang="en-US" sz="1150" dirty="0"/>
          </a:p>
        </p:txBody>
      </p:sp>
      <p:sp>
        <p:nvSpPr>
          <p:cNvPr id="31" name="Text 28"/>
          <p:cNvSpPr/>
          <p:nvPr/>
        </p:nvSpPr>
        <p:spPr>
          <a:xfrm>
            <a:off x="3657600" y="4041648"/>
            <a:ext cx="2075688" cy="841248"/>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Điểm uy tín, tố cáo, audit, xử lý vi phạm</a:t>
            </a:r>
            <a:endParaRPr lang="en-US" sz="870" dirty="0"/>
          </a:p>
        </p:txBody>
      </p:sp>
      <p:sp>
        <p:nvSpPr>
          <p:cNvPr id="32" name="Shape 29"/>
          <p:cNvSpPr/>
          <p:nvPr/>
        </p:nvSpPr>
        <p:spPr>
          <a:xfrm>
            <a:off x="6236208" y="3566160"/>
            <a:ext cx="2423160" cy="1481328"/>
          </a:xfrm>
          <a:prstGeom prst="roundRect">
            <a:avLst>
              <a:gd name="adj" fmla="val 3704"/>
            </a:avLst>
          </a:prstGeom>
          <a:solidFill>
            <a:srgbClr val="FFFFFF"/>
          </a:solidFill>
          <a:ln w="12700">
            <a:solidFill>
              <a:srgbClr val="D7E3DA"/>
            </a:solidFill>
            <a:prstDash val="solid"/>
          </a:ln>
        </p:spPr>
      </p:sp>
      <p:sp>
        <p:nvSpPr>
          <p:cNvPr id="33" name="Shape 30"/>
          <p:cNvSpPr/>
          <p:nvPr/>
        </p:nvSpPr>
        <p:spPr>
          <a:xfrm>
            <a:off x="6236208" y="3566160"/>
            <a:ext cx="73152" cy="1481328"/>
          </a:xfrm>
          <a:prstGeom prst="rect">
            <a:avLst/>
          </a:prstGeom>
          <a:solidFill>
            <a:srgbClr val="2574A9"/>
          </a:solidFill>
          <a:ln w="12700">
            <a:solidFill>
              <a:srgbClr val="2574A9">
                <a:alpha val="0"/>
              </a:srgbClr>
            </a:solidFill>
            <a:prstDash val="solid"/>
          </a:ln>
        </p:spPr>
      </p:sp>
      <p:sp>
        <p:nvSpPr>
          <p:cNvPr id="34" name="Text 31"/>
          <p:cNvSpPr/>
          <p:nvPr/>
        </p:nvSpPr>
        <p:spPr>
          <a:xfrm>
            <a:off x="6446520" y="3730752"/>
            <a:ext cx="2075688" cy="228600"/>
          </a:xfrm>
          <a:prstGeom prst="rect">
            <a:avLst/>
          </a:prstGeom>
          <a:noFill/>
          <a:ln/>
        </p:spPr>
        <p:txBody>
          <a:bodyPr wrap="square" lIns="0" tIns="0" rIns="0" bIns="0" rtlCol="0" anchor="ctr"/>
          <a:lstStyle/>
          <a:p>
            <a:pPr indent="0" marL="0">
              <a:buNone/>
            </a:pPr>
            <a:r>
              <a:rPr lang="en-US" sz="1150" b="1" dirty="0">
                <a:solidFill>
                  <a:srgbClr val="17312B"/>
                </a:solidFill>
              </a:rPr>
              <a:t>Notifications</a:t>
            </a:r>
            <a:endParaRPr lang="en-US" sz="1150" dirty="0"/>
          </a:p>
        </p:txBody>
      </p:sp>
      <p:sp>
        <p:nvSpPr>
          <p:cNvPr id="35" name="Text 32"/>
          <p:cNvSpPr/>
          <p:nvPr/>
        </p:nvSpPr>
        <p:spPr>
          <a:xfrm>
            <a:off x="6446520" y="4041648"/>
            <a:ext cx="2075688" cy="841248"/>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Socket.IO realtime, FCM push, device tokens</a:t>
            </a:r>
            <a:endParaRPr lang="en-US" sz="870" dirty="0"/>
          </a:p>
        </p:txBody>
      </p:sp>
      <p:sp>
        <p:nvSpPr>
          <p:cNvPr id="36" name="Shape 33"/>
          <p:cNvSpPr/>
          <p:nvPr/>
        </p:nvSpPr>
        <p:spPr>
          <a:xfrm>
            <a:off x="9025128" y="3566160"/>
            <a:ext cx="2423160" cy="1481328"/>
          </a:xfrm>
          <a:prstGeom prst="roundRect">
            <a:avLst>
              <a:gd name="adj" fmla="val 3704"/>
            </a:avLst>
          </a:prstGeom>
          <a:solidFill>
            <a:srgbClr val="FFFFFF"/>
          </a:solidFill>
          <a:ln w="12700">
            <a:solidFill>
              <a:srgbClr val="D7E3DA"/>
            </a:solidFill>
            <a:prstDash val="solid"/>
          </a:ln>
        </p:spPr>
      </p:sp>
      <p:sp>
        <p:nvSpPr>
          <p:cNvPr id="37" name="Shape 34"/>
          <p:cNvSpPr/>
          <p:nvPr/>
        </p:nvSpPr>
        <p:spPr>
          <a:xfrm>
            <a:off x="9025128" y="3566160"/>
            <a:ext cx="73152" cy="1481328"/>
          </a:xfrm>
          <a:prstGeom prst="rect">
            <a:avLst/>
          </a:prstGeom>
          <a:solidFill>
            <a:srgbClr val="F28C38"/>
          </a:solidFill>
          <a:ln w="12700">
            <a:solidFill>
              <a:srgbClr val="F28C38">
                <a:alpha val="0"/>
              </a:srgbClr>
            </a:solidFill>
            <a:prstDash val="solid"/>
          </a:ln>
        </p:spPr>
      </p:sp>
      <p:sp>
        <p:nvSpPr>
          <p:cNvPr id="38" name="Text 35"/>
          <p:cNvSpPr/>
          <p:nvPr/>
        </p:nvSpPr>
        <p:spPr>
          <a:xfrm>
            <a:off x="9235440" y="3730752"/>
            <a:ext cx="2075688" cy="228600"/>
          </a:xfrm>
          <a:prstGeom prst="rect">
            <a:avLst/>
          </a:prstGeom>
          <a:noFill/>
          <a:ln/>
        </p:spPr>
        <p:txBody>
          <a:bodyPr wrap="square" lIns="0" tIns="0" rIns="0" bIns="0" rtlCol="0" anchor="ctr"/>
          <a:lstStyle/>
          <a:p>
            <a:pPr indent="0" marL="0">
              <a:buNone/>
            </a:pPr>
            <a:r>
              <a:rPr lang="en-US" sz="1150" b="1" dirty="0">
                <a:solidFill>
                  <a:srgbClr val="17312B"/>
                </a:solidFill>
              </a:rPr>
              <a:t>ESG &amp; Admin</a:t>
            </a:r>
            <a:endParaRPr lang="en-US" sz="1150" dirty="0"/>
          </a:p>
        </p:txBody>
      </p:sp>
      <p:sp>
        <p:nvSpPr>
          <p:cNvPr id="39" name="Text 36"/>
          <p:cNvSpPr/>
          <p:nvPr/>
        </p:nvSpPr>
        <p:spPr>
          <a:xfrm>
            <a:off x="9235440" y="4041648"/>
            <a:ext cx="2075688" cy="841248"/>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Thống kê kg rescued, CO2 saved, dashboard quản trị</a:t>
            </a:r>
            <a:endParaRPr lang="en-US" sz="87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502920" y="475488"/>
            <a:ext cx="7772400" cy="502920"/>
          </a:xfrm>
          <a:prstGeom prst="rect">
            <a:avLst/>
          </a:prstGeom>
          <a:noFill/>
          <a:ln/>
        </p:spPr>
        <p:txBody>
          <a:bodyPr wrap="square" lIns="0" tIns="0" rIns="0" bIns="0" rtlCol="0" anchor="ctr"/>
          <a:lstStyle/>
          <a:p>
            <a:pPr indent="0" marL="0">
              <a:buNone/>
            </a:pPr>
            <a:r>
              <a:rPr lang="en-US" sz="2500" b="1" dirty="0">
                <a:solidFill>
                  <a:srgbClr val="17312B"/>
                </a:solidFill>
              </a:rPr>
              <a:t>Luồng đặt suất &amp; nhận bằng QR</a:t>
            </a:r>
            <a:endParaRPr lang="en-US" sz="2500" dirty="0"/>
          </a:p>
        </p:txBody>
      </p:sp>
      <p:sp>
        <p:nvSpPr>
          <p:cNvPr id="3" name="Text 1"/>
          <p:cNvSpPr/>
          <p:nvPr/>
        </p:nvSpPr>
        <p:spPr>
          <a:xfrm>
            <a:off x="502920" y="987552"/>
            <a:ext cx="8046720" cy="292608"/>
          </a:xfrm>
          <a:prstGeom prst="rect">
            <a:avLst/>
          </a:prstGeom>
          <a:noFill/>
          <a:ln/>
        </p:spPr>
        <p:txBody>
          <a:bodyPr wrap="square" lIns="0" tIns="0" rIns="0" bIns="0" rtlCol="0" anchor="ctr"/>
          <a:lstStyle/>
          <a:p>
            <a:pPr indent="0" marL="0">
              <a:buNone/>
            </a:pPr>
            <a:r>
              <a:rPr lang="en-US" sz="1050" dirty="0">
                <a:solidFill>
                  <a:srgbClr val="5D6A66"/>
                </a:solidFill>
              </a:rPr>
              <a:t>Luồng cốt lõi xử lý cạnh tranh số lượng và xác minh khi nhận.</a:t>
            </a:r>
            <a:endParaRPr lang="en-US" sz="1050" dirty="0"/>
          </a:p>
        </p:txBody>
      </p:sp>
      <p:sp>
        <p:nvSpPr>
          <p:cNvPr id="4" name="Shape 2"/>
          <p:cNvSpPr/>
          <p:nvPr/>
        </p:nvSpPr>
        <p:spPr>
          <a:xfrm>
            <a:off x="502920" y="6446520"/>
            <a:ext cx="11173968" cy="0"/>
          </a:xfrm>
          <a:prstGeom prst="line">
            <a:avLst/>
          </a:prstGeom>
          <a:noFill/>
          <a:ln w="12700">
            <a:solidFill>
              <a:srgbClr val="D7E3DA"/>
            </a:solidFill>
            <a:prstDash val="solid"/>
          </a:ln>
        </p:spPr>
      </p:sp>
      <p:sp>
        <p:nvSpPr>
          <p:cNvPr id="5" name="Text 3"/>
          <p:cNvSpPr/>
          <p:nvPr/>
        </p:nvSpPr>
        <p:spPr>
          <a:xfrm>
            <a:off x="502920" y="6519672"/>
            <a:ext cx="4389120" cy="164592"/>
          </a:xfrm>
          <a:prstGeom prst="rect">
            <a:avLst/>
          </a:prstGeom>
          <a:noFill/>
          <a:ln/>
        </p:spPr>
        <p:txBody>
          <a:bodyPr wrap="square" lIns="0" tIns="0" rIns="0" bIns="0" rtlCol="0" anchor="ctr"/>
          <a:lstStyle/>
          <a:p>
            <a:pPr indent="0" marL="0">
              <a:buNone/>
            </a:pPr>
            <a:r>
              <a:rPr lang="en-US" sz="760" dirty="0">
                <a:solidFill>
                  <a:srgbClr val="5D6A66"/>
                </a:solidFill>
                <a:latin typeface="Aptos" pitchFamily="34" charset="0"/>
                <a:ea typeface="Aptos" pitchFamily="34" charset="-122"/>
                <a:cs typeface="Aptos" pitchFamily="34" charset="-120"/>
              </a:rPr>
              <a:t>FoodResQ | Capstone SP26SE088</a:t>
            </a:r>
            <a:endParaRPr lang="en-US" sz="760" dirty="0"/>
          </a:p>
        </p:txBody>
      </p:sp>
      <p:sp>
        <p:nvSpPr>
          <p:cNvPr id="6" name="Text 4"/>
          <p:cNvSpPr/>
          <p:nvPr/>
        </p:nvSpPr>
        <p:spPr>
          <a:xfrm>
            <a:off x="11192256" y="6492240"/>
            <a:ext cx="457200" cy="201168"/>
          </a:xfrm>
          <a:prstGeom prst="rect">
            <a:avLst/>
          </a:prstGeom>
          <a:noFill/>
          <a:ln/>
        </p:spPr>
        <p:txBody>
          <a:bodyPr wrap="square" lIns="0" tIns="0" rIns="0" bIns="0" rtlCol="0" anchor="ctr"/>
          <a:lstStyle/>
          <a:p>
            <a:pPr algn="r" indent="0" marL="0">
              <a:buNone/>
            </a:pPr>
            <a:r>
              <a:rPr lang="en-US" sz="800" b="1" dirty="0">
                <a:solidFill>
                  <a:srgbClr val="5D6A66"/>
                </a:solidFill>
              </a:rPr>
              <a:t>06</a:t>
            </a:r>
            <a:endParaRPr lang="en-US" sz="800" dirty="0"/>
          </a:p>
        </p:txBody>
      </p:sp>
      <p:pic>
        <p:nvPicPr>
          <p:cNvPr id="7" name="Image 0" descr="D:\Capstone_FoodResQ_Web\apps\web\public\Logo_FoodResQ.png">    </p:cNvPr>
          <p:cNvPicPr>
            <a:picLocks noChangeAspect="1"/>
          </p:cNvPicPr>
          <p:nvPr/>
        </p:nvPicPr>
        <p:blipFill>
          <a:blip r:embed="rId1"/>
          <a:stretch>
            <a:fillRect/>
          </a:stretch>
        </p:blipFill>
        <p:spPr>
          <a:xfrm>
            <a:off x="10652760" y="310896"/>
            <a:ext cx="960120" cy="420624"/>
          </a:xfrm>
          <a:prstGeom prst="rect">
            <a:avLst/>
          </a:prstGeom>
        </p:spPr>
      </p:pic>
      <p:sp>
        <p:nvSpPr>
          <p:cNvPr id="8" name="Shape 5"/>
          <p:cNvSpPr/>
          <p:nvPr/>
        </p:nvSpPr>
        <p:spPr>
          <a:xfrm>
            <a:off x="640080" y="1828800"/>
            <a:ext cx="1417320" cy="731520"/>
          </a:xfrm>
          <a:prstGeom prst="roundRect">
            <a:avLst>
              <a:gd name="adj" fmla="val 6250"/>
            </a:avLst>
          </a:prstGeom>
          <a:solidFill>
            <a:srgbClr val="EAF6ED"/>
          </a:solidFill>
          <a:ln w="12700">
            <a:solidFill>
              <a:srgbClr val="D7E3DA"/>
            </a:solidFill>
            <a:prstDash val="solid"/>
          </a:ln>
        </p:spPr>
      </p:sp>
      <p:sp>
        <p:nvSpPr>
          <p:cNvPr id="9" name="Text 6"/>
          <p:cNvSpPr/>
          <p:nvPr/>
        </p:nvSpPr>
        <p:spPr>
          <a:xfrm>
            <a:off x="713232" y="1938528"/>
            <a:ext cx="1271016" cy="53035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1. Tìm listing</a:t>
            </a:r>
            <a:endParaRPr lang="en-US" sz="840" dirty="0"/>
          </a:p>
          <a:p>
            <a:pPr algn="ctr" indent="0" marL="0">
              <a:buNone/>
            </a:pPr>
            <a:r>
              <a:rPr lang="en-US" sz="840" b="1" dirty="0">
                <a:solidFill>
                  <a:srgbClr val="17312B"/>
                </a:solidFill>
              </a:rPr>
              <a:t>ST_DWithin</a:t>
            </a:r>
            <a:endParaRPr lang="en-US" sz="840" dirty="0"/>
          </a:p>
        </p:txBody>
      </p:sp>
      <p:sp>
        <p:nvSpPr>
          <p:cNvPr id="10" name="Shape 7"/>
          <p:cNvSpPr/>
          <p:nvPr/>
        </p:nvSpPr>
        <p:spPr>
          <a:xfrm>
            <a:off x="2176272" y="2039112"/>
            <a:ext cx="411480" cy="256032"/>
          </a:xfrm>
          <a:prstGeom prst="rightArrow">
            <a:avLst/>
          </a:prstGeom>
          <a:solidFill>
            <a:srgbClr val="1F8A4C"/>
          </a:solidFill>
          <a:ln w="12700">
            <a:solidFill>
              <a:srgbClr val="1F8A4C">
                <a:alpha val="0"/>
              </a:srgbClr>
            </a:solidFill>
            <a:prstDash val="solid"/>
          </a:ln>
        </p:spPr>
      </p:sp>
      <p:sp>
        <p:nvSpPr>
          <p:cNvPr id="11" name="Shape 8"/>
          <p:cNvSpPr/>
          <p:nvPr/>
        </p:nvSpPr>
        <p:spPr>
          <a:xfrm>
            <a:off x="2697480" y="1828800"/>
            <a:ext cx="1417320" cy="731520"/>
          </a:xfrm>
          <a:prstGeom prst="roundRect">
            <a:avLst>
              <a:gd name="adj" fmla="val 6250"/>
            </a:avLst>
          </a:prstGeom>
          <a:solidFill>
            <a:srgbClr val="FFF4E8"/>
          </a:solidFill>
          <a:ln w="12700">
            <a:solidFill>
              <a:srgbClr val="D7E3DA"/>
            </a:solidFill>
            <a:prstDash val="solid"/>
          </a:ln>
        </p:spPr>
      </p:sp>
      <p:sp>
        <p:nvSpPr>
          <p:cNvPr id="12" name="Text 9"/>
          <p:cNvSpPr/>
          <p:nvPr/>
        </p:nvSpPr>
        <p:spPr>
          <a:xfrm>
            <a:off x="2770632" y="1938528"/>
            <a:ext cx="1271016" cy="53035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2. Reserve</a:t>
            </a:r>
            <a:endParaRPr lang="en-US" sz="840" dirty="0"/>
          </a:p>
          <a:p>
            <a:pPr algn="ctr" indent="0" marL="0">
              <a:buNone/>
            </a:pPr>
            <a:r>
              <a:rPr lang="en-US" sz="840" b="1" dirty="0">
                <a:solidFill>
                  <a:srgbClr val="17312B"/>
                </a:solidFill>
              </a:rPr>
              <a:t>chọn số lượng</a:t>
            </a:r>
            <a:endParaRPr lang="en-US" sz="840" dirty="0"/>
          </a:p>
        </p:txBody>
      </p:sp>
      <p:sp>
        <p:nvSpPr>
          <p:cNvPr id="13" name="Shape 10"/>
          <p:cNvSpPr/>
          <p:nvPr/>
        </p:nvSpPr>
        <p:spPr>
          <a:xfrm>
            <a:off x="4233672" y="2039112"/>
            <a:ext cx="411480" cy="256032"/>
          </a:xfrm>
          <a:prstGeom prst="rightArrow">
            <a:avLst/>
          </a:prstGeom>
          <a:solidFill>
            <a:srgbClr val="1F8A4C"/>
          </a:solidFill>
          <a:ln w="12700">
            <a:solidFill>
              <a:srgbClr val="1F8A4C">
                <a:alpha val="0"/>
              </a:srgbClr>
            </a:solidFill>
            <a:prstDash val="solid"/>
          </a:ln>
        </p:spPr>
      </p:sp>
      <p:sp>
        <p:nvSpPr>
          <p:cNvPr id="14" name="Shape 11"/>
          <p:cNvSpPr/>
          <p:nvPr/>
        </p:nvSpPr>
        <p:spPr>
          <a:xfrm>
            <a:off x="4754880" y="1828800"/>
            <a:ext cx="1417320" cy="731520"/>
          </a:xfrm>
          <a:prstGeom prst="roundRect">
            <a:avLst>
              <a:gd name="adj" fmla="val 6250"/>
            </a:avLst>
          </a:prstGeom>
          <a:solidFill>
            <a:srgbClr val="F8EFEF"/>
          </a:solidFill>
          <a:ln w="12700">
            <a:solidFill>
              <a:srgbClr val="D7E3DA"/>
            </a:solidFill>
            <a:prstDash val="solid"/>
          </a:ln>
        </p:spPr>
      </p:sp>
      <p:sp>
        <p:nvSpPr>
          <p:cNvPr id="15" name="Text 12"/>
          <p:cNvSpPr/>
          <p:nvPr/>
        </p:nvSpPr>
        <p:spPr>
          <a:xfrm>
            <a:off x="4828032" y="1938528"/>
            <a:ext cx="1271016" cy="53035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3. Redis lock</a:t>
            </a:r>
            <a:endParaRPr lang="en-US" sz="840" dirty="0"/>
          </a:p>
          <a:p>
            <a:pPr algn="ctr" indent="0" marL="0">
              <a:buNone/>
            </a:pPr>
            <a:r>
              <a:rPr lang="en-US" sz="840" b="1" dirty="0">
                <a:solidFill>
                  <a:srgbClr val="17312B"/>
                </a:solidFill>
              </a:rPr>
              <a:t>10 giây</a:t>
            </a:r>
            <a:endParaRPr lang="en-US" sz="840" dirty="0"/>
          </a:p>
        </p:txBody>
      </p:sp>
      <p:sp>
        <p:nvSpPr>
          <p:cNvPr id="16" name="Shape 13"/>
          <p:cNvSpPr/>
          <p:nvPr/>
        </p:nvSpPr>
        <p:spPr>
          <a:xfrm>
            <a:off x="6291072" y="2039112"/>
            <a:ext cx="411480" cy="256032"/>
          </a:xfrm>
          <a:prstGeom prst="rightArrow">
            <a:avLst/>
          </a:prstGeom>
          <a:solidFill>
            <a:srgbClr val="1F8A4C"/>
          </a:solidFill>
          <a:ln w="12700">
            <a:solidFill>
              <a:srgbClr val="1F8A4C">
                <a:alpha val="0"/>
              </a:srgbClr>
            </a:solidFill>
            <a:prstDash val="solid"/>
          </a:ln>
        </p:spPr>
      </p:sp>
      <p:sp>
        <p:nvSpPr>
          <p:cNvPr id="17" name="Shape 14"/>
          <p:cNvSpPr/>
          <p:nvPr/>
        </p:nvSpPr>
        <p:spPr>
          <a:xfrm>
            <a:off x="6812280" y="1828800"/>
            <a:ext cx="1554480" cy="731520"/>
          </a:xfrm>
          <a:prstGeom prst="roundRect">
            <a:avLst>
              <a:gd name="adj" fmla="val 6250"/>
            </a:avLst>
          </a:prstGeom>
          <a:solidFill>
            <a:srgbClr val="EEF6FF"/>
          </a:solidFill>
          <a:ln w="12700">
            <a:solidFill>
              <a:srgbClr val="D7E3DA"/>
            </a:solidFill>
            <a:prstDash val="solid"/>
          </a:ln>
        </p:spPr>
      </p:sp>
      <p:sp>
        <p:nvSpPr>
          <p:cNvPr id="18" name="Text 15"/>
          <p:cNvSpPr/>
          <p:nvPr/>
        </p:nvSpPr>
        <p:spPr>
          <a:xfrm>
            <a:off x="6885432" y="1938528"/>
            <a:ext cx="1408176" cy="53035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4. Transaction</a:t>
            </a:r>
            <a:endParaRPr lang="en-US" sz="840" dirty="0"/>
          </a:p>
          <a:p>
            <a:pPr algn="ctr" indent="0" marL="0">
              <a:buNone/>
            </a:pPr>
            <a:r>
              <a:rPr lang="en-US" sz="840" b="1" dirty="0">
                <a:solidFill>
                  <a:srgbClr val="17312B"/>
                </a:solidFill>
              </a:rPr>
              <a:t>trừ tồn + tạo đơn</a:t>
            </a:r>
            <a:endParaRPr lang="en-US" sz="840" dirty="0"/>
          </a:p>
        </p:txBody>
      </p:sp>
      <p:sp>
        <p:nvSpPr>
          <p:cNvPr id="19" name="Shape 16"/>
          <p:cNvSpPr/>
          <p:nvPr/>
        </p:nvSpPr>
        <p:spPr>
          <a:xfrm>
            <a:off x="8485632" y="2039112"/>
            <a:ext cx="411480" cy="256032"/>
          </a:xfrm>
          <a:prstGeom prst="rightArrow">
            <a:avLst/>
          </a:prstGeom>
          <a:solidFill>
            <a:srgbClr val="1F8A4C"/>
          </a:solidFill>
          <a:ln w="12700">
            <a:solidFill>
              <a:srgbClr val="1F8A4C">
                <a:alpha val="0"/>
              </a:srgbClr>
            </a:solidFill>
            <a:prstDash val="solid"/>
          </a:ln>
        </p:spPr>
      </p:sp>
      <p:sp>
        <p:nvSpPr>
          <p:cNvPr id="20" name="Shape 17"/>
          <p:cNvSpPr/>
          <p:nvPr/>
        </p:nvSpPr>
        <p:spPr>
          <a:xfrm>
            <a:off x="9006840" y="1828800"/>
            <a:ext cx="1417320" cy="731520"/>
          </a:xfrm>
          <a:prstGeom prst="roundRect">
            <a:avLst>
              <a:gd name="adj" fmla="val 6250"/>
            </a:avLst>
          </a:prstGeom>
          <a:solidFill>
            <a:srgbClr val="EAF6ED"/>
          </a:solidFill>
          <a:ln w="12700">
            <a:solidFill>
              <a:srgbClr val="D7E3DA"/>
            </a:solidFill>
            <a:prstDash val="solid"/>
          </a:ln>
        </p:spPr>
      </p:sp>
      <p:sp>
        <p:nvSpPr>
          <p:cNvPr id="21" name="Text 18"/>
          <p:cNvSpPr/>
          <p:nvPr/>
        </p:nvSpPr>
        <p:spPr>
          <a:xfrm>
            <a:off x="9079992" y="1938528"/>
            <a:ext cx="1271016" cy="53035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5. QR 30 phút</a:t>
            </a:r>
            <a:endParaRPr lang="en-US" sz="840" dirty="0"/>
          </a:p>
          <a:p>
            <a:pPr algn="ctr" indent="0" marL="0">
              <a:buNone/>
            </a:pPr>
            <a:r>
              <a:rPr lang="en-US" sz="840" b="1" dirty="0">
                <a:solidFill>
                  <a:srgbClr val="17312B"/>
                </a:solidFill>
              </a:rPr>
              <a:t>pickup token</a:t>
            </a:r>
            <a:endParaRPr lang="en-US" sz="840" dirty="0"/>
          </a:p>
        </p:txBody>
      </p:sp>
      <p:sp>
        <p:nvSpPr>
          <p:cNvPr id="22" name="Shape 19"/>
          <p:cNvSpPr/>
          <p:nvPr/>
        </p:nvSpPr>
        <p:spPr>
          <a:xfrm>
            <a:off x="10543032" y="2039112"/>
            <a:ext cx="411480" cy="256032"/>
          </a:xfrm>
          <a:prstGeom prst="rightArrow">
            <a:avLst/>
          </a:prstGeom>
          <a:solidFill>
            <a:srgbClr val="1F8A4C"/>
          </a:solidFill>
          <a:ln w="12700">
            <a:solidFill>
              <a:srgbClr val="1F8A4C">
                <a:alpha val="0"/>
              </a:srgbClr>
            </a:solidFill>
            <a:prstDash val="solid"/>
          </a:ln>
        </p:spPr>
      </p:sp>
      <p:sp>
        <p:nvSpPr>
          <p:cNvPr id="23" name="Shape 20"/>
          <p:cNvSpPr/>
          <p:nvPr/>
        </p:nvSpPr>
        <p:spPr>
          <a:xfrm>
            <a:off x="11045952" y="1828800"/>
            <a:ext cx="822960" cy="731520"/>
          </a:xfrm>
          <a:prstGeom prst="roundRect">
            <a:avLst>
              <a:gd name="adj" fmla="val 6250"/>
            </a:avLst>
          </a:prstGeom>
          <a:solidFill>
            <a:srgbClr val="FFFFFF"/>
          </a:solidFill>
          <a:ln w="12700">
            <a:solidFill>
              <a:srgbClr val="D7E3DA"/>
            </a:solidFill>
            <a:prstDash val="solid"/>
          </a:ln>
        </p:spPr>
      </p:sp>
      <p:sp>
        <p:nvSpPr>
          <p:cNvPr id="24" name="Text 21"/>
          <p:cNvSpPr/>
          <p:nvPr/>
        </p:nvSpPr>
        <p:spPr>
          <a:xfrm>
            <a:off x="11119104" y="1938528"/>
            <a:ext cx="676656" cy="53035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6. Scan / Proof</a:t>
            </a:r>
            <a:endParaRPr lang="en-US" sz="840" dirty="0"/>
          </a:p>
          <a:p>
            <a:pPr algn="ctr" indent="0" marL="0">
              <a:buNone/>
            </a:pPr>
            <a:r>
              <a:rPr lang="en-US" sz="840" b="1" dirty="0">
                <a:solidFill>
                  <a:srgbClr val="17312B"/>
                </a:solidFill>
              </a:rPr>
              <a:t>complete</a:t>
            </a:r>
            <a:endParaRPr lang="en-US" sz="840" dirty="0"/>
          </a:p>
        </p:txBody>
      </p:sp>
      <p:sp>
        <p:nvSpPr>
          <p:cNvPr id="25" name="Shape 22"/>
          <p:cNvSpPr/>
          <p:nvPr/>
        </p:nvSpPr>
        <p:spPr>
          <a:xfrm>
            <a:off x="868680" y="3703320"/>
            <a:ext cx="2926080" cy="1188720"/>
          </a:xfrm>
          <a:prstGeom prst="roundRect">
            <a:avLst>
              <a:gd name="adj" fmla="val 4615"/>
            </a:avLst>
          </a:prstGeom>
          <a:solidFill>
            <a:srgbClr val="FFFFFF"/>
          </a:solidFill>
          <a:ln w="12700">
            <a:solidFill>
              <a:srgbClr val="D7E3DA"/>
            </a:solidFill>
            <a:prstDash val="solid"/>
          </a:ln>
        </p:spPr>
      </p:sp>
      <p:sp>
        <p:nvSpPr>
          <p:cNvPr id="26" name="Shape 23"/>
          <p:cNvSpPr/>
          <p:nvPr/>
        </p:nvSpPr>
        <p:spPr>
          <a:xfrm>
            <a:off x="868680" y="3703320"/>
            <a:ext cx="73152" cy="1188720"/>
          </a:xfrm>
          <a:prstGeom prst="rect">
            <a:avLst/>
          </a:prstGeom>
          <a:solidFill>
            <a:srgbClr val="1F8A4C"/>
          </a:solidFill>
          <a:ln w="12700">
            <a:solidFill>
              <a:srgbClr val="1F8A4C">
                <a:alpha val="0"/>
              </a:srgbClr>
            </a:solidFill>
            <a:prstDash val="solid"/>
          </a:ln>
        </p:spPr>
      </p:sp>
      <p:sp>
        <p:nvSpPr>
          <p:cNvPr id="27" name="Text 24"/>
          <p:cNvSpPr/>
          <p:nvPr/>
        </p:nvSpPr>
        <p:spPr>
          <a:xfrm>
            <a:off x="1078992" y="3867912"/>
            <a:ext cx="2578608" cy="228600"/>
          </a:xfrm>
          <a:prstGeom prst="rect">
            <a:avLst/>
          </a:prstGeom>
          <a:noFill/>
          <a:ln/>
        </p:spPr>
        <p:txBody>
          <a:bodyPr wrap="square" lIns="0" tIns="0" rIns="0" bIns="0" rtlCol="0" anchor="ctr"/>
          <a:lstStyle/>
          <a:p>
            <a:pPr indent="0" marL="0">
              <a:buNone/>
            </a:pPr>
            <a:r>
              <a:rPr lang="en-US" sz="1150" b="1" dirty="0">
                <a:solidFill>
                  <a:srgbClr val="17312B"/>
                </a:solidFill>
              </a:rPr>
              <a:t>Điểm cần nhấn mạnh</a:t>
            </a:r>
            <a:endParaRPr lang="en-US" sz="1150" dirty="0"/>
          </a:p>
        </p:txBody>
      </p:sp>
      <p:sp>
        <p:nvSpPr>
          <p:cNvPr id="28" name="Text 25"/>
          <p:cNvSpPr/>
          <p:nvPr/>
        </p:nvSpPr>
        <p:spPr>
          <a:xfrm>
            <a:off x="1078992" y="4178808"/>
            <a:ext cx="2578608" cy="54864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Lock + transaction giúp tránh 2 người cùng đặt phần cuối cùng. QR token ngẫu nhiên và có hạn dùng.</a:t>
            </a:r>
            <a:endParaRPr lang="en-US" sz="870" dirty="0"/>
          </a:p>
        </p:txBody>
      </p:sp>
      <p:sp>
        <p:nvSpPr>
          <p:cNvPr id="29" name="Shape 26"/>
          <p:cNvSpPr/>
          <p:nvPr/>
        </p:nvSpPr>
        <p:spPr>
          <a:xfrm>
            <a:off x="4160520" y="3401568"/>
            <a:ext cx="3291840" cy="1600200"/>
          </a:xfrm>
          <a:prstGeom prst="roundRect">
            <a:avLst>
              <a:gd name="adj" fmla="val 2857"/>
            </a:avLst>
          </a:prstGeom>
          <a:solidFill>
            <a:srgbClr val="F9FBFA"/>
          </a:solidFill>
          <a:ln w="12700">
            <a:solidFill>
              <a:srgbClr val="D7E3DA"/>
            </a:solidFill>
            <a:prstDash val="solid"/>
          </a:ln>
        </p:spPr>
      </p:sp>
      <p:sp>
        <p:nvSpPr>
          <p:cNvPr id="30" name="Text 27"/>
          <p:cNvSpPr/>
          <p:nvPr/>
        </p:nvSpPr>
        <p:spPr>
          <a:xfrm>
            <a:off x="4325112" y="3547872"/>
            <a:ext cx="2962656"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31" name="Text 28"/>
          <p:cNvSpPr/>
          <p:nvPr/>
        </p:nvSpPr>
        <p:spPr>
          <a:xfrm>
            <a:off x="4325112" y="3813048"/>
            <a:ext cx="2962656" cy="1051560"/>
          </a:xfrm>
          <a:prstGeom prst="rect">
            <a:avLst/>
          </a:prstGeom>
          <a:noFill/>
          <a:ln/>
        </p:spPr>
        <p:txBody>
          <a:bodyPr wrap="square" lIns="0" tIns="0" rIns="0" bIns="0" rtlCol="0" anchor="ctr">
            <a:normAutofit/>
          </a:bodyPr>
          <a:lstStyle/>
          <a:p>
            <a:pPr indent="0" marL="0">
              <a:buNone/>
            </a:pPr>
            <a:r>
              <a:rPr lang="en-US" sz="820" b="1" dirty="0">
                <a:solidFill>
                  <a:srgbClr val="17312B"/>
                </a:solidFill>
              </a:rPr>
              <a:t>Màn hình receiver đặt suất và màn hình QR sau khi đặt thành công</a:t>
            </a:r>
            <a:endParaRPr lang="en-US" sz="820" dirty="0"/>
          </a:p>
        </p:txBody>
      </p:sp>
      <p:sp>
        <p:nvSpPr>
          <p:cNvPr id="32" name="Shape 29"/>
          <p:cNvSpPr/>
          <p:nvPr/>
        </p:nvSpPr>
        <p:spPr>
          <a:xfrm>
            <a:off x="7818120" y="3401568"/>
            <a:ext cx="3291840" cy="1600200"/>
          </a:xfrm>
          <a:prstGeom prst="roundRect">
            <a:avLst>
              <a:gd name="adj" fmla="val 2857"/>
            </a:avLst>
          </a:prstGeom>
          <a:solidFill>
            <a:srgbClr val="F9FBFA"/>
          </a:solidFill>
          <a:ln w="12700">
            <a:solidFill>
              <a:srgbClr val="D7E3DA"/>
            </a:solidFill>
            <a:prstDash val="solid"/>
          </a:ln>
        </p:spPr>
      </p:sp>
      <p:sp>
        <p:nvSpPr>
          <p:cNvPr id="33" name="Text 30"/>
          <p:cNvSpPr/>
          <p:nvPr/>
        </p:nvSpPr>
        <p:spPr>
          <a:xfrm>
            <a:off x="7982712" y="3547872"/>
            <a:ext cx="2962656"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34" name="Text 31"/>
          <p:cNvSpPr/>
          <p:nvPr/>
        </p:nvSpPr>
        <p:spPr>
          <a:xfrm>
            <a:off x="7982712" y="3813048"/>
            <a:ext cx="2962656" cy="1051560"/>
          </a:xfrm>
          <a:prstGeom prst="rect">
            <a:avLst/>
          </a:prstGeom>
          <a:noFill/>
          <a:ln/>
        </p:spPr>
        <p:txBody>
          <a:bodyPr wrap="square" lIns="0" tIns="0" rIns="0" bIns="0" rtlCol="0" anchor="ctr">
            <a:normAutofit/>
          </a:bodyPr>
          <a:lstStyle/>
          <a:p>
            <a:pPr indent="0" marL="0">
              <a:buNone/>
            </a:pPr>
            <a:r>
              <a:rPr lang="en-US" sz="820" b="1" dirty="0">
                <a:solidFill>
                  <a:srgbClr val="17312B"/>
                </a:solidFill>
              </a:rPr>
              <a:t>Màn hình provider scan QR / xác nhận pickup</a:t>
            </a:r>
            <a:endParaRPr lang="en-US" sz="8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502920" y="475488"/>
            <a:ext cx="7772400" cy="502920"/>
          </a:xfrm>
          <a:prstGeom prst="rect">
            <a:avLst/>
          </a:prstGeom>
          <a:noFill/>
          <a:ln/>
        </p:spPr>
        <p:txBody>
          <a:bodyPr wrap="square" lIns="0" tIns="0" rIns="0" bIns="0" rtlCol="0" anchor="ctr"/>
          <a:lstStyle/>
          <a:p>
            <a:pPr indent="0" marL="0">
              <a:buNone/>
            </a:pPr>
            <a:r>
              <a:rPr lang="en-US" sz="2500" b="1" dirty="0">
                <a:solidFill>
                  <a:srgbClr val="17312B"/>
                </a:solidFill>
              </a:rPr>
              <a:t>Luồng Provider</a:t>
            </a:r>
            <a:endParaRPr lang="en-US" sz="2500" dirty="0"/>
          </a:p>
        </p:txBody>
      </p:sp>
      <p:sp>
        <p:nvSpPr>
          <p:cNvPr id="3" name="Text 1"/>
          <p:cNvSpPr/>
          <p:nvPr/>
        </p:nvSpPr>
        <p:spPr>
          <a:xfrm>
            <a:off x="502920" y="987552"/>
            <a:ext cx="8046720" cy="292608"/>
          </a:xfrm>
          <a:prstGeom prst="rect">
            <a:avLst/>
          </a:prstGeom>
          <a:noFill/>
          <a:ln/>
        </p:spPr>
        <p:txBody>
          <a:bodyPr wrap="square" lIns="0" tIns="0" rIns="0" bIns="0" rtlCol="0" anchor="ctr"/>
          <a:lstStyle/>
          <a:p>
            <a:pPr indent="0" marL="0">
              <a:buNone/>
            </a:pPr>
            <a:r>
              <a:rPr lang="en-US" sz="1050" dirty="0">
                <a:solidFill>
                  <a:srgbClr val="5D6A66"/>
                </a:solidFill>
              </a:rPr>
              <a:t>Provider là nguồn tạo cung thực phẩm và là người xác nhận giao/nhận tại điểm pickup.</a:t>
            </a:r>
            <a:endParaRPr lang="en-US" sz="1050" dirty="0"/>
          </a:p>
        </p:txBody>
      </p:sp>
      <p:sp>
        <p:nvSpPr>
          <p:cNvPr id="4" name="Shape 2"/>
          <p:cNvSpPr/>
          <p:nvPr/>
        </p:nvSpPr>
        <p:spPr>
          <a:xfrm>
            <a:off x="502920" y="6446520"/>
            <a:ext cx="11173968" cy="0"/>
          </a:xfrm>
          <a:prstGeom prst="line">
            <a:avLst/>
          </a:prstGeom>
          <a:noFill/>
          <a:ln w="12700">
            <a:solidFill>
              <a:srgbClr val="D7E3DA"/>
            </a:solidFill>
            <a:prstDash val="solid"/>
          </a:ln>
        </p:spPr>
      </p:sp>
      <p:sp>
        <p:nvSpPr>
          <p:cNvPr id="5" name="Text 3"/>
          <p:cNvSpPr/>
          <p:nvPr/>
        </p:nvSpPr>
        <p:spPr>
          <a:xfrm>
            <a:off x="502920" y="6519672"/>
            <a:ext cx="4389120" cy="164592"/>
          </a:xfrm>
          <a:prstGeom prst="rect">
            <a:avLst/>
          </a:prstGeom>
          <a:noFill/>
          <a:ln/>
        </p:spPr>
        <p:txBody>
          <a:bodyPr wrap="square" lIns="0" tIns="0" rIns="0" bIns="0" rtlCol="0" anchor="ctr"/>
          <a:lstStyle/>
          <a:p>
            <a:pPr indent="0" marL="0">
              <a:buNone/>
            </a:pPr>
            <a:r>
              <a:rPr lang="en-US" sz="760" dirty="0">
                <a:solidFill>
                  <a:srgbClr val="5D6A66"/>
                </a:solidFill>
                <a:latin typeface="Aptos" pitchFamily="34" charset="0"/>
                <a:ea typeface="Aptos" pitchFamily="34" charset="-122"/>
                <a:cs typeface="Aptos" pitchFamily="34" charset="-120"/>
              </a:rPr>
              <a:t>FoodResQ | Capstone SP26SE088</a:t>
            </a:r>
            <a:endParaRPr lang="en-US" sz="760" dirty="0"/>
          </a:p>
        </p:txBody>
      </p:sp>
      <p:sp>
        <p:nvSpPr>
          <p:cNvPr id="6" name="Text 4"/>
          <p:cNvSpPr/>
          <p:nvPr/>
        </p:nvSpPr>
        <p:spPr>
          <a:xfrm>
            <a:off x="11192256" y="6492240"/>
            <a:ext cx="457200" cy="201168"/>
          </a:xfrm>
          <a:prstGeom prst="rect">
            <a:avLst/>
          </a:prstGeom>
          <a:noFill/>
          <a:ln/>
        </p:spPr>
        <p:txBody>
          <a:bodyPr wrap="square" lIns="0" tIns="0" rIns="0" bIns="0" rtlCol="0" anchor="ctr"/>
          <a:lstStyle/>
          <a:p>
            <a:pPr algn="r" indent="0" marL="0">
              <a:buNone/>
            </a:pPr>
            <a:r>
              <a:rPr lang="en-US" sz="800" b="1" dirty="0">
                <a:solidFill>
                  <a:srgbClr val="5D6A66"/>
                </a:solidFill>
              </a:rPr>
              <a:t>07</a:t>
            </a:r>
            <a:endParaRPr lang="en-US" sz="800" dirty="0"/>
          </a:p>
        </p:txBody>
      </p:sp>
      <p:pic>
        <p:nvPicPr>
          <p:cNvPr id="7" name="Image 0" descr="D:\Capstone_FoodResQ_Web\apps\web\public\Logo_FoodResQ.png">    </p:cNvPr>
          <p:cNvPicPr>
            <a:picLocks noChangeAspect="1"/>
          </p:cNvPicPr>
          <p:nvPr/>
        </p:nvPicPr>
        <p:blipFill>
          <a:blip r:embed="rId1"/>
          <a:stretch>
            <a:fillRect/>
          </a:stretch>
        </p:blipFill>
        <p:spPr>
          <a:xfrm>
            <a:off x="10652760" y="310896"/>
            <a:ext cx="960120" cy="420624"/>
          </a:xfrm>
          <a:prstGeom prst="rect">
            <a:avLst/>
          </a:prstGeom>
        </p:spPr>
      </p:pic>
      <p:sp>
        <p:nvSpPr>
          <p:cNvPr id="8" name="Shape 5"/>
          <p:cNvSpPr/>
          <p:nvPr/>
        </p:nvSpPr>
        <p:spPr>
          <a:xfrm>
            <a:off x="822960" y="1691640"/>
            <a:ext cx="1828800" cy="777240"/>
          </a:xfrm>
          <a:prstGeom prst="roundRect">
            <a:avLst>
              <a:gd name="adj" fmla="val 5882"/>
            </a:avLst>
          </a:prstGeom>
          <a:solidFill>
            <a:srgbClr val="EAF6ED"/>
          </a:solidFill>
          <a:ln w="12700">
            <a:solidFill>
              <a:srgbClr val="D7E3DA"/>
            </a:solidFill>
            <a:prstDash val="solid"/>
          </a:ln>
        </p:spPr>
      </p:sp>
      <p:sp>
        <p:nvSpPr>
          <p:cNvPr id="9" name="Text 6"/>
          <p:cNvSpPr/>
          <p:nvPr/>
        </p:nvSpPr>
        <p:spPr>
          <a:xfrm>
            <a:off x="896112" y="1801368"/>
            <a:ext cx="1682496" cy="57607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Tạo listing</a:t>
            </a:r>
            <a:endParaRPr lang="en-US" sz="840" dirty="0"/>
          </a:p>
          <a:p>
            <a:pPr algn="ctr" indent="0" marL="0">
              <a:buNone/>
            </a:pPr>
            <a:r>
              <a:rPr lang="en-US" sz="840" b="1" dirty="0">
                <a:solidFill>
                  <a:srgbClr val="17312B"/>
                </a:solidFill>
              </a:rPr>
              <a:t>ảnh, số lượng, hạn dùng</a:t>
            </a:r>
            <a:endParaRPr lang="en-US" sz="840" dirty="0"/>
          </a:p>
        </p:txBody>
      </p:sp>
      <p:sp>
        <p:nvSpPr>
          <p:cNvPr id="10" name="Shape 7"/>
          <p:cNvSpPr/>
          <p:nvPr/>
        </p:nvSpPr>
        <p:spPr>
          <a:xfrm>
            <a:off x="2816352" y="1920240"/>
            <a:ext cx="502920" cy="292608"/>
          </a:xfrm>
          <a:prstGeom prst="rightArrow">
            <a:avLst/>
          </a:prstGeom>
          <a:solidFill>
            <a:srgbClr val="1F8A4C"/>
          </a:solidFill>
          <a:ln w="12700">
            <a:solidFill>
              <a:srgbClr val="1F8A4C">
                <a:alpha val="0"/>
              </a:srgbClr>
            </a:solidFill>
            <a:prstDash val="solid"/>
          </a:ln>
        </p:spPr>
      </p:sp>
      <p:sp>
        <p:nvSpPr>
          <p:cNvPr id="11" name="Shape 8"/>
          <p:cNvSpPr/>
          <p:nvPr/>
        </p:nvSpPr>
        <p:spPr>
          <a:xfrm>
            <a:off x="3493008" y="1691640"/>
            <a:ext cx="1508760" cy="777240"/>
          </a:xfrm>
          <a:prstGeom prst="roundRect">
            <a:avLst>
              <a:gd name="adj" fmla="val 5882"/>
            </a:avLst>
          </a:prstGeom>
          <a:solidFill>
            <a:srgbClr val="FFF4E8"/>
          </a:solidFill>
          <a:ln w="12700">
            <a:solidFill>
              <a:srgbClr val="D7E3DA"/>
            </a:solidFill>
            <a:prstDash val="solid"/>
          </a:ln>
        </p:spPr>
      </p:sp>
      <p:sp>
        <p:nvSpPr>
          <p:cNvPr id="12" name="Text 9"/>
          <p:cNvSpPr/>
          <p:nvPr/>
        </p:nvSpPr>
        <p:spPr>
          <a:xfrm>
            <a:off x="3566160" y="1801368"/>
            <a:ext cx="1362456" cy="57607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Publish</a:t>
            </a:r>
            <a:endParaRPr lang="en-US" sz="840" dirty="0"/>
          </a:p>
          <a:p>
            <a:pPr algn="ctr" indent="0" marL="0">
              <a:buNone/>
            </a:pPr>
            <a:r>
              <a:rPr lang="en-US" sz="840" b="1" dirty="0">
                <a:solidFill>
                  <a:srgbClr val="17312B"/>
                </a:solidFill>
              </a:rPr>
              <a:t>status active</a:t>
            </a:r>
            <a:endParaRPr lang="en-US" sz="840" dirty="0"/>
          </a:p>
        </p:txBody>
      </p:sp>
      <p:sp>
        <p:nvSpPr>
          <p:cNvPr id="13" name="Shape 10"/>
          <p:cNvSpPr/>
          <p:nvPr/>
        </p:nvSpPr>
        <p:spPr>
          <a:xfrm>
            <a:off x="5166360" y="1920240"/>
            <a:ext cx="502920" cy="292608"/>
          </a:xfrm>
          <a:prstGeom prst="rightArrow">
            <a:avLst/>
          </a:prstGeom>
          <a:solidFill>
            <a:srgbClr val="1F8A4C"/>
          </a:solidFill>
          <a:ln w="12700">
            <a:solidFill>
              <a:srgbClr val="1F8A4C">
                <a:alpha val="0"/>
              </a:srgbClr>
            </a:solidFill>
            <a:prstDash val="solid"/>
          </a:ln>
        </p:spPr>
      </p:sp>
      <p:sp>
        <p:nvSpPr>
          <p:cNvPr id="14" name="Shape 11"/>
          <p:cNvSpPr/>
          <p:nvPr/>
        </p:nvSpPr>
        <p:spPr>
          <a:xfrm>
            <a:off x="5833872" y="1691640"/>
            <a:ext cx="1874520" cy="777240"/>
          </a:xfrm>
          <a:prstGeom prst="roundRect">
            <a:avLst>
              <a:gd name="adj" fmla="val 5882"/>
            </a:avLst>
          </a:prstGeom>
          <a:solidFill>
            <a:srgbClr val="EEF6FF"/>
          </a:solidFill>
          <a:ln w="12700">
            <a:solidFill>
              <a:srgbClr val="D7E3DA"/>
            </a:solidFill>
            <a:prstDash val="solid"/>
          </a:ln>
        </p:spPr>
      </p:sp>
      <p:sp>
        <p:nvSpPr>
          <p:cNvPr id="15" name="Text 12"/>
          <p:cNvSpPr/>
          <p:nvPr/>
        </p:nvSpPr>
        <p:spPr>
          <a:xfrm>
            <a:off x="5907024" y="1801368"/>
            <a:ext cx="1728216" cy="57607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Theo dõi reservation</a:t>
            </a:r>
            <a:endParaRPr lang="en-US" sz="840" dirty="0"/>
          </a:p>
          <a:p>
            <a:pPr algn="ctr" indent="0" marL="0">
              <a:buNone/>
            </a:pPr>
            <a:r>
              <a:rPr lang="en-US" sz="840" b="1" dirty="0">
                <a:solidFill>
                  <a:srgbClr val="17312B"/>
                </a:solidFill>
              </a:rPr>
              <a:t>remaining quantity</a:t>
            </a:r>
            <a:endParaRPr lang="en-US" sz="840" dirty="0"/>
          </a:p>
        </p:txBody>
      </p:sp>
      <p:sp>
        <p:nvSpPr>
          <p:cNvPr id="16" name="Shape 13"/>
          <p:cNvSpPr/>
          <p:nvPr/>
        </p:nvSpPr>
        <p:spPr>
          <a:xfrm>
            <a:off x="7882128" y="1920240"/>
            <a:ext cx="502920" cy="292608"/>
          </a:xfrm>
          <a:prstGeom prst="rightArrow">
            <a:avLst/>
          </a:prstGeom>
          <a:solidFill>
            <a:srgbClr val="1F8A4C"/>
          </a:solidFill>
          <a:ln w="12700">
            <a:solidFill>
              <a:srgbClr val="1F8A4C">
                <a:alpha val="0"/>
              </a:srgbClr>
            </a:solidFill>
            <a:prstDash val="solid"/>
          </a:ln>
        </p:spPr>
      </p:sp>
      <p:sp>
        <p:nvSpPr>
          <p:cNvPr id="17" name="Shape 14"/>
          <p:cNvSpPr/>
          <p:nvPr/>
        </p:nvSpPr>
        <p:spPr>
          <a:xfrm>
            <a:off x="8549640" y="1691640"/>
            <a:ext cx="1417320" cy="777240"/>
          </a:xfrm>
          <a:prstGeom prst="roundRect">
            <a:avLst>
              <a:gd name="adj" fmla="val 5882"/>
            </a:avLst>
          </a:prstGeom>
          <a:solidFill>
            <a:srgbClr val="EAF6ED"/>
          </a:solidFill>
          <a:ln w="12700">
            <a:solidFill>
              <a:srgbClr val="D7E3DA"/>
            </a:solidFill>
            <a:prstDash val="solid"/>
          </a:ln>
        </p:spPr>
      </p:sp>
      <p:sp>
        <p:nvSpPr>
          <p:cNvPr id="18" name="Text 15"/>
          <p:cNvSpPr/>
          <p:nvPr/>
        </p:nvSpPr>
        <p:spPr>
          <a:xfrm>
            <a:off x="8622792" y="1801368"/>
            <a:ext cx="1271016" cy="57607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Scan QR</a:t>
            </a:r>
            <a:endParaRPr lang="en-US" sz="840" dirty="0"/>
          </a:p>
          <a:p>
            <a:pPr algn="ctr" indent="0" marL="0">
              <a:buNone/>
            </a:pPr>
            <a:r>
              <a:rPr lang="en-US" sz="840" b="1" dirty="0">
                <a:solidFill>
                  <a:srgbClr val="17312B"/>
                </a:solidFill>
              </a:rPr>
              <a:t>picked up</a:t>
            </a:r>
            <a:endParaRPr lang="en-US" sz="840" dirty="0"/>
          </a:p>
        </p:txBody>
      </p:sp>
      <p:sp>
        <p:nvSpPr>
          <p:cNvPr id="19" name="Shape 16"/>
          <p:cNvSpPr/>
          <p:nvPr/>
        </p:nvSpPr>
        <p:spPr>
          <a:xfrm>
            <a:off x="10122408" y="1920240"/>
            <a:ext cx="502920" cy="292608"/>
          </a:xfrm>
          <a:prstGeom prst="rightArrow">
            <a:avLst/>
          </a:prstGeom>
          <a:solidFill>
            <a:srgbClr val="1F8A4C"/>
          </a:solidFill>
          <a:ln w="12700">
            <a:solidFill>
              <a:srgbClr val="1F8A4C">
                <a:alpha val="0"/>
              </a:srgbClr>
            </a:solidFill>
            <a:prstDash val="solid"/>
          </a:ln>
        </p:spPr>
      </p:sp>
      <p:sp>
        <p:nvSpPr>
          <p:cNvPr id="20" name="Shape 17"/>
          <p:cNvSpPr/>
          <p:nvPr/>
        </p:nvSpPr>
        <p:spPr>
          <a:xfrm>
            <a:off x="10771632" y="1691640"/>
            <a:ext cx="1051560" cy="777240"/>
          </a:xfrm>
          <a:prstGeom prst="roundRect">
            <a:avLst>
              <a:gd name="adj" fmla="val 5882"/>
            </a:avLst>
          </a:prstGeom>
          <a:solidFill>
            <a:srgbClr val="FFFFFF"/>
          </a:solidFill>
          <a:ln w="12700">
            <a:solidFill>
              <a:srgbClr val="D7E3DA"/>
            </a:solidFill>
            <a:prstDash val="solid"/>
          </a:ln>
        </p:spPr>
      </p:sp>
      <p:sp>
        <p:nvSpPr>
          <p:cNvPr id="21" name="Text 18"/>
          <p:cNvSpPr/>
          <p:nvPr/>
        </p:nvSpPr>
        <p:spPr>
          <a:xfrm>
            <a:off x="10844784" y="1801368"/>
            <a:ext cx="905256" cy="576072"/>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ESG report</a:t>
            </a:r>
            <a:endParaRPr lang="en-US" sz="840" dirty="0"/>
          </a:p>
          <a:p>
            <a:pPr algn="ctr" indent="0" marL="0">
              <a:buNone/>
            </a:pPr>
            <a:r>
              <a:rPr lang="en-US" sz="840" b="1" dirty="0">
                <a:solidFill>
                  <a:srgbClr val="17312B"/>
                </a:solidFill>
              </a:rPr>
              <a:t>kg &amp; CO2</a:t>
            </a:r>
            <a:endParaRPr lang="en-US" sz="840" dirty="0"/>
          </a:p>
        </p:txBody>
      </p:sp>
      <p:sp>
        <p:nvSpPr>
          <p:cNvPr id="22" name="Shape 19"/>
          <p:cNvSpPr/>
          <p:nvPr/>
        </p:nvSpPr>
        <p:spPr>
          <a:xfrm>
            <a:off x="822960" y="3246120"/>
            <a:ext cx="3154680" cy="1554480"/>
          </a:xfrm>
          <a:prstGeom prst="roundRect">
            <a:avLst>
              <a:gd name="adj" fmla="val 2941"/>
            </a:avLst>
          </a:prstGeom>
          <a:solidFill>
            <a:srgbClr val="F9FBFA"/>
          </a:solidFill>
          <a:ln w="12700">
            <a:solidFill>
              <a:srgbClr val="D7E3DA"/>
            </a:solidFill>
            <a:prstDash val="solid"/>
          </a:ln>
        </p:spPr>
      </p:sp>
      <p:sp>
        <p:nvSpPr>
          <p:cNvPr id="23" name="Text 20"/>
          <p:cNvSpPr/>
          <p:nvPr/>
        </p:nvSpPr>
        <p:spPr>
          <a:xfrm>
            <a:off x="987552" y="3392424"/>
            <a:ext cx="2825496"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24" name="Text 21"/>
          <p:cNvSpPr/>
          <p:nvPr/>
        </p:nvSpPr>
        <p:spPr>
          <a:xfrm>
            <a:off x="987552" y="3657600"/>
            <a:ext cx="2825496" cy="1005840"/>
          </a:xfrm>
          <a:prstGeom prst="rect">
            <a:avLst/>
          </a:prstGeom>
          <a:noFill/>
          <a:ln/>
        </p:spPr>
        <p:txBody>
          <a:bodyPr wrap="square" lIns="0" tIns="0" rIns="0" bIns="0" rtlCol="0" anchor="ctr">
            <a:normAutofit/>
          </a:bodyPr>
          <a:lstStyle/>
          <a:p>
            <a:pPr indent="0" marL="0">
              <a:buNone/>
            </a:pPr>
            <a:r>
              <a:rPr lang="en-US" sz="820" b="1" dirty="0">
                <a:solidFill>
                  <a:srgbClr val="17312B"/>
                </a:solidFill>
              </a:rPr>
              <a:t>Provider dashboard: thống kê listing, đơn đặt, trạng thái nhận</a:t>
            </a:r>
            <a:endParaRPr lang="en-US" sz="820" dirty="0"/>
          </a:p>
        </p:txBody>
      </p:sp>
      <p:sp>
        <p:nvSpPr>
          <p:cNvPr id="25" name="Shape 22"/>
          <p:cNvSpPr/>
          <p:nvPr/>
        </p:nvSpPr>
        <p:spPr>
          <a:xfrm>
            <a:off x="4526280" y="3246120"/>
            <a:ext cx="3154680" cy="1554480"/>
          </a:xfrm>
          <a:prstGeom prst="roundRect">
            <a:avLst>
              <a:gd name="adj" fmla="val 2941"/>
            </a:avLst>
          </a:prstGeom>
          <a:solidFill>
            <a:srgbClr val="F9FBFA"/>
          </a:solidFill>
          <a:ln w="12700">
            <a:solidFill>
              <a:srgbClr val="D7E3DA"/>
            </a:solidFill>
            <a:prstDash val="solid"/>
          </a:ln>
        </p:spPr>
      </p:sp>
      <p:sp>
        <p:nvSpPr>
          <p:cNvPr id="26" name="Text 23"/>
          <p:cNvSpPr/>
          <p:nvPr/>
        </p:nvSpPr>
        <p:spPr>
          <a:xfrm>
            <a:off x="4690872" y="3392424"/>
            <a:ext cx="2825496"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27" name="Text 24"/>
          <p:cNvSpPr/>
          <p:nvPr/>
        </p:nvSpPr>
        <p:spPr>
          <a:xfrm>
            <a:off x="4690872" y="3657600"/>
            <a:ext cx="2825496" cy="1005840"/>
          </a:xfrm>
          <a:prstGeom prst="rect">
            <a:avLst/>
          </a:prstGeom>
          <a:noFill/>
          <a:ln/>
        </p:spPr>
        <p:txBody>
          <a:bodyPr wrap="square" lIns="0" tIns="0" rIns="0" bIns="0" rtlCol="0" anchor="ctr">
            <a:normAutofit/>
          </a:bodyPr>
          <a:lstStyle/>
          <a:p>
            <a:pPr indent="0" marL="0">
              <a:buNone/>
            </a:pPr>
            <a:r>
              <a:rPr lang="en-US" sz="820" b="1" dirty="0">
                <a:solidFill>
                  <a:srgbClr val="17312B"/>
                </a:solidFill>
              </a:rPr>
              <a:t>Form tạo listing: ảnh món ăn, số lượng, pickup window</a:t>
            </a:r>
            <a:endParaRPr lang="en-US" sz="820" dirty="0"/>
          </a:p>
        </p:txBody>
      </p:sp>
      <p:sp>
        <p:nvSpPr>
          <p:cNvPr id="28" name="Shape 25"/>
          <p:cNvSpPr/>
          <p:nvPr/>
        </p:nvSpPr>
        <p:spPr>
          <a:xfrm>
            <a:off x="8229600" y="3246120"/>
            <a:ext cx="3154680" cy="1554480"/>
          </a:xfrm>
          <a:prstGeom prst="roundRect">
            <a:avLst>
              <a:gd name="adj" fmla="val 2941"/>
            </a:avLst>
          </a:prstGeom>
          <a:solidFill>
            <a:srgbClr val="F9FBFA"/>
          </a:solidFill>
          <a:ln w="12700">
            <a:solidFill>
              <a:srgbClr val="D7E3DA"/>
            </a:solidFill>
            <a:prstDash val="solid"/>
          </a:ln>
        </p:spPr>
      </p:sp>
      <p:sp>
        <p:nvSpPr>
          <p:cNvPr id="29" name="Text 26"/>
          <p:cNvSpPr/>
          <p:nvPr/>
        </p:nvSpPr>
        <p:spPr>
          <a:xfrm>
            <a:off x="8394192" y="3392424"/>
            <a:ext cx="2825496"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30" name="Text 27"/>
          <p:cNvSpPr/>
          <p:nvPr/>
        </p:nvSpPr>
        <p:spPr>
          <a:xfrm>
            <a:off x="8394192" y="3657600"/>
            <a:ext cx="2825496" cy="1005840"/>
          </a:xfrm>
          <a:prstGeom prst="rect">
            <a:avLst/>
          </a:prstGeom>
          <a:noFill/>
          <a:ln/>
        </p:spPr>
        <p:txBody>
          <a:bodyPr wrap="square" lIns="0" tIns="0" rIns="0" bIns="0" rtlCol="0" anchor="ctr">
            <a:normAutofit/>
          </a:bodyPr>
          <a:lstStyle/>
          <a:p>
            <a:pPr indent="0" marL="0">
              <a:buNone/>
            </a:pPr>
            <a:r>
              <a:rPr lang="en-US" sz="820" b="1" dirty="0">
                <a:solidFill>
                  <a:srgbClr val="17312B"/>
                </a:solidFill>
              </a:rPr>
              <a:t>Provider ESG: food rescued kg, CO2 saved, trend chart</a:t>
            </a:r>
            <a:endParaRPr lang="en-US" sz="8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502920" y="475488"/>
            <a:ext cx="7772400" cy="502920"/>
          </a:xfrm>
          <a:prstGeom prst="rect">
            <a:avLst/>
          </a:prstGeom>
          <a:noFill/>
          <a:ln/>
        </p:spPr>
        <p:txBody>
          <a:bodyPr wrap="square" lIns="0" tIns="0" rIns="0" bIns="0" rtlCol="0" anchor="ctr"/>
          <a:lstStyle/>
          <a:p>
            <a:pPr indent="0" marL="0">
              <a:buNone/>
            </a:pPr>
            <a:r>
              <a:rPr lang="en-US" sz="2500" b="1" dirty="0">
                <a:solidFill>
                  <a:srgbClr val="17312B"/>
                </a:solidFill>
              </a:rPr>
              <a:t>Luồng giao hàng tình nguyện</a:t>
            </a:r>
            <a:endParaRPr lang="en-US" sz="2500" dirty="0"/>
          </a:p>
        </p:txBody>
      </p:sp>
      <p:sp>
        <p:nvSpPr>
          <p:cNvPr id="3" name="Text 1"/>
          <p:cNvSpPr/>
          <p:nvPr/>
        </p:nvSpPr>
        <p:spPr>
          <a:xfrm>
            <a:off x="502920" y="987552"/>
            <a:ext cx="8046720" cy="292608"/>
          </a:xfrm>
          <a:prstGeom prst="rect">
            <a:avLst/>
          </a:prstGeom>
          <a:noFill/>
          <a:ln/>
        </p:spPr>
        <p:txBody>
          <a:bodyPr wrap="square" lIns="0" tIns="0" rIns="0" bIns="0" rtlCol="0" anchor="ctr"/>
          <a:lstStyle/>
          <a:p>
            <a:pPr indent="0" marL="0">
              <a:buNone/>
            </a:pPr>
            <a:r>
              <a:rPr lang="en-US" sz="1050" dirty="0">
                <a:solidFill>
                  <a:srgbClr val="5D6A66"/>
                </a:solidFill>
              </a:rPr>
              <a:t>Hệ thống chọn shipper gần nhất, xử lý cạnh tranh offer và cập nhật realtime.</a:t>
            </a:r>
            <a:endParaRPr lang="en-US" sz="1050" dirty="0"/>
          </a:p>
        </p:txBody>
      </p:sp>
      <p:sp>
        <p:nvSpPr>
          <p:cNvPr id="4" name="Shape 2"/>
          <p:cNvSpPr/>
          <p:nvPr/>
        </p:nvSpPr>
        <p:spPr>
          <a:xfrm>
            <a:off x="502920" y="6446520"/>
            <a:ext cx="11173968" cy="0"/>
          </a:xfrm>
          <a:prstGeom prst="line">
            <a:avLst/>
          </a:prstGeom>
          <a:noFill/>
          <a:ln w="12700">
            <a:solidFill>
              <a:srgbClr val="D7E3DA"/>
            </a:solidFill>
            <a:prstDash val="solid"/>
          </a:ln>
        </p:spPr>
      </p:sp>
      <p:sp>
        <p:nvSpPr>
          <p:cNvPr id="5" name="Text 3"/>
          <p:cNvSpPr/>
          <p:nvPr/>
        </p:nvSpPr>
        <p:spPr>
          <a:xfrm>
            <a:off x="502920" y="6519672"/>
            <a:ext cx="4389120" cy="164592"/>
          </a:xfrm>
          <a:prstGeom prst="rect">
            <a:avLst/>
          </a:prstGeom>
          <a:noFill/>
          <a:ln/>
        </p:spPr>
        <p:txBody>
          <a:bodyPr wrap="square" lIns="0" tIns="0" rIns="0" bIns="0" rtlCol="0" anchor="ctr"/>
          <a:lstStyle/>
          <a:p>
            <a:pPr indent="0" marL="0">
              <a:buNone/>
            </a:pPr>
            <a:r>
              <a:rPr lang="en-US" sz="760" dirty="0">
                <a:solidFill>
                  <a:srgbClr val="5D6A66"/>
                </a:solidFill>
                <a:latin typeface="Aptos" pitchFamily="34" charset="0"/>
                <a:ea typeface="Aptos" pitchFamily="34" charset="-122"/>
                <a:cs typeface="Aptos" pitchFamily="34" charset="-120"/>
              </a:rPr>
              <a:t>FoodResQ | Capstone SP26SE088</a:t>
            </a:r>
            <a:endParaRPr lang="en-US" sz="760" dirty="0"/>
          </a:p>
        </p:txBody>
      </p:sp>
      <p:sp>
        <p:nvSpPr>
          <p:cNvPr id="6" name="Text 4"/>
          <p:cNvSpPr/>
          <p:nvPr/>
        </p:nvSpPr>
        <p:spPr>
          <a:xfrm>
            <a:off x="11192256" y="6492240"/>
            <a:ext cx="457200" cy="201168"/>
          </a:xfrm>
          <a:prstGeom prst="rect">
            <a:avLst/>
          </a:prstGeom>
          <a:noFill/>
          <a:ln/>
        </p:spPr>
        <p:txBody>
          <a:bodyPr wrap="square" lIns="0" tIns="0" rIns="0" bIns="0" rtlCol="0" anchor="ctr"/>
          <a:lstStyle/>
          <a:p>
            <a:pPr algn="r" indent="0" marL="0">
              <a:buNone/>
            </a:pPr>
            <a:r>
              <a:rPr lang="en-US" sz="800" b="1" dirty="0">
                <a:solidFill>
                  <a:srgbClr val="5D6A66"/>
                </a:solidFill>
              </a:rPr>
              <a:t>08</a:t>
            </a:r>
            <a:endParaRPr lang="en-US" sz="800" dirty="0"/>
          </a:p>
        </p:txBody>
      </p:sp>
      <p:pic>
        <p:nvPicPr>
          <p:cNvPr id="7" name="Image 0" descr="D:\Capstone_FoodResQ_Web\apps\web\public\Logo_FoodResQ.png">    </p:cNvPr>
          <p:cNvPicPr>
            <a:picLocks noChangeAspect="1"/>
          </p:cNvPicPr>
          <p:nvPr/>
        </p:nvPicPr>
        <p:blipFill>
          <a:blip r:embed="rId1"/>
          <a:stretch>
            <a:fillRect/>
          </a:stretch>
        </p:blipFill>
        <p:spPr>
          <a:xfrm>
            <a:off x="10652760" y="310896"/>
            <a:ext cx="960120" cy="420624"/>
          </a:xfrm>
          <a:prstGeom prst="rect">
            <a:avLst/>
          </a:prstGeom>
        </p:spPr>
      </p:pic>
      <p:sp>
        <p:nvSpPr>
          <p:cNvPr id="8" name="Shape 5"/>
          <p:cNvSpPr/>
          <p:nvPr/>
        </p:nvSpPr>
        <p:spPr>
          <a:xfrm>
            <a:off x="685800" y="1463040"/>
            <a:ext cx="2743200" cy="1325880"/>
          </a:xfrm>
          <a:prstGeom prst="roundRect">
            <a:avLst>
              <a:gd name="adj" fmla="val 4138"/>
            </a:avLst>
          </a:prstGeom>
          <a:solidFill>
            <a:srgbClr val="FFFFFF"/>
          </a:solidFill>
          <a:ln w="12700">
            <a:solidFill>
              <a:srgbClr val="D7E3DA"/>
            </a:solidFill>
            <a:prstDash val="solid"/>
          </a:ln>
        </p:spPr>
      </p:sp>
      <p:sp>
        <p:nvSpPr>
          <p:cNvPr id="9" name="Shape 6"/>
          <p:cNvSpPr/>
          <p:nvPr/>
        </p:nvSpPr>
        <p:spPr>
          <a:xfrm>
            <a:off x="685800" y="1463040"/>
            <a:ext cx="73152" cy="1325880"/>
          </a:xfrm>
          <a:prstGeom prst="rect">
            <a:avLst/>
          </a:prstGeom>
          <a:solidFill>
            <a:srgbClr val="2574A9"/>
          </a:solidFill>
          <a:ln w="12700">
            <a:solidFill>
              <a:srgbClr val="2574A9">
                <a:alpha val="0"/>
              </a:srgbClr>
            </a:solidFill>
            <a:prstDash val="solid"/>
          </a:ln>
        </p:spPr>
      </p:sp>
      <p:sp>
        <p:nvSpPr>
          <p:cNvPr id="10" name="Text 7"/>
          <p:cNvSpPr/>
          <p:nvPr/>
        </p:nvSpPr>
        <p:spPr>
          <a:xfrm>
            <a:off x="896112" y="1627632"/>
            <a:ext cx="2395728" cy="228600"/>
          </a:xfrm>
          <a:prstGeom prst="rect">
            <a:avLst/>
          </a:prstGeom>
          <a:noFill/>
          <a:ln/>
        </p:spPr>
        <p:txBody>
          <a:bodyPr wrap="square" lIns="0" tIns="0" rIns="0" bIns="0" rtlCol="0" anchor="ctr"/>
          <a:lstStyle/>
          <a:p>
            <a:pPr indent="0" marL="0">
              <a:buNone/>
            </a:pPr>
            <a:r>
              <a:rPr lang="en-US" sz="1150" b="1" dirty="0">
                <a:solidFill>
                  <a:srgbClr val="17312B"/>
                </a:solidFill>
              </a:rPr>
              <a:t>1. Tạo delivery</a:t>
            </a:r>
            <a:endParaRPr lang="en-US" sz="1150" dirty="0"/>
          </a:p>
        </p:txBody>
      </p:sp>
      <p:sp>
        <p:nvSpPr>
          <p:cNvPr id="11" name="Text 8"/>
          <p:cNvSpPr/>
          <p:nvPr/>
        </p:nvSpPr>
        <p:spPr>
          <a:xfrm>
            <a:off x="896112" y="1938528"/>
            <a:ext cx="2395728" cy="68580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Khi receiver chọn giao tận nơi, reservation tạo delivery pending_assignment.</a:t>
            </a:r>
            <a:endParaRPr lang="en-US" sz="870" dirty="0"/>
          </a:p>
        </p:txBody>
      </p:sp>
      <p:sp>
        <p:nvSpPr>
          <p:cNvPr id="12" name="Shape 9"/>
          <p:cNvSpPr/>
          <p:nvPr/>
        </p:nvSpPr>
        <p:spPr>
          <a:xfrm>
            <a:off x="3639312" y="1463040"/>
            <a:ext cx="2743200" cy="1325880"/>
          </a:xfrm>
          <a:prstGeom prst="roundRect">
            <a:avLst>
              <a:gd name="adj" fmla="val 4138"/>
            </a:avLst>
          </a:prstGeom>
          <a:solidFill>
            <a:srgbClr val="FFFFFF"/>
          </a:solidFill>
          <a:ln w="12700">
            <a:solidFill>
              <a:srgbClr val="D7E3DA"/>
            </a:solidFill>
            <a:prstDash val="solid"/>
          </a:ln>
        </p:spPr>
      </p:sp>
      <p:sp>
        <p:nvSpPr>
          <p:cNvPr id="13" name="Shape 10"/>
          <p:cNvSpPr/>
          <p:nvPr/>
        </p:nvSpPr>
        <p:spPr>
          <a:xfrm>
            <a:off x="3639312" y="1463040"/>
            <a:ext cx="73152" cy="1325880"/>
          </a:xfrm>
          <a:prstGeom prst="rect">
            <a:avLst/>
          </a:prstGeom>
          <a:solidFill>
            <a:srgbClr val="1F8A4C"/>
          </a:solidFill>
          <a:ln w="12700">
            <a:solidFill>
              <a:srgbClr val="1F8A4C">
                <a:alpha val="0"/>
              </a:srgbClr>
            </a:solidFill>
            <a:prstDash val="solid"/>
          </a:ln>
        </p:spPr>
      </p:sp>
      <p:sp>
        <p:nvSpPr>
          <p:cNvPr id="14" name="Text 11"/>
          <p:cNvSpPr/>
          <p:nvPr/>
        </p:nvSpPr>
        <p:spPr>
          <a:xfrm>
            <a:off x="3849624" y="1627632"/>
            <a:ext cx="2395728" cy="228600"/>
          </a:xfrm>
          <a:prstGeom prst="rect">
            <a:avLst/>
          </a:prstGeom>
          <a:noFill/>
          <a:ln/>
        </p:spPr>
        <p:txBody>
          <a:bodyPr wrap="square" lIns="0" tIns="0" rIns="0" bIns="0" rtlCol="0" anchor="ctr"/>
          <a:lstStyle/>
          <a:p>
            <a:pPr indent="0" marL="0">
              <a:buNone/>
            </a:pPr>
            <a:r>
              <a:rPr lang="en-US" sz="1150" b="1" dirty="0">
                <a:solidFill>
                  <a:srgbClr val="17312B"/>
                </a:solidFill>
              </a:rPr>
              <a:t>2. Broadcast offer</a:t>
            </a:r>
            <a:endParaRPr lang="en-US" sz="1150" dirty="0"/>
          </a:p>
        </p:txBody>
      </p:sp>
      <p:sp>
        <p:nvSpPr>
          <p:cNvPr id="15" name="Text 12"/>
          <p:cNvSpPr/>
          <p:nvPr/>
        </p:nvSpPr>
        <p:spPr>
          <a:xfrm>
            <a:off x="3849624" y="1938528"/>
            <a:ext cx="2395728" cy="68580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Tìm 5 shipper gần nhất bằng PostGIS, mỗi offer hết hạn sau 2 phút.</a:t>
            </a:r>
            <a:endParaRPr lang="en-US" sz="870" dirty="0"/>
          </a:p>
        </p:txBody>
      </p:sp>
      <p:sp>
        <p:nvSpPr>
          <p:cNvPr id="16" name="Shape 13"/>
          <p:cNvSpPr/>
          <p:nvPr/>
        </p:nvSpPr>
        <p:spPr>
          <a:xfrm>
            <a:off x="6583680" y="1463040"/>
            <a:ext cx="2743200" cy="1325880"/>
          </a:xfrm>
          <a:prstGeom prst="roundRect">
            <a:avLst>
              <a:gd name="adj" fmla="val 4138"/>
            </a:avLst>
          </a:prstGeom>
          <a:solidFill>
            <a:srgbClr val="FFFFFF"/>
          </a:solidFill>
          <a:ln w="12700">
            <a:solidFill>
              <a:srgbClr val="D7E3DA"/>
            </a:solidFill>
            <a:prstDash val="solid"/>
          </a:ln>
        </p:spPr>
      </p:sp>
      <p:sp>
        <p:nvSpPr>
          <p:cNvPr id="17" name="Shape 14"/>
          <p:cNvSpPr/>
          <p:nvPr/>
        </p:nvSpPr>
        <p:spPr>
          <a:xfrm>
            <a:off x="6583680" y="1463040"/>
            <a:ext cx="73152" cy="1325880"/>
          </a:xfrm>
          <a:prstGeom prst="rect">
            <a:avLst/>
          </a:prstGeom>
          <a:solidFill>
            <a:srgbClr val="F28C38"/>
          </a:solidFill>
          <a:ln w="12700">
            <a:solidFill>
              <a:srgbClr val="F28C38">
                <a:alpha val="0"/>
              </a:srgbClr>
            </a:solidFill>
            <a:prstDash val="solid"/>
          </a:ln>
        </p:spPr>
      </p:sp>
      <p:sp>
        <p:nvSpPr>
          <p:cNvPr id="18" name="Text 15"/>
          <p:cNvSpPr/>
          <p:nvPr/>
        </p:nvSpPr>
        <p:spPr>
          <a:xfrm>
            <a:off x="6793992" y="1627632"/>
            <a:ext cx="2395728" cy="228600"/>
          </a:xfrm>
          <a:prstGeom prst="rect">
            <a:avLst/>
          </a:prstGeom>
          <a:noFill/>
          <a:ln/>
        </p:spPr>
        <p:txBody>
          <a:bodyPr wrap="square" lIns="0" tIns="0" rIns="0" bIns="0" rtlCol="0" anchor="ctr"/>
          <a:lstStyle/>
          <a:p>
            <a:pPr indent="0" marL="0">
              <a:buNone/>
            </a:pPr>
            <a:r>
              <a:rPr lang="en-US" sz="1150" b="1" dirty="0">
                <a:solidFill>
                  <a:srgbClr val="17312B"/>
                </a:solidFill>
              </a:rPr>
              <a:t>3. First accept wins</a:t>
            </a:r>
            <a:endParaRPr lang="en-US" sz="1150" dirty="0"/>
          </a:p>
        </p:txBody>
      </p:sp>
      <p:sp>
        <p:nvSpPr>
          <p:cNvPr id="19" name="Text 16"/>
          <p:cNvSpPr/>
          <p:nvPr/>
        </p:nvSpPr>
        <p:spPr>
          <a:xfrm>
            <a:off x="6793992" y="1938528"/>
            <a:ext cx="2395728" cy="68580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Shipper đầu tiên accept sẽ được gán; các offer còn lại expired.</a:t>
            </a:r>
            <a:endParaRPr lang="en-US" sz="870" dirty="0"/>
          </a:p>
        </p:txBody>
      </p:sp>
      <p:sp>
        <p:nvSpPr>
          <p:cNvPr id="20" name="Shape 17"/>
          <p:cNvSpPr/>
          <p:nvPr/>
        </p:nvSpPr>
        <p:spPr>
          <a:xfrm>
            <a:off x="9528048" y="1463040"/>
            <a:ext cx="1965960" cy="1325880"/>
          </a:xfrm>
          <a:prstGeom prst="roundRect">
            <a:avLst>
              <a:gd name="adj" fmla="val 4138"/>
            </a:avLst>
          </a:prstGeom>
          <a:solidFill>
            <a:srgbClr val="FFFFFF"/>
          </a:solidFill>
          <a:ln w="12700">
            <a:solidFill>
              <a:srgbClr val="D7E3DA"/>
            </a:solidFill>
            <a:prstDash val="solid"/>
          </a:ln>
        </p:spPr>
      </p:sp>
      <p:sp>
        <p:nvSpPr>
          <p:cNvPr id="21" name="Shape 18"/>
          <p:cNvSpPr/>
          <p:nvPr/>
        </p:nvSpPr>
        <p:spPr>
          <a:xfrm>
            <a:off x="9528048" y="1463040"/>
            <a:ext cx="73152" cy="1325880"/>
          </a:xfrm>
          <a:prstGeom prst="rect">
            <a:avLst/>
          </a:prstGeom>
          <a:solidFill>
            <a:srgbClr val="72B16A"/>
          </a:solidFill>
          <a:ln w="12700">
            <a:solidFill>
              <a:srgbClr val="72B16A">
                <a:alpha val="0"/>
              </a:srgbClr>
            </a:solidFill>
            <a:prstDash val="solid"/>
          </a:ln>
        </p:spPr>
      </p:sp>
      <p:sp>
        <p:nvSpPr>
          <p:cNvPr id="22" name="Text 19"/>
          <p:cNvSpPr/>
          <p:nvPr/>
        </p:nvSpPr>
        <p:spPr>
          <a:xfrm>
            <a:off x="9738360" y="1627632"/>
            <a:ext cx="1618488" cy="228600"/>
          </a:xfrm>
          <a:prstGeom prst="rect">
            <a:avLst/>
          </a:prstGeom>
          <a:noFill/>
          <a:ln/>
        </p:spPr>
        <p:txBody>
          <a:bodyPr wrap="square" lIns="0" tIns="0" rIns="0" bIns="0" rtlCol="0" anchor="ctr"/>
          <a:lstStyle/>
          <a:p>
            <a:pPr indent="0" marL="0">
              <a:buNone/>
            </a:pPr>
            <a:r>
              <a:rPr lang="en-US" sz="1150" b="1" dirty="0">
                <a:solidFill>
                  <a:srgbClr val="17312B"/>
                </a:solidFill>
              </a:rPr>
              <a:t>4. Tracking</a:t>
            </a:r>
            <a:endParaRPr lang="en-US" sz="1150" dirty="0"/>
          </a:p>
        </p:txBody>
      </p:sp>
      <p:sp>
        <p:nvSpPr>
          <p:cNvPr id="23" name="Text 20"/>
          <p:cNvSpPr/>
          <p:nvPr/>
        </p:nvSpPr>
        <p:spPr>
          <a:xfrm>
            <a:off x="9738360" y="1938528"/>
            <a:ext cx="1618488" cy="68580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Cập nhật vị trí và trạng thái qua WebSocket.</a:t>
            </a:r>
            <a:endParaRPr lang="en-US" sz="870" dirty="0"/>
          </a:p>
        </p:txBody>
      </p:sp>
      <p:pic>
        <p:nvPicPr>
          <p:cNvPr id="24" name="Image 1" descr="D:\Capstone_FoodResQ_Web\apps\web\public\giaohang_TC.png">    </p:cNvPr>
          <p:cNvPicPr>
            <a:picLocks noChangeAspect="1"/>
          </p:cNvPicPr>
          <p:nvPr/>
        </p:nvPicPr>
        <p:blipFill>
          <a:blip r:embed="rId2"/>
          <a:stretch>
            <a:fillRect/>
          </a:stretch>
        </p:blipFill>
        <p:spPr>
          <a:xfrm>
            <a:off x="804672" y="3246120"/>
            <a:ext cx="2103120" cy="1463040"/>
          </a:xfrm>
          <a:prstGeom prst="rect">
            <a:avLst/>
          </a:prstGeom>
        </p:spPr>
      </p:pic>
      <p:sp>
        <p:nvSpPr>
          <p:cNvPr id="25" name="Shape 21"/>
          <p:cNvSpPr/>
          <p:nvPr/>
        </p:nvSpPr>
        <p:spPr>
          <a:xfrm>
            <a:off x="804672" y="4379976"/>
            <a:ext cx="2103120" cy="329184"/>
          </a:xfrm>
          <a:prstGeom prst="rect">
            <a:avLst/>
          </a:prstGeom>
          <a:solidFill>
            <a:srgbClr val="17312B">
              <a:alpha val="92000"/>
            </a:srgbClr>
          </a:solidFill>
          <a:ln w="12700">
            <a:solidFill>
              <a:srgbClr val="17312B">
                <a:alpha val="0"/>
              </a:srgbClr>
            </a:solidFill>
            <a:prstDash val="solid"/>
          </a:ln>
        </p:spPr>
      </p:sp>
      <p:sp>
        <p:nvSpPr>
          <p:cNvPr id="26" name="Text 22"/>
          <p:cNvSpPr/>
          <p:nvPr/>
        </p:nvSpPr>
        <p:spPr>
          <a:xfrm>
            <a:off x="932688" y="4471416"/>
            <a:ext cx="1847088" cy="128016"/>
          </a:xfrm>
          <a:prstGeom prst="rect">
            <a:avLst/>
          </a:prstGeom>
          <a:noFill/>
          <a:ln/>
        </p:spPr>
        <p:txBody>
          <a:bodyPr wrap="square" lIns="0" tIns="0" rIns="0" bIns="0" rtlCol="0" anchor="ctr"/>
          <a:lstStyle/>
          <a:p>
            <a:pPr indent="0" marL="0">
              <a:buNone/>
            </a:pPr>
            <a:r>
              <a:rPr lang="en-US" sz="720" b="1" dirty="0">
                <a:solidFill>
                  <a:srgbClr val="FFFFFF"/>
                </a:solidFill>
              </a:rPr>
              <a:t>Giao hàng</a:t>
            </a:r>
            <a:endParaRPr lang="en-US" sz="720" dirty="0"/>
          </a:p>
        </p:txBody>
      </p:sp>
      <p:sp>
        <p:nvSpPr>
          <p:cNvPr id="27" name="Shape 23"/>
          <p:cNvSpPr/>
          <p:nvPr/>
        </p:nvSpPr>
        <p:spPr>
          <a:xfrm>
            <a:off x="3383280" y="3136392"/>
            <a:ext cx="2240280" cy="1691640"/>
          </a:xfrm>
          <a:prstGeom prst="roundRect">
            <a:avLst>
              <a:gd name="adj" fmla="val 2703"/>
            </a:avLst>
          </a:prstGeom>
          <a:solidFill>
            <a:srgbClr val="F9FBFA"/>
          </a:solidFill>
          <a:ln w="12700">
            <a:solidFill>
              <a:srgbClr val="D7E3DA"/>
            </a:solidFill>
            <a:prstDash val="solid"/>
          </a:ln>
        </p:spPr>
      </p:sp>
      <p:sp>
        <p:nvSpPr>
          <p:cNvPr id="28" name="Text 24"/>
          <p:cNvSpPr/>
          <p:nvPr/>
        </p:nvSpPr>
        <p:spPr>
          <a:xfrm>
            <a:off x="3547872" y="3282696"/>
            <a:ext cx="1911096"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29" name="Text 25"/>
          <p:cNvSpPr/>
          <p:nvPr/>
        </p:nvSpPr>
        <p:spPr>
          <a:xfrm>
            <a:off x="3547872" y="3547872"/>
            <a:ext cx="1911096" cy="1143000"/>
          </a:xfrm>
          <a:prstGeom prst="rect">
            <a:avLst/>
          </a:prstGeom>
          <a:noFill/>
          <a:ln/>
        </p:spPr>
        <p:txBody>
          <a:bodyPr wrap="square" lIns="0" tIns="0" rIns="0" bIns="0" rtlCol="0" anchor="ctr">
            <a:normAutofit/>
          </a:bodyPr>
          <a:lstStyle/>
          <a:p>
            <a:pPr indent="0" marL="0">
              <a:buNone/>
            </a:pPr>
            <a:r>
              <a:rPr lang="en-US" sz="820" b="1" dirty="0">
                <a:solidFill>
                  <a:srgbClr val="17312B"/>
                </a:solidFill>
              </a:rPr>
              <a:t>Volunteer offers: danh sách đơn gần mình</a:t>
            </a:r>
            <a:endParaRPr lang="en-US" sz="820" dirty="0"/>
          </a:p>
        </p:txBody>
      </p:sp>
      <p:sp>
        <p:nvSpPr>
          <p:cNvPr id="30" name="Shape 26"/>
          <p:cNvSpPr/>
          <p:nvPr/>
        </p:nvSpPr>
        <p:spPr>
          <a:xfrm>
            <a:off x="5989320" y="3136392"/>
            <a:ext cx="2240280" cy="1691640"/>
          </a:xfrm>
          <a:prstGeom prst="roundRect">
            <a:avLst>
              <a:gd name="adj" fmla="val 2703"/>
            </a:avLst>
          </a:prstGeom>
          <a:solidFill>
            <a:srgbClr val="F9FBFA"/>
          </a:solidFill>
          <a:ln w="12700">
            <a:solidFill>
              <a:srgbClr val="D7E3DA"/>
            </a:solidFill>
            <a:prstDash val="solid"/>
          </a:ln>
        </p:spPr>
      </p:sp>
      <p:sp>
        <p:nvSpPr>
          <p:cNvPr id="31" name="Text 27"/>
          <p:cNvSpPr/>
          <p:nvPr/>
        </p:nvSpPr>
        <p:spPr>
          <a:xfrm>
            <a:off x="6153912" y="3282696"/>
            <a:ext cx="1911096"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32" name="Text 28"/>
          <p:cNvSpPr/>
          <p:nvPr/>
        </p:nvSpPr>
        <p:spPr>
          <a:xfrm>
            <a:off x="6153912" y="3547872"/>
            <a:ext cx="1911096" cy="1143000"/>
          </a:xfrm>
          <a:prstGeom prst="rect">
            <a:avLst/>
          </a:prstGeom>
          <a:noFill/>
          <a:ln/>
        </p:spPr>
        <p:txBody>
          <a:bodyPr wrap="square" lIns="0" tIns="0" rIns="0" bIns="0" rtlCol="0" anchor="ctr">
            <a:normAutofit/>
          </a:bodyPr>
          <a:lstStyle/>
          <a:p>
            <a:pPr indent="0" marL="0">
              <a:buNone/>
            </a:pPr>
            <a:r>
              <a:rPr lang="en-US" sz="820" b="1" dirty="0">
                <a:solidFill>
                  <a:srgbClr val="17312B"/>
                </a:solidFill>
              </a:rPr>
              <a:t>Delivery detail: pickup, route, status update</a:t>
            </a:r>
            <a:endParaRPr lang="en-US" sz="820" dirty="0"/>
          </a:p>
        </p:txBody>
      </p:sp>
      <p:sp>
        <p:nvSpPr>
          <p:cNvPr id="33" name="Shape 29"/>
          <p:cNvSpPr/>
          <p:nvPr/>
        </p:nvSpPr>
        <p:spPr>
          <a:xfrm>
            <a:off x="8595360" y="3136392"/>
            <a:ext cx="2240280" cy="1691640"/>
          </a:xfrm>
          <a:prstGeom prst="roundRect">
            <a:avLst>
              <a:gd name="adj" fmla="val 2703"/>
            </a:avLst>
          </a:prstGeom>
          <a:solidFill>
            <a:srgbClr val="F9FBFA"/>
          </a:solidFill>
          <a:ln w="12700">
            <a:solidFill>
              <a:srgbClr val="D7E3DA"/>
            </a:solidFill>
            <a:prstDash val="solid"/>
          </a:ln>
        </p:spPr>
      </p:sp>
      <p:sp>
        <p:nvSpPr>
          <p:cNvPr id="34" name="Text 30"/>
          <p:cNvSpPr/>
          <p:nvPr/>
        </p:nvSpPr>
        <p:spPr>
          <a:xfrm>
            <a:off x="8759952" y="3282696"/>
            <a:ext cx="1911096"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35" name="Text 31"/>
          <p:cNvSpPr/>
          <p:nvPr/>
        </p:nvSpPr>
        <p:spPr>
          <a:xfrm>
            <a:off x="8759952" y="3547872"/>
            <a:ext cx="1911096" cy="1143000"/>
          </a:xfrm>
          <a:prstGeom prst="rect">
            <a:avLst/>
          </a:prstGeom>
          <a:noFill/>
          <a:ln/>
        </p:spPr>
        <p:txBody>
          <a:bodyPr wrap="square" lIns="0" tIns="0" rIns="0" bIns="0" rtlCol="0" anchor="ctr">
            <a:normAutofit/>
          </a:bodyPr>
          <a:lstStyle/>
          <a:p>
            <a:pPr indent="0" marL="0">
              <a:buNone/>
            </a:pPr>
            <a:r>
              <a:rPr lang="en-US" sz="820" b="1" dirty="0">
                <a:solidFill>
                  <a:srgbClr val="17312B"/>
                </a:solidFill>
              </a:rPr>
              <a:t>Receiver tracking map + trạng thái shipper</a:t>
            </a:r>
            <a:endParaRPr lang="en-US" sz="8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502920" y="475488"/>
            <a:ext cx="7772400" cy="502920"/>
          </a:xfrm>
          <a:prstGeom prst="rect">
            <a:avLst/>
          </a:prstGeom>
          <a:noFill/>
          <a:ln/>
        </p:spPr>
        <p:txBody>
          <a:bodyPr wrap="square" lIns="0" tIns="0" rIns="0" bIns="0" rtlCol="0" anchor="ctr"/>
          <a:lstStyle/>
          <a:p>
            <a:pPr indent="0" marL="0">
              <a:buNone/>
            </a:pPr>
            <a:r>
              <a:rPr lang="en-US" sz="2500" b="1" dirty="0">
                <a:solidFill>
                  <a:srgbClr val="17312B"/>
                </a:solidFill>
              </a:rPr>
              <a:t>Luồng chiến dịch bếp từ thiện</a:t>
            </a:r>
            <a:endParaRPr lang="en-US" sz="2500" dirty="0"/>
          </a:p>
        </p:txBody>
      </p:sp>
      <p:sp>
        <p:nvSpPr>
          <p:cNvPr id="3" name="Text 1"/>
          <p:cNvSpPr/>
          <p:nvPr/>
        </p:nvSpPr>
        <p:spPr>
          <a:xfrm>
            <a:off x="502920" y="987552"/>
            <a:ext cx="8046720" cy="292608"/>
          </a:xfrm>
          <a:prstGeom prst="rect">
            <a:avLst/>
          </a:prstGeom>
          <a:noFill/>
          <a:ln/>
        </p:spPr>
        <p:txBody>
          <a:bodyPr wrap="square" lIns="0" tIns="0" rIns="0" bIns="0" rtlCol="0" anchor="ctr"/>
          <a:lstStyle/>
          <a:p>
            <a:pPr indent="0" marL="0">
              <a:buNone/>
            </a:pPr>
            <a:r>
              <a:rPr lang="en-US" sz="1050" dirty="0">
                <a:solidFill>
                  <a:srgbClr val="5D6A66"/>
                </a:solidFill>
              </a:rPr>
              <a:t>Mở rộng từ chia sẻ đồ ăn lẻ sang vận hành bếp, ca làm và phân phối suất ăn.</a:t>
            </a:r>
            <a:endParaRPr lang="en-US" sz="1050" dirty="0"/>
          </a:p>
        </p:txBody>
      </p:sp>
      <p:sp>
        <p:nvSpPr>
          <p:cNvPr id="4" name="Shape 2"/>
          <p:cNvSpPr/>
          <p:nvPr/>
        </p:nvSpPr>
        <p:spPr>
          <a:xfrm>
            <a:off x="502920" y="6446520"/>
            <a:ext cx="11173968" cy="0"/>
          </a:xfrm>
          <a:prstGeom prst="line">
            <a:avLst/>
          </a:prstGeom>
          <a:noFill/>
          <a:ln w="12700">
            <a:solidFill>
              <a:srgbClr val="D7E3DA"/>
            </a:solidFill>
            <a:prstDash val="solid"/>
          </a:ln>
        </p:spPr>
      </p:sp>
      <p:sp>
        <p:nvSpPr>
          <p:cNvPr id="5" name="Text 3"/>
          <p:cNvSpPr/>
          <p:nvPr/>
        </p:nvSpPr>
        <p:spPr>
          <a:xfrm>
            <a:off x="502920" y="6519672"/>
            <a:ext cx="4389120" cy="164592"/>
          </a:xfrm>
          <a:prstGeom prst="rect">
            <a:avLst/>
          </a:prstGeom>
          <a:noFill/>
          <a:ln/>
        </p:spPr>
        <p:txBody>
          <a:bodyPr wrap="square" lIns="0" tIns="0" rIns="0" bIns="0" rtlCol="0" anchor="ctr"/>
          <a:lstStyle/>
          <a:p>
            <a:pPr indent="0" marL="0">
              <a:buNone/>
            </a:pPr>
            <a:r>
              <a:rPr lang="en-US" sz="760" dirty="0">
                <a:solidFill>
                  <a:srgbClr val="5D6A66"/>
                </a:solidFill>
                <a:latin typeface="Aptos" pitchFamily="34" charset="0"/>
                <a:ea typeface="Aptos" pitchFamily="34" charset="-122"/>
                <a:cs typeface="Aptos" pitchFamily="34" charset="-120"/>
              </a:rPr>
              <a:t>FoodResQ | Capstone SP26SE088</a:t>
            </a:r>
            <a:endParaRPr lang="en-US" sz="760" dirty="0"/>
          </a:p>
        </p:txBody>
      </p:sp>
      <p:sp>
        <p:nvSpPr>
          <p:cNvPr id="6" name="Text 4"/>
          <p:cNvSpPr/>
          <p:nvPr/>
        </p:nvSpPr>
        <p:spPr>
          <a:xfrm>
            <a:off x="11192256" y="6492240"/>
            <a:ext cx="457200" cy="201168"/>
          </a:xfrm>
          <a:prstGeom prst="rect">
            <a:avLst/>
          </a:prstGeom>
          <a:noFill/>
          <a:ln/>
        </p:spPr>
        <p:txBody>
          <a:bodyPr wrap="square" lIns="0" tIns="0" rIns="0" bIns="0" rtlCol="0" anchor="ctr"/>
          <a:lstStyle/>
          <a:p>
            <a:pPr algn="r" indent="0" marL="0">
              <a:buNone/>
            </a:pPr>
            <a:r>
              <a:rPr lang="en-US" sz="800" b="1" dirty="0">
                <a:solidFill>
                  <a:srgbClr val="5D6A66"/>
                </a:solidFill>
              </a:rPr>
              <a:t>09</a:t>
            </a:r>
            <a:endParaRPr lang="en-US" sz="800" dirty="0"/>
          </a:p>
        </p:txBody>
      </p:sp>
      <p:pic>
        <p:nvPicPr>
          <p:cNvPr id="7" name="Image 0" descr="D:\Capstone_FoodResQ_Web\apps\web\public\Logo_FoodResQ.png">    </p:cNvPr>
          <p:cNvPicPr>
            <a:picLocks noChangeAspect="1"/>
          </p:cNvPicPr>
          <p:nvPr/>
        </p:nvPicPr>
        <p:blipFill>
          <a:blip r:embed="rId1"/>
          <a:stretch>
            <a:fillRect/>
          </a:stretch>
        </p:blipFill>
        <p:spPr>
          <a:xfrm>
            <a:off x="10652760" y="310896"/>
            <a:ext cx="960120" cy="420624"/>
          </a:xfrm>
          <a:prstGeom prst="rect">
            <a:avLst/>
          </a:prstGeom>
        </p:spPr>
      </p:pic>
      <p:sp>
        <p:nvSpPr>
          <p:cNvPr id="8" name="Shape 5"/>
          <p:cNvSpPr/>
          <p:nvPr/>
        </p:nvSpPr>
        <p:spPr>
          <a:xfrm>
            <a:off x="685800" y="1536192"/>
            <a:ext cx="1325880" cy="713232"/>
          </a:xfrm>
          <a:prstGeom prst="roundRect">
            <a:avLst>
              <a:gd name="adj" fmla="val 6410"/>
            </a:avLst>
          </a:prstGeom>
          <a:solidFill>
            <a:srgbClr val="EAF6ED"/>
          </a:solidFill>
          <a:ln w="12700">
            <a:solidFill>
              <a:srgbClr val="D7E3DA"/>
            </a:solidFill>
            <a:prstDash val="solid"/>
          </a:ln>
        </p:spPr>
      </p:sp>
      <p:sp>
        <p:nvSpPr>
          <p:cNvPr id="9" name="Text 6"/>
          <p:cNvSpPr/>
          <p:nvPr/>
        </p:nvSpPr>
        <p:spPr>
          <a:xfrm>
            <a:off x="758952" y="1645920"/>
            <a:ext cx="1179576" cy="512064"/>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Charity tạo</a:t>
            </a:r>
            <a:endParaRPr lang="en-US" sz="840" dirty="0"/>
          </a:p>
          <a:p>
            <a:pPr algn="ctr" indent="0" marL="0">
              <a:buNone/>
            </a:pPr>
            <a:r>
              <a:rPr lang="en-US" sz="840" b="1" dirty="0">
                <a:solidFill>
                  <a:srgbClr val="17312B"/>
                </a:solidFill>
              </a:rPr>
              <a:t>campaign</a:t>
            </a:r>
            <a:endParaRPr lang="en-US" sz="840" dirty="0"/>
          </a:p>
        </p:txBody>
      </p:sp>
      <p:sp>
        <p:nvSpPr>
          <p:cNvPr id="10" name="Shape 7"/>
          <p:cNvSpPr/>
          <p:nvPr/>
        </p:nvSpPr>
        <p:spPr>
          <a:xfrm>
            <a:off x="2167128" y="1737360"/>
            <a:ext cx="384048" cy="237744"/>
          </a:xfrm>
          <a:prstGeom prst="rightArrow">
            <a:avLst/>
          </a:prstGeom>
          <a:solidFill>
            <a:srgbClr val="1F8A4C"/>
          </a:solidFill>
          <a:ln w="12700">
            <a:solidFill>
              <a:srgbClr val="1F8A4C">
                <a:alpha val="0"/>
              </a:srgbClr>
            </a:solidFill>
            <a:prstDash val="solid"/>
          </a:ln>
        </p:spPr>
      </p:sp>
      <p:sp>
        <p:nvSpPr>
          <p:cNvPr id="11" name="Shape 8"/>
          <p:cNvSpPr/>
          <p:nvPr/>
        </p:nvSpPr>
        <p:spPr>
          <a:xfrm>
            <a:off x="2697480" y="1536192"/>
            <a:ext cx="1691640" cy="713232"/>
          </a:xfrm>
          <a:prstGeom prst="roundRect">
            <a:avLst>
              <a:gd name="adj" fmla="val 6410"/>
            </a:avLst>
          </a:prstGeom>
          <a:solidFill>
            <a:srgbClr val="EEF6FF"/>
          </a:solidFill>
          <a:ln w="12700">
            <a:solidFill>
              <a:srgbClr val="D7E3DA"/>
            </a:solidFill>
            <a:prstDash val="solid"/>
          </a:ln>
        </p:spPr>
      </p:sp>
      <p:sp>
        <p:nvSpPr>
          <p:cNvPr id="12" name="Text 9"/>
          <p:cNvSpPr/>
          <p:nvPr/>
        </p:nvSpPr>
        <p:spPr>
          <a:xfrm>
            <a:off x="2770632" y="1645920"/>
            <a:ext cx="1545336" cy="512064"/>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Mở slot</a:t>
            </a:r>
            <a:endParaRPr lang="en-US" sz="840" dirty="0"/>
          </a:p>
          <a:p>
            <a:pPr algn="ctr" indent="0" marL="0">
              <a:buNone/>
            </a:pPr>
            <a:r>
              <a:rPr lang="en-US" sz="840" b="1" dirty="0">
                <a:solidFill>
                  <a:srgbClr val="17312B"/>
                </a:solidFill>
              </a:rPr>
              <a:t>chef/waiter/shipper</a:t>
            </a:r>
            <a:endParaRPr lang="en-US" sz="840" dirty="0"/>
          </a:p>
        </p:txBody>
      </p:sp>
      <p:sp>
        <p:nvSpPr>
          <p:cNvPr id="13" name="Shape 10"/>
          <p:cNvSpPr/>
          <p:nvPr/>
        </p:nvSpPr>
        <p:spPr>
          <a:xfrm>
            <a:off x="4544568" y="1737360"/>
            <a:ext cx="384048" cy="237744"/>
          </a:xfrm>
          <a:prstGeom prst="rightArrow">
            <a:avLst/>
          </a:prstGeom>
          <a:solidFill>
            <a:srgbClr val="1F8A4C"/>
          </a:solidFill>
          <a:ln w="12700">
            <a:solidFill>
              <a:srgbClr val="1F8A4C">
                <a:alpha val="0"/>
              </a:srgbClr>
            </a:solidFill>
            <a:prstDash val="solid"/>
          </a:ln>
        </p:spPr>
      </p:sp>
      <p:sp>
        <p:nvSpPr>
          <p:cNvPr id="14" name="Shape 11"/>
          <p:cNvSpPr/>
          <p:nvPr/>
        </p:nvSpPr>
        <p:spPr>
          <a:xfrm>
            <a:off x="5074920" y="1536192"/>
            <a:ext cx="1600200" cy="713232"/>
          </a:xfrm>
          <a:prstGeom prst="roundRect">
            <a:avLst>
              <a:gd name="adj" fmla="val 6410"/>
            </a:avLst>
          </a:prstGeom>
          <a:solidFill>
            <a:srgbClr val="FFF4E8"/>
          </a:solidFill>
          <a:ln w="12700">
            <a:solidFill>
              <a:srgbClr val="D7E3DA"/>
            </a:solidFill>
            <a:prstDash val="solid"/>
          </a:ln>
        </p:spPr>
      </p:sp>
      <p:sp>
        <p:nvSpPr>
          <p:cNvPr id="15" name="Text 12"/>
          <p:cNvSpPr/>
          <p:nvPr/>
        </p:nvSpPr>
        <p:spPr>
          <a:xfrm>
            <a:off x="5148072" y="1645920"/>
            <a:ext cx="1453896" cy="512064"/>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Provider donation</a:t>
            </a:r>
            <a:endParaRPr lang="en-US" sz="840" dirty="0"/>
          </a:p>
          <a:p>
            <a:pPr algn="ctr" indent="0" marL="0">
              <a:buNone/>
            </a:pPr>
            <a:r>
              <a:rPr lang="en-US" sz="840" b="1" dirty="0">
                <a:solidFill>
                  <a:srgbClr val="17312B"/>
                </a:solidFill>
              </a:rPr>
              <a:t>nguyên liệu</a:t>
            </a:r>
            <a:endParaRPr lang="en-US" sz="840" dirty="0"/>
          </a:p>
        </p:txBody>
      </p:sp>
      <p:sp>
        <p:nvSpPr>
          <p:cNvPr id="16" name="Shape 13"/>
          <p:cNvSpPr/>
          <p:nvPr/>
        </p:nvSpPr>
        <p:spPr>
          <a:xfrm>
            <a:off x="6830568" y="1737360"/>
            <a:ext cx="384048" cy="237744"/>
          </a:xfrm>
          <a:prstGeom prst="rightArrow">
            <a:avLst/>
          </a:prstGeom>
          <a:solidFill>
            <a:srgbClr val="1F8A4C"/>
          </a:solidFill>
          <a:ln w="12700">
            <a:solidFill>
              <a:srgbClr val="1F8A4C">
                <a:alpha val="0"/>
              </a:srgbClr>
            </a:solidFill>
            <a:prstDash val="solid"/>
          </a:ln>
        </p:spPr>
      </p:sp>
      <p:sp>
        <p:nvSpPr>
          <p:cNvPr id="17" name="Shape 14"/>
          <p:cNvSpPr/>
          <p:nvPr/>
        </p:nvSpPr>
        <p:spPr>
          <a:xfrm>
            <a:off x="7360920" y="1536192"/>
            <a:ext cx="1600200" cy="713232"/>
          </a:xfrm>
          <a:prstGeom prst="roundRect">
            <a:avLst>
              <a:gd name="adj" fmla="val 6410"/>
            </a:avLst>
          </a:prstGeom>
          <a:solidFill>
            <a:srgbClr val="EAF6ED"/>
          </a:solidFill>
          <a:ln w="12700">
            <a:solidFill>
              <a:srgbClr val="D7E3DA"/>
            </a:solidFill>
            <a:prstDash val="solid"/>
          </a:ln>
        </p:spPr>
      </p:sp>
      <p:sp>
        <p:nvSpPr>
          <p:cNvPr id="18" name="Text 15"/>
          <p:cNvSpPr/>
          <p:nvPr/>
        </p:nvSpPr>
        <p:spPr>
          <a:xfrm>
            <a:off x="7434072" y="1645920"/>
            <a:ext cx="1453896" cy="512064"/>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Kitchen ops</a:t>
            </a:r>
            <a:endParaRPr lang="en-US" sz="840" dirty="0"/>
          </a:p>
          <a:p>
            <a:pPr algn="ctr" indent="0" marL="0">
              <a:buNone/>
            </a:pPr>
            <a:r>
              <a:rPr lang="en-US" sz="840" b="1" dirty="0">
                <a:solidFill>
                  <a:srgbClr val="17312B"/>
                </a:solidFill>
              </a:rPr>
              <a:t>menu, safety log</a:t>
            </a:r>
            <a:endParaRPr lang="en-US" sz="840" dirty="0"/>
          </a:p>
        </p:txBody>
      </p:sp>
      <p:sp>
        <p:nvSpPr>
          <p:cNvPr id="19" name="Shape 16"/>
          <p:cNvSpPr/>
          <p:nvPr/>
        </p:nvSpPr>
        <p:spPr>
          <a:xfrm>
            <a:off x="9107424" y="1737360"/>
            <a:ext cx="384048" cy="237744"/>
          </a:xfrm>
          <a:prstGeom prst="rightArrow">
            <a:avLst/>
          </a:prstGeom>
          <a:solidFill>
            <a:srgbClr val="1F8A4C"/>
          </a:solidFill>
          <a:ln w="12700">
            <a:solidFill>
              <a:srgbClr val="1F8A4C">
                <a:alpha val="0"/>
              </a:srgbClr>
            </a:solidFill>
            <a:prstDash val="solid"/>
          </a:ln>
        </p:spPr>
      </p:sp>
      <p:sp>
        <p:nvSpPr>
          <p:cNvPr id="20" name="Shape 17"/>
          <p:cNvSpPr/>
          <p:nvPr/>
        </p:nvSpPr>
        <p:spPr>
          <a:xfrm>
            <a:off x="9646920" y="1536192"/>
            <a:ext cx="1508760" cy="713232"/>
          </a:xfrm>
          <a:prstGeom prst="roundRect">
            <a:avLst>
              <a:gd name="adj" fmla="val 6410"/>
            </a:avLst>
          </a:prstGeom>
          <a:solidFill>
            <a:srgbClr val="FFFFFF"/>
          </a:solidFill>
          <a:ln w="12700">
            <a:solidFill>
              <a:srgbClr val="D7E3DA"/>
            </a:solidFill>
            <a:prstDash val="solid"/>
          </a:ln>
        </p:spPr>
      </p:sp>
      <p:sp>
        <p:nvSpPr>
          <p:cNvPr id="21" name="Text 18"/>
          <p:cNvSpPr/>
          <p:nvPr/>
        </p:nvSpPr>
        <p:spPr>
          <a:xfrm>
            <a:off x="9720072" y="1645920"/>
            <a:ext cx="1362456" cy="512064"/>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Distribution</a:t>
            </a:r>
            <a:endParaRPr lang="en-US" sz="840" dirty="0"/>
          </a:p>
          <a:p>
            <a:pPr algn="ctr" indent="0" marL="0">
              <a:buNone/>
            </a:pPr>
            <a:r>
              <a:rPr lang="en-US" sz="840" b="1" dirty="0">
                <a:solidFill>
                  <a:srgbClr val="17312B"/>
                </a:solidFill>
              </a:rPr>
              <a:t>meal handoff</a:t>
            </a:r>
            <a:endParaRPr lang="en-US" sz="840" dirty="0"/>
          </a:p>
        </p:txBody>
      </p:sp>
      <p:pic>
        <p:nvPicPr>
          <p:cNvPr id="22" name="Image 1" descr="D:\Capstone_FoodResQ_Web\apps\web\public\nauan_TC.png">    </p:cNvPr>
          <p:cNvPicPr>
            <a:picLocks noChangeAspect="1"/>
          </p:cNvPicPr>
          <p:nvPr/>
        </p:nvPicPr>
        <p:blipFill>
          <a:blip r:embed="rId2"/>
          <a:stretch>
            <a:fillRect/>
          </a:stretch>
        </p:blipFill>
        <p:spPr>
          <a:xfrm>
            <a:off x="777240" y="2880360"/>
            <a:ext cx="2194560" cy="1554480"/>
          </a:xfrm>
          <a:prstGeom prst="rect">
            <a:avLst/>
          </a:prstGeom>
        </p:spPr>
      </p:pic>
      <p:sp>
        <p:nvSpPr>
          <p:cNvPr id="23" name="Shape 19"/>
          <p:cNvSpPr/>
          <p:nvPr/>
        </p:nvSpPr>
        <p:spPr>
          <a:xfrm>
            <a:off x="777240" y="4105656"/>
            <a:ext cx="2194560" cy="329184"/>
          </a:xfrm>
          <a:prstGeom prst="rect">
            <a:avLst/>
          </a:prstGeom>
          <a:solidFill>
            <a:srgbClr val="17312B">
              <a:alpha val="92000"/>
            </a:srgbClr>
          </a:solidFill>
          <a:ln w="12700">
            <a:solidFill>
              <a:srgbClr val="17312B">
                <a:alpha val="0"/>
              </a:srgbClr>
            </a:solidFill>
            <a:prstDash val="solid"/>
          </a:ln>
        </p:spPr>
      </p:sp>
      <p:sp>
        <p:nvSpPr>
          <p:cNvPr id="24" name="Text 20"/>
          <p:cNvSpPr/>
          <p:nvPr/>
        </p:nvSpPr>
        <p:spPr>
          <a:xfrm>
            <a:off x="905256" y="4197096"/>
            <a:ext cx="1938528" cy="128016"/>
          </a:xfrm>
          <a:prstGeom prst="rect">
            <a:avLst/>
          </a:prstGeom>
          <a:noFill/>
          <a:ln/>
        </p:spPr>
        <p:txBody>
          <a:bodyPr wrap="square" lIns="0" tIns="0" rIns="0" bIns="0" rtlCol="0" anchor="ctr"/>
          <a:lstStyle/>
          <a:p>
            <a:pPr indent="0" marL="0">
              <a:buNone/>
            </a:pPr>
            <a:r>
              <a:rPr lang="en-US" sz="720" b="1" dirty="0">
                <a:solidFill>
                  <a:srgbClr val="FFFFFF"/>
                </a:solidFill>
              </a:rPr>
              <a:t>Bếp chiến dịch</a:t>
            </a:r>
            <a:endParaRPr lang="en-US" sz="720" dirty="0"/>
          </a:p>
        </p:txBody>
      </p:sp>
      <p:sp>
        <p:nvSpPr>
          <p:cNvPr id="25" name="Shape 21"/>
          <p:cNvSpPr/>
          <p:nvPr/>
        </p:nvSpPr>
        <p:spPr>
          <a:xfrm>
            <a:off x="3337560" y="2788920"/>
            <a:ext cx="2395728" cy="1737360"/>
          </a:xfrm>
          <a:prstGeom prst="roundRect">
            <a:avLst>
              <a:gd name="adj" fmla="val 2632"/>
            </a:avLst>
          </a:prstGeom>
          <a:solidFill>
            <a:srgbClr val="F9FBFA"/>
          </a:solidFill>
          <a:ln w="12700">
            <a:solidFill>
              <a:srgbClr val="D7E3DA"/>
            </a:solidFill>
            <a:prstDash val="solid"/>
          </a:ln>
        </p:spPr>
      </p:sp>
      <p:sp>
        <p:nvSpPr>
          <p:cNvPr id="26" name="Text 22"/>
          <p:cNvSpPr/>
          <p:nvPr/>
        </p:nvSpPr>
        <p:spPr>
          <a:xfrm>
            <a:off x="3502152" y="2935224"/>
            <a:ext cx="2066544"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27" name="Text 23"/>
          <p:cNvSpPr/>
          <p:nvPr/>
        </p:nvSpPr>
        <p:spPr>
          <a:xfrm>
            <a:off x="3502152" y="3200400"/>
            <a:ext cx="2066544" cy="1188720"/>
          </a:xfrm>
          <a:prstGeom prst="rect">
            <a:avLst/>
          </a:prstGeom>
          <a:noFill/>
          <a:ln/>
        </p:spPr>
        <p:txBody>
          <a:bodyPr wrap="square" lIns="0" tIns="0" rIns="0" bIns="0" rtlCol="0" anchor="ctr">
            <a:normAutofit/>
          </a:bodyPr>
          <a:lstStyle/>
          <a:p>
            <a:pPr indent="0" marL="0">
              <a:buNone/>
            </a:pPr>
            <a:r>
              <a:rPr lang="en-US" sz="820" b="1" dirty="0">
                <a:solidFill>
                  <a:srgbClr val="17312B"/>
                </a:solidFill>
              </a:rPr>
              <a:t>Charity campaign manage: registrations, schedule, status</a:t>
            </a:r>
            <a:endParaRPr lang="en-US" sz="820" dirty="0"/>
          </a:p>
        </p:txBody>
      </p:sp>
      <p:sp>
        <p:nvSpPr>
          <p:cNvPr id="28" name="Shape 24"/>
          <p:cNvSpPr/>
          <p:nvPr/>
        </p:nvSpPr>
        <p:spPr>
          <a:xfrm>
            <a:off x="6080760" y="2788920"/>
            <a:ext cx="2395728" cy="1737360"/>
          </a:xfrm>
          <a:prstGeom prst="roundRect">
            <a:avLst>
              <a:gd name="adj" fmla="val 2632"/>
            </a:avLst>
          </a:prstGeom>
          <a:solidFill>
            <a:srgbClr val="F9FBFA"/>
          </a:solidFill>
          <a:ln w="12700">
            <a:solidFill>
              <a:srgbClr val="D7E3DA"/>
            </a:solidFill>
            <a:prstDash val="solid"/>
          </a:ln>
        </p:spPr>
      </p:sp>
      <p:sp>
        <p:nvSpPr>
          <p:cNvPr id="29" name="Text 25"/>
          <p:cNvSpPr/>
          <p:nvPr/>
        </p:nvSpPr>
        <p:spPr>
          <a:xfrm>
            <a:off x="6245352" y="2935224"/>
            <a:ext cx="2066544"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30" name="Text 26"/>
          <p:cNvSpPr/>
          <p:nvPr/>
        </p:nvSpPr>
        <p:spPr>
          <a:xfrm>
            <a:off x="6245352" y="3200400"/>
            <a:ext cx="2066544" cy="1188720"/>
          </a:xfrm>
          <a:prstGeom prst="rect">
            <a:avLst/>
          </a:prstGeom>
          <a:noFill/>
          <a:ln/>
        </p:spPr>
        <p:txBody>
          <a:bodyPr wrap="square" lIns="0" tIns="0" rIns="0" bIns="0" rtlCol="0" anchor="ctr">
            <a:normAutofit/>
          </a:bodyPr>
          <a:lstStyle/>
          <a:p>
            <a:pPr indent="0" marL="0">
              <a:buNone/>
            </a:pPr>
            <a:r>
              <a:rPr lang="en-US" sz="820" b="1" dirty="0">
                <a:solidFill>
                  <a:srgbClr val="17312B"/>
                </a:solidFill>
              </a:rPr>
              <a:t>Kitchen dashboard: chef task, menu item, safety check</a:t>
            </a:r>
            <a:endParaRPr lang="en-US" sz="820" dirty="0"/>
          </a:p>
        </p:txBody>
      </p:sp>
      <p:sp>
        <p:nvSpPr>
          <p:cNvPr id="31" name="Shape 27"/>
          <p:cNvSpPr/>
          <p:nvPr/>
        </p:nvSpPr>
        <p:spPr>
          <a:xfrm>
            <a:off x="8823960" y="2788920"/>
            <a:ext cx="2395728" cy="1737360"/>
          </a:xfrm>
          <a:prstGeom prst="roundRect">
            <a:avLst>
              <a:gd name="adj" fmla="val 2632"/>
            </a:avLst>
          </a:prstGeom>
          <a:solidFill>
            <a:srgbClr val="F9FBFA"/>
          </a:solidFill>
          <a:ln w="12700">
            <a:solidFill>
              <a:srgbClr val="D7E3DA"/>
            </a:solidFill>
            <a:prstDash val="solid"/>
          </a:ln>
        </p:spPr>
      </p:sp>
      <p:sp>
        <p:nvSpPr>
          <p:cNvPr id="32" name="Text 28"/>
          <p:cNvSpPr/>
          <p:nvPr/>
        </p:nvSpPr>
        <p:spPr>
          <a:xfrm>
            <a:off x="8988552" y="2935224"/>
            <a:ext cx="2066544"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33" name="Text 29"/>
          <p:cNvSpPr/>
          <p:nvPr/>
        </p:nvSpPr>
        <p:spPr>
          <a:xfrm>
            <a:off x="8988552" y="3200400"/>
            <a:ext cx="2066544" cy="1188720"/>
          </a:xfrm>
          <a:prstGeom prst="rect">
            <a:avLst/>
          </a:prstGeom>
          <a:noFill/>
          <a:ln/>
        </p:spPr>
        <p:txBody>
          <a:bodyPr wrap="square" lIns="0" tIns="0" rIns="0" bIns="0" rtlCol="0" anchor="ctr">
            <a:normAutofit/>
          </a:bodyPr>
          <a:lstStyle/>
          <a:p>
            <a:pPr indent="0" marL="0">
              <a:buNone/>
            </a:pPr>
            <a:r>
              <a:rPr lang="en-US" sz="820" b="1" dirty="0">
                <a:solidFill>
                  <a:srgbClr val="17312B"/>
                </a:solidFill>
              </a:rPr>
              <a:t>Volunteer distribution: điểm phát, số suất, ảnh minh chứng</a:t>
            </a:r>
            <a:endParaRPr lang="en-US" sz="8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502920" y="475488"/>
            <a:ext cx="7772400" cy="502920"/>
          </a:xfrm>
          <a:prstGeom prst="rect">
            <a:avLst/>
          </a:prstGeom>
          <a:noFill/>
          <a:ln/>
        </p:spPr>
        <p:txBody>
          <a:bodyPr wrap="square" lIns="0" tIns="0" rIns="0" bIns="0" rtlCol="0" anchor="ctr"/>
          <a:lstStyle/>
          <a:p>
            <a:pPr indent="0" marL="0">
              <a:buNone/>
            </a:pPr>
            <a:r>
              <a:rPr lang="en-US" sz="2500" b="1" dirty="0">
                <a:solidFill>
                  <a:srgbClr val="17312B"/>
                </a:solidFill>
              </a:rPr>
              <a:t>Trust score, an toàn &amp; quản trị</a:t>
            </a:r>
            <a:endParaRPr lang="en-US" sz="2500" dirty="0"/>
          </a:p>
        </p:txBody>
      </p:sp>
      <p:sp>
        <p:nvSpPr>
          <p:cNvPr id="3" name="Text 1"/>
          <p:cNvSpPr/>
          <p:nvPr/>
        </p:nvSpPr>
        <p:spPr>
          <a:xfrm>
            <a:off x="502920" y="987552"/>
            <a:ext cx="8046720" cy="292608"/>
          </a:xfrm>
          <a:prstGeom prst="rect">
            <a:avLst/>
          </a:prstGeom>
          <a:noFill/>
          <a:ln/>
        </p:spPr>
        <p:txBody>
          <a:bodyPr wrap="square" lIns="0" tIns="0" rIns="0" bIns="0" rtlCol="0" anchor="ctr"/>
          <a:lstStyle/>
          <a:p>
            <a:pPr indent="0" marL="0">
              <a:buNone/>
            </a:pPr>
            <a:r>
              <a:rPr lang="en-US" sz="1050" dirty="0">
                <a:solidFill>
                  <a:srgbClr val="5D6A66"/>
                </a:solidFill>
              </a:rPr>
              <a:t>Cơ chế chống lạm dụng, xử lý vi phạm và bảo vệ chất lượng thực phẩm.</a:t>
            </a:r>
            <a:endParaRPr lang="en-US" sz="1050" dirty="0"/>
          </a:p>
        </p:txBody>
      </p:sp>
      <p:sp>
        <p:nvSpPr>
          <p:cNvPr id="4" name="Shape 2"/>
          <p:cNvSpPr/>
          <p:nvPr/>
        </p:nvSpPr>
        <p:spPr>
          <a:xfrm>
            <a:off x="502920" y="6446520"/>
            <a:ext cx="11173968" cy="0"/>
          </a:xfrm>
          <a:prstGeom prst="line">
            <a:avLst/>
          </a:prstGeom>
          <a:noFill/>
          <a:ln w="12700">
            <a:solidFill>
              <a:srgbClr val="D7E3DA"/>
            </a:solidFill>
            <a:prstDash val="solid"/>
          </a:ln>
        </p:spPr>
      </p:sp>
      <p:sp>
        <p:nvSpPr>
          <p:cNvPr id="5" name="Text 3"/>
          <p:cNvSpPr/>
          <p:nvPr/>
        </p:nvSpPr>
        <p:spPr>
          <a:xfrm>
            <a:off x="502920" y="6519672"/>
            <a:ext cx="4389120" cy="164592"/>
          </a:xfrm>
          <a:prstGeom prst="rect">
            <a:avLst/>
          </a:prstGeom>
          <a:noFill/>
          <a:ln/>
        </p:spPr>
        <p:txBody>
          <a:bodyPr wrap="square" lIns="0" tIns="0" rIns="0" bIns="0" rtlCol="0" anchor="ctr"/>
          <a:lstStyle/>
          <a:p>
            <a:pPr indent="0" marL="0">
              <a:buNone/>
            </a:pPr>
            <a:r>
              <a:rPr lang="en-US" sz="760" dirty="0">
                <a:solidFill>
                  <a:srgbClr val="5D6A66"/>
                </a:solidFill>
                <a:latin typeface="Aptos" pitchFamily="34" charset="0"/>
                <a:ea typeface="Aptos" pitchFamily="34" charset="-122"/>
                <a:cs typeface="Aptos" pitchFamily="34" charset="-120"/>
              </a:rPr>
              <a:t>FoodResQ | Capstone SP26SE088</a:t>
            </a:r>
            <a:endParaRPr lang="en-US" sz="760" dirty="0"/>
          </a:p>
        </p:txBody>
      </p:sp>
      <p:sp>
        <p:nvSpPr>
          <p:cNvPr id="6" name="Text 4"/>
          <p:cNvSpPr/>
          <p:nvPr/>
        </p:nvSpPr>
        <p:spPr>
          <a:xfrm>
            <a:off x="11192256" y="6492240"/>
            <a:ext cx="457200" cy="201168"/>
          </a:xfrm>
          <a:prstGeom prst="rect">
            <a:avLst/>
          </a:prstGeom>
          <a:noFill/>
          <a:ln/>
        </p:spPr>
        <p:txBody>
          <a:bodyPr wrap="square" lIns="0" tIns="0" rIns="0" bIns="0" rtlCol="0" anchor="ctr"/>
          <a:lstStyle/>
          <a:p>
            <a:pPr algn="r" indent="0" marL="0">
              <a:buNone/>
            </a:pPr>
            <a:r>
              <a:rPr lang="en-US" sz="800" b="1" dirty="0">
                <a:solidFill>
                  <a:srgbClr val="5D6A66"/>
                </a:solidFill>
              </a:rPr>
              <a:t>10</a:t>
            </a:r>
            <a:endParaRPr lang="en-US" sz="800" dirty="0"/>
          </a:p>
        </p:txBody>
      </p:sp>
      <p:pic>
        <p:nvPicPr>
          <p:cNvPr id="7" name="Image 0" descr="D:\Capstone_FoodResQ_Web\apps\web\public\Logo_FoodResQ.png">    </p:cNvPr>
          <p:cNvPicPr>
            <a:picLocks noChangeAspect="1"/>
          </p:cNvPicPr>
          <p:nvPr/>
        </p:nvPicPr>
        <p:blipFill>
          <a:blip r:embed="rId1"/>
          <a:stretch>
            <a:fillRect/>
          </a:stretch>
        </p:blipFill>
        <p:spPr>
          <a:xfrm>
            <a:off x="10652760" y="310896"/>
            <a:ext cx="960120" cy="420624"/>
          </a:xfrm>
          <a:prstGeom prst="rect">
            <a:avLst/>
          </a:prstGeom>
        </p:spPr>
      </p:pic>
      <p:sp>
        <p:nvSpPr>
          <p:cNvPr id="8" name="Shape 5"/>
          <p:cNvSpPr/>
          <p:nvPr/>
        </p:nvSpPr>
        <p:spPr>
          <a:xfrm>
            <a:off x="713232" y="1417320"/>
            <a:ext cx="2514600" cy="1417320"/>
          </a:xfrm>
          <a:prstGeom prst="roundRect">
            <a:avLst>
              <a:gd name="adj" fmla="val 3871"/>
            </a:avLst>
          </a:prstGeom>
          <a:solidFill>
            <a:srgbClr val="FFFFFF"/>
          </a:solidFill>
          <a:ln w="12700">
            <a:solidFill>
              <a:srgbClr val="D7E3DA"/>
            </a:solidFill>
            <a:prstDash val="solid"/>
          </a:ln>
        </p:spPr>
      </p:sp>
      <p:sp>
        <p:nvSpPr>
          <p:cNvPr id="9" name="Shape 6"/>
          <p:cNvSpPr/>
          <p:nvPr/>
        </p:nvSpPr>
        <p:spPr>
          <a:xfrm>
            <a:off x="713232" y="1417320"/>
            <a:ext cx="73152" cy="1417320"/>
          </a:xfrm>
          <a:prstGeom prst="rect">
            <a:avLst/>
          </a:prstGeom>
          <a:solidFill>
            <a:srgbClr val="D94D3F"/>
          </a:solidFill>
          <a:ln w="12700">
            <a:solidFill>
              <a:srgbClr val="D94D3F">
                <a:alpha val="0"/>
              </a:srgbClr>
            </a:solidFill>
            <a:prstDash val="solid"/>
          </a:ln>
        </p:spPr>
      </p:sp>
      <p:sp>
        <p:nvSpPr>
          <p:cNvPr id="10" name="Text 7"/>
          <p:cNvSpPr/>
          <p:nvPr/>
        </p:nvSpPr>
        <p:spPr>
          <a:xfrm>
            <a:off x="923544" y="1581912"/>
            <a:ext cx="2167128" cy="228600"/>
          </a:xfrm>
          <a:prstGeom prst="rect">
            <a:avLst/>
          </a:prstGeom>
          <a:noFill/>
          <a:ln/>
        </p:spPr>
        <p:txBody>
          <a:bodyPr wrap="square" lIns="0" tIns="0" rIns="0" bIns="0" rtlCol="0" anchor="ctr"/>
          <a:lstStyle/>
          <a:p>
            <a:pPr indent="0" marL="0">
              <a:buNone/>
            </a:pPr>
            <a:r>
              <a:rPr lang="en-US" sz="1150" b="1" dirty="0">
                <a:solidFill>
                  <a:srgbClr val="17312B"/>
                </a:solidFill>
              </a:rPr>
              <a:t>Trust score</a:t>
            </a:r>
            <a:endParaRPr lang="en-US" sz="1150" dirty="0"/>
          </a:p>
        </p:txBody>
      </p:sp>
      <p:sp>
        <p:nvSpPr>
          <p:cNvPr id="11" name="Text 8"/>
          <p:cNvSpPr/>
          <p:nvPr/>
        </p:nvSpPr>
        <p:spPr>
          <a:xfrm>
            <a:off x="923544" y="1892808"/>
            <a:ext cx="2167128" cy="77724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Bắt đầu 100. No-show -20, hủy trễ -10, vi phạm ATTP -50. ≤60 bị hạn chế, ≤30 bị ban.</a:t>
            </a:r>
            <a:endParaRPr lang="en-US" sz="870" dirty="0"/>
          </a:p>
        </p:txBody>
      </p:sp>
      <p:sp>
        <p:nvSpPr>
          <p:cNvPr id="12" name="Shape 9"/>
          <p:cNvSpPr/>
          <p:nvPr/>
        </p:nvSpPr>
        <p:spPr>
          <a:xfrm>
            <a:off x="3520440" y="1417320"/>
            <a:ext cx="2514600" cy="1417320"/>
          </a:xfrm>
          <a:prstGeom prst="roundRect">
            <a:avLst>
              <a:gd name="adj" fmla="val 3871"/>
            </a:avLst>
          </a:prstGeom>
          <a:solidFill>
            <a:srgbClr val="FFFFFF"/>
          </a:solidFill>
          <a:ln w="12700">
            <a:solidFill>
              <a:srgbClr val="D7E3DA"/>
            </a:solidFill>
            <a:prstDash val="solid"/>
          </a:ln>
        </p:spPr>
      </p:sp>
      <p:sp>
        <p:nvSpPr>
          <p:cNvPr id="13" name="Shape 10"/>
          <p:cNvSpPr/>
          <p:nvPr/>
        </p:nvSpPr>
        <p:spPr>
          <a:xfrm>
            <a:off x="3520440" y="1417320"/>
            <a:ext cx="73152" cy="1417320"/>
          </a:xfrm>
          <a:prstGeom prst="rect">
            <a:avLst/>
          </a:prstGeom>
          <a:solidFill>
            <a:srgbClr val="1F8A4C"/>
          </a:solidFill>
          <a:ln w="12700">
            <a:solidFill>
              <a:srgbClr val="1F8A4C">
                <a:alpha val="0"/>
              </a:srgbClr>
            </a:solidFill>
            <a:prstDash val="solid"/>
          </a:ln>
        </p:spPr>
      </p:sp>
      <p:sp>
        <p:nvSpPr>
          <p:cNvPr id="14" name="Text 11"/>
          <p:cNvSpPr/>
          <p:nvPr/>
        </p:nvSpPr>
        <p:spPr>
          <a:xfrm>
            <a:off x="3730752" y="1581912"/>
            <a:ext cx="2167128" cy="228600"/>
          </a:xfrm>
          <a:prstGeom prst="rect">
            <a:avLst/>
          </a:prstGeom>
          <a:noFill/>
          <a:ln/>
        </p:spPr>
        <p:txBody>
          <a:bodyPr wrap="square" lIns="0" tIns="0" rIns="0" bIns="0" rtlCol="0" anchor="ctr"/>
          <a:lstStyle/>
          <a:p>
            <a:pPr indent="0" marL="0">
              <a:buNone/>
            </a:pPr>
            <a:r>
              <a:rPr lang="en-US" sz="1150" b="1" dirty="0">
                <a:solidFill>
                  <a:srgbClr val="17312B"/>
                </a:solidFill>
              </a:rPr>
              <a:t>Xác minh</a:t>
            </a:r>
            <a:endParaRPr lang="en-US" sz="1150" dirty="0"/>
          </a:p>
        </p:txBody>
      </p:sp>
      <p:sp>
        <p:nvSpPr>
          <p:cNvPr id="15" name="Text 12"/>
          <p:cNvSpPr/>
          <p:nvPr/>
        </p:nvSpPr>
        <p:spPr>
          <a:xfrm>
            <a:off x="3730752" y="1892808"/>
            <a:ext cx="2167128" cy="77724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JWT, refresh token rotation, Firebase login, QR token, face compare khi pickup.</a:t>
            </a:r>
            <a:endParaRPr lang="en-US" sz="870" dirty="0"/>
          </a:p>
        </p:txBody>
      </p:sp>
      <p:sp>
        <p:nvSpPr>
          <p:cNvPr id="16" name="Shape 13"/>
          <p:cNvSpPr/>
          <p:nvPr/>
        </p:nvSpPr>
        <p:spPr>
          <a:xfrm>
            <a:off x="6327648" y="1417320"/>
            <a:ext cx="2514600" cy="1417320"/>
          </a:xfrm>
          <a:prstGeom prst="roundRect">
            <a:avLst>
              <a:gd name="adj" fmla="val 3871"/>
            </a:avLst>
          </a:prstGeom>
          <a:solidFill>
            <a:srgbClr val="FFFFFF"/>
          </a:solidFill>
          <a:ln w="12700">
            <a:solidFill>
              <a:srgbClr val="D7E3DA"/>
            </a:solidFill>
            <a:prstDash val="solid"/>
          </a:ln>
        </p:spPr>
      </p:sp>
      <p:sp>
        <p:nvSpPr>
          <p:cNvPr id="17" name="Shape 14"/>
          <p:cNvSpPr/>
          <p:nvPr/>
        </p:nvSpPr>
        <p:spPr>
          <a:xfrm>
            <a:off x="6327648" y="1417320"/>
            <a:ext cx="73152" cy="1417320"/>
          </a:xfrm>
          <a:prstGeom prst="rect">
            <a:avLst/>
          </a:prstGeom>
          <a:solidFill>
            <a:srgbClr val="F28C38"/>
          </a:solidFill>
          <a:ln w="12700">
            <a:solidFill>
              <a:srgbClr val="F28C38">
                <a:alpha val="0"/>
              </a:srgbClr>
            </a:solidFill>
            <a:prstDash val="solid"/>
          </a:ln>
        </p:spPr>
      </p:sp>
      <p:sp>
        <p:nvSpPr>
          <p:cNvPr id="18" name="Text 15"/>
          <p:cNvSpPr/>
          <p:nvPr/>
        </p:nvSpPr>
        <p:spPr>
          <a:xfrm>
            <a:off x="6537960" y="1581912"/>
            <a:ext cx="2167128" cy="228600"/>
          </a:xfrm>
          <a:prstGeom prst="rect">
            <a:avLst/>
          </a:prstGeom>
          <a:noFill/>
          <a:ln/>
        </p:spPr>
        <p:txBody>
          <a:bodyPr wrap="square" lIns="0" tIns="0" rIns="0" bIns="0" rtlCol="0" anchor="ctr"/>
          <a:lstStyle/>
          <a:p>
            <a:pPr indent="0" marL="0">
              <a:buNone/>
            </a:pPr>
            <a:r>
              <a:rPr lang="en-US" sz="1150" b="1" dirty="0">
                <a:solidFill>
                  <a:srgbClr val="17312B"/>
                </a:solidFill>
              </a:rPr>
              <a:t>Báo cáo</a:t>
            </a:r>
            <a:endParaRPr lang="en-US" sz="1150" dirty="0"/>
          </a:p>
        </p:txBody>
      </p:sp>
      <p:sp>
        <p:nvSpPr>
          <p:cNvPr id="19" name="Text 16"/>
          <p:cNvSpPr/>
          <p:nvPr/>
        </p:nvSpPr>
        <p:spPr>
          <a:xfrm>
            <a:off x="6537960" y="1892808"/>
            <a:ext cx="2167128" cy="77724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Receiver/provider/volunteer có thể report user, listing, delivery, campaign.</a:t>
            </a:r>
            <a:endParaRPr lang="en-US" sz="870" dirty="0"/>
          </a:p>
        </p:txBody>
      </p:sp>
      <p:sp>
        <p:nvSpPr>
          <p:cNvPr id="20" name="Shape 17"/>
          <p:cNvSpPr/>
          <p:nvPr/>
        </p:nvSpPr>
        <p:spPr>
          <a:xfrm>
            <a:off x="9125712" y="1417320"/>
            <a:ext cx="2103120" cy="1417320"/>
          </a:xfrm>
          <a:prstGeom prst="roundRect">
            <a:avLst>
              <a:gd name="adj" fmla="val 3871"/>
            </a:avLst>
          </a:prstGeom>
          <a:solidFill>
            <a:srgbClr val="FFFFFF"/>
          </a:solidFill>
          <a:ln w="12700">
            <a:solidFill>
              <a:srgbClr val="D7E3DA"/>
            </a:solidFill>
            <a:prstDash val="solid"/>
          </a:ln>
        </p:spPr>
      </p:sp>
      <p:sp>
        <p:nvSpPr>
          <p:cNvPr id="21" name="Shape 18"/>
          <p:cNvSpPr/>
          <p:nvPr/>
        </p:nvSpPr>
        <p:spPr>
          <a:xfrm>
            <a:off x="9125712" y="1417320"/>
            <a:ext cx="73152" cy="1417320"/>
          </a:xfrm>
          <a:prstGeom prst="rect">
            <a:avLst/>
          </a:prstGeom>
          <a:solidFill>
            <a:srgbClr val="2574A9"/>
          </a:solidFill>
          <a:ln w="12700">
            <a:solidFill>
              <a:srgbClr val="2574A9">
                <a:alpha val="0"/>
              </a:srgbClr>
            </a:solidFill>
            <a:prstDash val="solid"/>
          </a:ln>
        </p:spPr>
      </p:sp>
      <p:sp>
        <p:nvSpPr>
          <p:cNvPr id="22" name="Text 19"/>
          <p:cNvSpPr/>
          <p:nvPr/>
        </p:nvSpPr>
        <p:spPr>
          <a:xfrm>
            <a:off x="9336024" y="1581912"/>
            <a:ext cx="1755648" cy="228600"/>
          </a:xfrm>
          <a:prstGeom prst="rect">
            <a:avLst/>
          </a:prstGeom>
          <a:noFill/>
          <a:ln/>
        </p:spPr>
        <p:txBody>
          <a:bodyPr wrap="square" lIns="0" tIns="0" rIns="0" bIns="0" rtlCol="0" anchor="ctr"/>
          <a:lstStyle/>
          <a:p>
            <a:pPr indent="0" marL="0">
              <a:buNone/>
            </a:pPr>
            <a:r>
              <a:rPr lang="en-US" sz="1150" b="1" dirty="0">
                <a:solidFill>
                  <a:srgbClr val="17312B"/>
                </a:solidFill>
              </a:rPr>
              <a:t>Admin</a:t>
            </a:r>
            <a:endParaRPr lang="en-US" sz="1150" dirty="0"/>
          </a:p>
        </p:txBody>
      </p:sp>
      <p:sp>
        <p:nvSpPr>
          <p:cNvPr id="23" name="Text 20"/>
          <p:cNvSpPr/>
          <p:nvPr/>
        </p:nvSpPr>
        <p:spPr>
          <a:xfrm>
            <a:off x="9336024" y="1892808"/>
            <a:ext cx="1755648" cy="77724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Duyệt hồ sơ, xử lý report, suspend/ban, audit log.</a:t>
            </a:r>
            <a:endParaRPr lang="en-US" sz="870" dirty="0"/>
          </a:p>
        </p:txBody>
      </p:sp>
      <p:sp>
        <p:nvSpPr>
          <p:cNvPr id="24" name="Shape 21"/>
          <p:cNvSpPr/>
          <p:nvPr/>
        </p:nvSpPr>
        <p:spPr>
          <a:xfrm>
            <a:off x="868680" y="3520440"/>
            <a:ext cx="2926080" cy="1508760"/>
          </a:xfrm>
          <a:prstGeom prst="roundRect">
            <a:avLst>
              <a:gd name="adj" fmla="val 3030"/>
            </a:avLst>
          </a:prstGeom>
          <a:solidFill>
            <a:srgbClr val="F9FBFA"/>
          </a:solidFill>
          <a:ln w="12700">
            <a:solidFill>
              <a:srgbClr val="D7E3DA"/>
            </a:solidFill>
            <a:prstDash val="solid"/>
          </a:ln>
        </p:spPr>
      </p:sp>
      <p:sp>
        <p:nvSpPr>
          <p:cNvPr id="25" name="Text 22"/>
          <p:cNvSpPr/>
          <p:nvPr/>
        </p:nvSpPr>
        <p:spPr>
          <a:xfrm>
            <a:off x="1033272" y="3666744"/>
            <a:ext cx="2596896"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26" name="Text 23"/>
          <p:cNvSpPr/>
          <p:nvPr/>
        </p:nvSpPr>
        <p:spPr>
          <a:xfrm>
            <a:off x="1033272" y="3931920"/>
            <a:ext cx="2596896" cy="960120"/>
          </a:xfrm>
          <a:prstGeom prst="rect">
            <a:avLst/>
          </a:prstGeom>
          <a:noFill/>
          <a:ln/>
        </p:spPr>
        <p:txBody>
          <a:bodyPr wrap="square" lIns="0" tIns="0" rIns="0" bIns="0" rtlCol="0" anchor="ctr">
            <a:normAutofit/>
          </a:bodyPr>
          <a:lstStyle/>
          <a:p>
            <a:pPr indent="0" marL="0">
              <a:buNone/>
            </a:pPr>
            <a:r>
              <a:rPr lang="en-US" sz="820" b="1" dirty="0">
                <a:solidFill>
                  <a:srgbClr val="17312B"/>
                </a:solidFill>
              </a:rPr>
              <a:t>Admin dashboard: users, reports, verification requests</a:t>
            </a:r>
            <a:endParaRPr lang="en-US" sz="820" dirty="0"/>
          </a:p>
        </p:txBody>
      </p:sp>
      <p:sp>
        <p:nvSpPr>
          <p:cNvPr id="27" name="Shape 24"/>
          <p:cNvSpPr/>
          <p:nvPr/>
        </p:nvSpPr>
        <p:spPr>
          <a:xfrm>
            <a:off x="4160520" y="3520440"/>
            <a:ext cx="2926080" cy="1508760"/>
          </a:xfrm>
          <a:prstGeom prst="roundRect">
            <a:avLst>
              <a:gd name="adj" fmla="val 3030"/>
            </a:avLst>
          </a:prstGeom>
          <a:solidFill>
            <a:srgbClr val="F9FBFA"/>
          </a:solidFill>
          <a:ln w="12700">
            <a:solidFill>
              <a:srgbClr val="D7E3DA"/>
            </a:solidFill>
            <a:prstDash val="solid"/>
          </a:ln>
        </p:spPr>
      </p:sp>
      <p:sp>
        <p:nvSpPr>
          <p:cNvPr id="28" name="Text 25"/>
          <p:cNvSpPr/>
          <p:nvPr/>
        </p:nvSpPr>
        <p:spPr>
          <a:xfrm>
            <a:off x="4325112" y="3666744"/>
            <a:ext cx="2596896"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29" name="Text 26"/>
          <p:cNvSpPr/>
          <p:nvPr/>
        </p:nvSpPr>
        <p:spPr>
          <a:xfrm>
            <a:off x="4325112" y="3931920"/>
            <a:ext cx="2596896" cy="960120"/>
          </a:xfrm>
          <a:prstGeom prst="rect">
            <a:avLst/>
          </a:prstGeom>
          <a:noFill/>
          <a:ln/>
        </p:spPr>
        <p:txBody>
          <a:bodyPr wrap="square" lIns="0" tIns="0" rIns="0" bIns="0" rtlCol="0" anchor="ctr">
            <a:normAutofit/>
          </a:bodyPr>
          <a:lstStyle/>
          <a:p>
            <a:pPr indent="0" marL="0">
              <a:buNone/>
            </a:pPr>
            <a:r>
              <a:rPr lang="en-US" sz="820" b="1" dirty="0">
                <a:solidFill>
                  <a:srgbClr val="17312B"/>
                </a:solidFill>
              </a:rPr>
              <a:t>Report issue modal hoặc rating sau pickup</a:t>
            </a:r>
            <a:endParaRPr lang="en-US" sz="820" dirty="0"/>
          </a:p>
        </p:txBody>
      </p:sp>
      <p:sp>
        <p:nvSpPr>
          <p:cNvPr id="30" name="Shape 27"/>
          <p:cNvSpPr/>
          <p:nvPr/>
        </p:nvSpPr>
        <p:spPr>
          <a:xfrm>
            <a:off x="7452360" y="3520440"/>
            <a:ext cx="2926080" cy="1508760"/>
          </a:xfrm>
          <a:prstGeom prst="roundRect">
            <a:avLst>
              <a:gd name="adj" fmla="val 3030"/>
            </a:avLst>
          </a:prstGeom>
          <a:solidFill>
            <a:srgbClr val="F9FBFA"/>
          </a:solidFill>
          <a:ln w="12700">
            <a:solidFill>
              <a:srgbClr val="D7E3DA"/>
            </a:solidFill>
            <a:prstDash val="solid"/>
          </a:ln>
        </p:spPr>
      </p:sp>
      <p:sp>
        <p:nvSpPr>
          <p:cNvPr id="31" name="Text 28"/>
          <p:cNvSpPr/>
          <p:nvPr/>
        </p:nvSpPr>
        <p:spPr>
          <a:xfrm>
            <a:off x="7616952" y="3666744"/>
            <a:ext cx="2596896"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32" name="Text 29"/>
          <p:cNvSpPr/>
          <p:nvPr/>
        </p:nvSpPr>
        <p:spPr>
          <a:xfrm>
            <a:off x="7616952" y="3931920"/>
            <a:ext cx="2596896" cy="960120"/>
          </a:xfrm>
          <a:prstGeom prst="rect">
            <a:avLst/>
          </a:prstGeom>
          <a:noFill/>
          <a:ln/>
        </p:spPr>
        <p:txBody>
          <a:bodyPr wrap="square" lIns="0" tIns="0" rIns="0" bIns="0" rtlCol="0" anchor="ctr">
            <a:normAutofit/>
          </a:bodyPr>
          <a:lstStyle/>
          <a:p>
            <a:pPr indent="0" marL="0">
              <a:buNone/>
            </a:pPr>
            <a:r>
              <a:rPr lang="en-US" sz="820" b="1" dirty="0">
                <a:solidFill>
                  <a:srgbClr val="17312B"/>
                </a:solidFill>
              </a:rPr>
              <a:t>Face enrollment / pickup proof screen</a:t>
            </a:r>
            <a:endParaRPr lang="en-US" sz="8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502920" y="475488"/>
            <a:ext cx="7772400" cy="502920"/>
          </a:xfrm>
          <a:prstGeom prst="rect">
            <a:avLst/>
          </a:prstGeom>
          <a:noFill/>
          <a:ln/>
        </p:spPr>
        <p:txBody>
          <a:bodyPr wrap="square" lIns="0" tIns="0" rIns="0" bIns="0" rtlCol="0" anchor="ctr"/>
          <a:lstStyle/>
          <a:p>
            <a:pPr indent="0" marL="0">
              <a:buNone/>
            </a:pPr>
            <a:r>
              <a:rPr lang="en-US" sz="2500" b="1" dirty="0">
                <a:solidFill>
                  <a:srgbClr val="17312B"/>
                </a:solidFill>
              </a:rPr>
              <a:t>Kiến trúc hệ thống</a:t>
            </a:r>
            <a:endParaRPr lang="en-US" sz="2500" dirty="0"/>
          </a:p>
        </p:txBody>
      </p:sp>
      <p:sp>
        <p:nvSpPr>
          <p:cNvPr id="3" name="Text 1"/>
          <p:cNvSpPr/>
          <p:nvPr/>
        </p:nvSpPr>
        <p:spPr>
          <a:xfrm>
            <a:off x="502920" y="987552"/>
            <a:ext cx="8046720" cy="292608"/>
          </a:xfrm>
          <a:prstGeom prst="rect">
            <a:avLst/>
          </a:prstGeom>
          <a:noFill/>
          <a:ln/>
        </p:spPr>
        <p:txBody>
          <a:bodyPr wrap="square" lIns="0" tIns="0" rIns="0" bIns="0" rtlCol="0" anchor="ctr"/>
          <a:lstStyle/>
          <a:p>
            <a:pPr indent="0" marL="0">
              <a:buNone/>
            </a:pPr>
            <a:r>
              <a:rPr lang="en-US" sz="1050" dirty="0">
                <a:solidFill>
                  <a:srgbClr val="5D6A66"/>
                </a:solidFill>
              </a:rPr>
              <a:t>Layered client-server architecture: business rule nằm ở API, dữ liệu tập trung ở PostgreSQL/PostGIS.</a:t>
            </a:r>
            <a:endParaRPr lang="en-US" sz="1050" dirty="0"/>
          </a:p>
        </p:txBody>
      </p:sp>
      <p:sp>
        <p:nvSpPr>
          <p:cNvPr id="4" name="Shape 2"/>
          <p:cNvSpPr/>
          <p:nvPr/>
        </p:nvSpPr>
        <p:spPr>
          <a:xfrm>
            <a:off x="502920" y="6446520"/>
            <a:ext cx="11173968" cy="0"/>
          </a:xfrm>
          <a:prstGeom prst="line">
            <a:avLst/>
          </a:prstGeom>
          <a:noFill/>
          <a:ln w="12700">
            <a:solidFill>
              <a:srgbClr val="D7E3DA"/>
            </a:solidFill>
            <a:prstDash val="solid"/>
          </a:ln>
        </p:spPr>
      </p:sp>
      <p:sp>
        <p:nvSpPr>
          <p:cNvPr id="5" name="Text 3"/>
          <p:cNvSpPr/>
          <p:nvPr/>
        </p:nvSpPr>
        <p:spPr>
          <a:xfrm>
            <a:off x="502920" y="6519672"/>
            <a:ext cx="4389120" cy="164592"/>
          </a:xfrm>
          <a:prstGeom prst="rect">
            <a:avLst/>
          </a:prstGeom>
          <a:noFill/>
          <a:ln/>
        </p:spPr>
        <p:txBody>
          <a:bodyPr wrap="square" lIns="0" tIns="0" rIns="0" bIns="0" rtlCol="0" anchor="ctr"/>
          <a:lstStyle/>
          <a:p>
            <a:pPr indent="0" marL="0">
              <a:buNone/>
            </a:pPr>
            <a:r>
              <a:rPr lang="en-US" sz="760" dirty="0">
                <a:solidFill>
                  <a:srgbClr val="5D6A66"/>
                </a:solidFill>
                <a:latin typeface="Aptos" pitchFamily="34" charset="0"/>
                <a:ea typeface="Aptos" pitchFamily="34" charset="-122"/>
                <a:cs typeface="Aptos" pitchFamily="34" charset="-120"/>
              </a:rPr>
              <a:t>FoodResQ | Capstone SP26SE088</a:t>
            </a:r>
            <a:endParaRPr lang="en-US" sz="760" dirty="0"/>
          </a:p>
        </p:txBody>
      </p:sp>
      <p:sp>
        <p:nvSpPr>
          <p:cNvPr id="6" name="Text 4"/>
          <p:cNvSpPr/>
          <p:nvPr/>
        </p:nvSpPr>
        <p:spPr>
          <a:xfrm>
            <a:off x="11192256" y="6492240"/>
            <a:ext cx="457200" cy="201168"/>
          </a:xfrm>
          <a:prstGeom prst="rect">
            <a:avLst/>
          </a:prstGeom>
          <a:noFill/>
          <a:ln/>
        </p:spPr>
        <p:txBody>
          <a:bodyPr wrap="square" lIns="0" tIns="0" rIns="0" bIns="0" rtlCol="0" anchor="ctr"/>
          <a:lstStyle/>
          <a:p>
            <a:pPr algn="r" indent="0" marL="0">
              <a:buNone/>
            </a:pPr>
            <a:r>
              <a:rPr lang="en-US" sz="800" b="1" dirty="0">
                <a:solidFill>
                  <a:srgbClr val="5D6A66"/>
                </a:solidFill>
              </a:rPr>
              <a:t>11</a:t>
            </a:r>
            <a:endParaRPr lang="en-US" sz="800" dirty="0"/>
          </a:p>
        </p:txBody>
      </p:sp>
      <p:pic>
        <p:nvPicPr>
          <p:cNvPr id="7" name="Image 0" descr="D:\Capstone_FoodResQ_Web\apps\web\public\Logo_FoodResQ.png">    </p:cNvPr>
          <p:cNvPicPr>
            <a:picLocks noChangeAspect="1"/>
          </p:cNvPicPr>
          <p:nvPr/>
        </p:nvPicPr>
        <p:blipFill>
          <a:blip r:embed="rId1"/>
          <a:stretch>
            <a:fillRect/>
          </a:stretch>
        </p:blipFill>
        <p:spPr>
          <a:xfrm>
            <a:off x="10652760" y="310896"/>
            <a:ext cx="960120" cy="420624"/>
          </a:xfrm>
          <a:prstGeom prst="rect">
            <a:avLst/>
          </a:prstGeom>
        </p:spPr>
      </p:pic>
      <p:sp>
        <p:nvSpPr>
          <p:cNvPr id="8" name="Shape 5"/>
          <p:cNvSpPr/>
          <p:nvPr/>
        </p:nvSpPr>
        <p:spPr>
          <a:xfrm>
            <a:off x="777240" y="1508760"/>
            <a:ext cx="1691640" cy="658368"/>
          </a:xfrm>
          <a:prstGeom prst="roundRect">
            <a:avLst>
              <a:gd name="adj" fmla="val 6944"/>
            </a:avLst>
          </a:prstGeom>
          <a:solidFill>
            <a:srgbClr val="EAF6ED"/>
          </a:solidFill>
          <a:ln w="12700">
            <a:solidFill>
              <a:srgbClr val="D7E3DA"/>
            </a:solidFill>
            <a:prstDash val="solid"/>
          </a:ln>
        </p:spPr>
      </p:sp>
      <p:sp>
        <p:nvSpPr>
          <p:cNvPr id="9" name="Text 6"/>
          <p:cNvSpPr/>
          <p:nvPr/>
        </p:nvSpPr>
        <p:spPr>
          <a:xfrm>
            <a:off x="850392" y="1618488"/>
            <a:ext cx="1545336" cy="457200"/>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Next.js Web</a:t>
            </a:r>
            <a:endParaRPr lang="en-US" sz="840" dirty="0"/>
          </a:p>
          <a:p>
            <a:pPr algn="ctr" indent="0" marL="0">
              <a:buNone/>
            </a:pPr>
            <a:r>
              <a:rPr lang="en-US" sz="840" b="1" dirty="0">
                <a:solidFill>
                  <a:srgbClr val="17312B"/>
                </a:solidFill>
              </a:rPr>
              <a:t>Admin + Provider</a:t>
            </a:r>
            <a:endParaRPr lang="en-US" sz="840" dirty="0"/>
          </a:p>
        </p:txBody>
      </p:sp>
      <p:sp>
        <p:nvSpPr>
          <p:cNvPr id="10" name="Shape 7"/>
          <p:cNvSpPr/>
          <p:nvPr/>
        </p:nvSpPr>
        <p:spPr>
          <a:xfrm>
            <a:off x="777240" y="2423160"/>
            <a:ext cx="1691640" cy="658368"/>
          </a:xfrm>
          <a:prstGeom prst="roundRect">
            <a:avLst>
              <a:gd name="adj" fmla="val 6944"/>
            </a:avLst>
          </a:prstGeom>
          <a:solidFill>
            <a:srgbClr val="EEF6FF"/>
          </a:solidFill>
          <a:ln w="12700">
            <a:solidFill>
              <a:srgbClr val="D7E3DA"/>
            </a:solidFill>
            <a:prstDash val="solid"/>
          </a:ln>
        </p:spPr>
      </p:sp>
      <p:sp>
        <p:nvSpPr>
          <p:cNvPr id="11" name="Text 8"/>
          <p:cNvSpPr/>
          <p:nvPr/>
        </p:nvSpPr>
        <p:spPr>
          <a:xfrm>
            <a:off x="850392" y="2532888"/>
            <a:ext cx="1545336" cy="457200"/>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Expo Mobile</a:t>
            </a:r>
            <a:endParaRPr lang="en-US" sz="840" dirty="0"/>
          </a:p>
          <a:p>
            <a:pPr algn="ctr" indent="0" marL="0">
              <a:buNone/>
            </a:pPr>
            <a:r>
              <a:rPr lang="en-US" sz="840" b="1" dirty="0">
                <a:solidFill>
                  <a:srgbClr val="17312B"/>
                </a:solidFill>
              </a:rPr>
              <a:t>Receiver + Volunteer</a:t>
            </a:r>
            <a:endParaRPr lang="en-US" sz="840" dirty="0"/>
          </a:p>
        </p:txBody>
      </p:sp>
      <p:sp>
        <p:nvSpPr>
          <p:cNvPr id="12" name="Shape 9"/>
          <p:cNvSpPr/>
          <p:nvPr/>
        </p:nvSpPr>
        <p:spPr>
          <a:xfrm>
            <a:off x="2743200" y="1901952"/>
            <a:ext cx="566928" cy="310896"/>
          </a:xfrm>
          <a:prstGeom prst="rightArrow">
            <a:avLst/>
          </a:prstGeom>
          <a:solidFill>
            <a:srgbClr val="1F8A4C"/>
          </a:solidFill>
          <a:ln w="12700">
            <a:solidFill>
              <a:srgbClr val="1F8A4C">
                <a:alpha val="0"/>
              </a:srgbClr>
            </a:solidFill>
            <a:prstDash val="solid"/>
          </a:ln>
        </p:spPr>
      </p:sp>
      <p:sp>
        <p:nvSpPr>
          <p:cNvPr id="13" name="Shape 10"/>
          <p:cNvSpPr/>
          <p:nvPr/>
        </p:nvSpPr>
        <p:spPr>
          <a:xfrm>
            <a:off x="3520440" y="1572768"/>
            <a:ext cx="1691640" cy="713232"/>
          </a:xfrm>
          <a:prstGeom prst="roundRect">
            <a:avLst>
              <a:gd name="adj" fmla="val 6410"/>
            </a:avLst>
          </a:prstGeom>
          <a:solidFill>
            <a:srgbClr val="FFFFFF"/>
          </a:solidFill>
          <a:ln w="12700">
            <a:solidFill>
              <a:srgbClr val="D7E3DA"/>
            </a:solidFill>
            <a:prstDash val="solid"/>
          </a:ln>
        </p:spPr>
      </p:sp>
      <p:sp>
        <p:nvSpPr>
          <p:cNvPr id="14" name="Text 11"/>
          <p:cNvSpPr/>
          <p:nvPr/>
        </p:nvSpPr>
        <p:spPr>
          <a:xfrm>
            <a:off x="3593592" y="1682496"/>
            <a:ext cx="1545336" cy="512064"/>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NestJS API</a:t>
            </a:r>
            <a:endParaRPr lang="en-US" sz="840" dirty="0"/>
          </a:p>
          <a:p>
            <a:pPr algn="ctr" indent="0" marL="0">
              <a:buNone/>
            </a:pPr>
            <a:r>
              <a:rPr lang="en-US" sz="840" b="1" dirty="0">
                <a:solidFill>
                  <a:srgbClr val="17312B"/>
                </a:solidFill>
              </a:rPr>
              <a:t>REST /api/v1</a:t>
            </a:r>
            <a:endParaRPr lang="en-US" sz="840" dirty="0"/>
          </a:p>
        </p:txBody>
      </p:sp>
      <p:sp>
        <p:nvSpPr>
          <p:cNvPr id="15" name="Shape 12"/>
          <p:cNvSpPr/>
          <p:nvPr/>
        </p:nvSpPr>
        <p:spPr>
          <a:xfrm>
            <a:off x="3520440" y="2487168"/>
            <a:ext cx="1691640" cy="566928"/>
          </a:xfrm>
          <a:prstGeom prst="roundRect">
            <a:avLst>
              <a:gd name="adj" fmla="val 8065"/>
            </a:avLst>
          </a:prstGeom>
          <a:solidFill>
            <a:srgbClr val="FFFFFF"/>
          </a:solidFill>
          <a:ln w="12700">
            <a:solidFill>
              <a:srgbClr val="D7E3DA"/>
            </a:solidFill>
            <a:prstDash val="solid"/>
          </a:ln>
        </p:spPr>
      </p:sp>
      <p:sp>
        <p:nvSpPr>
          <p:cNvPr id="16" name="Text 13"/>
          <p:cNvSpPr/>
          <p:nvPr/>
        </p:nvSpPr>
        <p:spPr>
          <a:xfrm>
            <a:off x="3593592" y="2596896"/>
            <a:ext cx="1545336" cy="365760"/>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Socket.IO</a:t>
            </a:r>
            <a:endParaRPr lang="en-US" sz="840" dirty="0"/>
          </a:p>
          <a:p>
            <a:pPr algn="ctr" indent="0" marL="0">
              <a:buNone/>
            </a:pPr>
            <a:r>
              <a:rPr lang="en-US" sz="840" b="1" dirty="0">
                <a:solidFill>
                  <a:srgbClr val="17312B"/>
                </a:solidFill>
              </a:rPr>
              <a:t>Realtime</a:t>
            </a:r>
            <a:endParaRPr lang="en-US" sz="840" dirty="0"/>
          </a:p>
        </p:txBody>
      </p:sp>
      <p:sp>
        <p:nvSpPr>
          <p:cNvPr id="17" name="Shape 14"/>
          <p:cNvSpPr/>
          <p:nvPr/>
        </p:nvSpPr>
        <p:spPr>
          <a:xfrm>
            <a:off x="5486400" y="1901952"/>
            <a:ext cx="566928" cy="310896"/>
          </a:xfrm>
          <a:prstGeom prst="rightArrow">
            <a:avLst/>
          </a:prstGeom>
          <a:solidFill>
            <a:srgbClr val="1F8A4C"/>
          </a:solidFill>
          <a:ln w="12700">
            <a:solidFill>
              <a:srgbClr val="1F8A4C">
                <a:alpha val="0"/>
              </a:srgbClr>
            </a:solidFill>
            <a:prstDash val="solid"/>
          </a:ln>
        </p:spPr>
      </p:sp>
      <p:sp>
        <p:nvSpPr>
          <p:cNvPr id="18" name="Shape 15"/>
          <p:cNvSpPr/>
          <p:nvPr/>
        </p:nvSpPr>
        <p:spPr>
          <a:xfrm>
            <a:off x="6263640" y="1572768"/>
            <a:ext cx="1691640" cy="713232"/>
          </a:xfrm>
          <a:prstGeom prst="roundRect">
            <a:avLst>
              <a:gd name="adj" fmla="val 6410"/>
            </a:avLst>
          </a:prstGeom>
          <a:solidFill>
            <a:srgbClr val="EAF6ED"/>
          </a:solidFill>
          <a:ln w="12700">
            <a:solidFill>
              <a:srgbClr val="D7E3DA"/>
            </a:solidFill>
            <a:prstDash val="solid"/>
          </a:ln>
        </p:spPr>
      </p:sp>
      <p:sp>
        <p:nvSpPr>
          <p:cNvPr id="19" name="Text 16"/>
          <p:cNvSpPr/>
          <p:nvPr/>
        </p:nvSpPr>
        <p:spPr>
          <a:xfrm>
            <a:off x="6336792" y="1682496"/>
            <a:ext cx="1545336" cy="512064"/>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Services</a:t>
            </a:r>
            <a:endParaRPr lang="en-US" sz="840" dirty="0"/>
          </a:p>
          <a:p>
            <a:pPr algn="ctr" indent="0" marL="0">
              <a:buNone/>
            </a:pPr>
            <a:r>
              <a:rPr lang="en-US" sz="840" b="1" dirty="0">
                <a:solidFill>
                  <a:srgbClr val="17312B"/>
                </a:solidFill>
              </a:rPr>
              <a:t>Business rules</a:t>
            </a:r>
            <a:endParaRPr lang="en-US" sz="840" dirty="0"/>
          </a:p>
        </p:txBody>
      </p:sp>
      <p:sp>
        <p:nvSpPr>
          <p:cNvPr id="20" name="Shape 17"/>
          <p:cNvSpPr/>
          <p:nvPr/>
        </p:nvSpPr>
        <p:spPr>
          <a:xfrm>
            <a:off x="6263640" y="2487168"/>
            <a:ext cx="1691640" cy="566928"/>
          </a:xfrm>
          <a:prstGeom prst="roundRect">
            <a:avLst>
              <a:gd name="adj" fmla="val 8065"/>
            </a:avLst>
          </a:prstGeom>
          <a:solidFill>
            <a:srgbClr val="EAF6ED"/>
          </a:solidFill>
          <a:ln w="12700">
            <a:solidFill>
              <a:srgbClr val="D7E3DA"/>
            </a:solidFill>
            <a:prstDash val="solid"/>
          </a:ln>
        </p:spPr>
      </p:sp>
      <p:sp>
        <p:nvSpPr>
          <p:cNvPr id="21" name="Text 18"/>
          <p:cNvSpPr/>
          <p:nvPr/>
        </p:nvSpPr>
        <p:spPr>
          <a:xfrm>
            <a:off x="6336792" y="2596896"/>
            <a:ext cx="1545336" cy="365760"/>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PrismaService</a:t>
            </a:r>
            <a:endParaRPr lang="en-US" sz="840" dirty="0"/>
          </a:p>
          <a:p>
            <a:pPr algn="ctr" indent="0" marL="0">
              <a:buNone/>
            </a:pPr>
            <a:r>
              <a:rPr lang="en-US" sz="840" b="1" dirty="0">
                <a:solidFill>
                  <a:srgbClr val="17312B"/>
                </a:solidFill>
              </a:rPr>
              <a:t>Data access</a:t>
            </a:r>
            <a:endParaRPr lang="en-US" sz="840" dirty="0"/>
          </a:p>
        </p:txBody>
      </p:sp>
      <p:sp>
        <p:nvSpPr>
          <p:cNvPr id="22" name="Shape 19"/>
          <p:cNvSpPr/>
          <p:nvPr/>
        </p:nvSpPr>
        <p:spPr>
          <a:xfrm>
            <a:off x="8229600" y="1901952"/>
            <a:ext cx="566928" cy="310896"/>
          </a:xfrm>
          <a:prstGeom prst="rightArrow">
            <a:avLst/>
          </a:prstGeom>
          <a:solidFill>
            <a:srgbClr val="1F8A4C"/>
          </a:solidFill>
          <a:ln w="12700">
            <a:solidFill>
              <a:srgbClr val="1F8A4C">
                <a:alpha val="0"/>
              </a:srgbClr>
            </a:solidFill>
            <a:prstDash val="solid"/>
          </a:ln>
        </p:spPr>
      </p:sp>
      <p:sp>
        <p:nvSpPr>
          <p:cNvPr id="23" name="Shape 20"/>
          <p:cNvSpPr/>
          <p:nvPr/>
        </p:nvSpPr>
        <p:spPr>
          <a:xfrm>
            <a:off x="9006840" y="1325880"/>
            <a:ext cx="1508760" cy="676656"/>
          </a:xfrm>
          <a:prstGeom prst="roundRect">
            <a:avLst>
              <a:gd name="adj" fmla="val 6757"/>
            </a:avLst>
          </a:prstGeom>
          <a:solidFill>
            <a:srgbClr val="FFF4E8"/>
          </a:solidFill>
          <a:ln w="12700">
            <a:solidFill>
              <a:srgbClr val="D7E3DA"/>
            </a:solidFill>
            <a:prstDash val="solid"/>
          </a:ln>
        </p:spPr>
      </p:sp>
      <p:sp>
        <p:nvSpPr>
          <p:cNvPr id="24" name="Text 21"/>
          <p:cNvSpPr/>
          <p:nvPr/>
        </p:nvSpPr>
        <p:spPr>
          <a:xfrm>
            <a:off x="9079992" y="1435608"/>
            <a:ext cx="1362456" cy="475488"/>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PostgreSQL</a:t>
            </a:r>
            <a:endParaRPr lang="en-US" sz="840" dirty="0"/>
          </a:p>
          <a:p>
            <a:pPr algn="ctr" indent="0" marL="0">
              <a:buNone/>
            </a:pPr>
            <a:r>
              <a:rPr lang="en-US" sz="840" b="1" dirty="0">
                <a:solidFill>
                  <a:srgbClr val="17312B"/>
                </a:solidFill>
              </a:rPr>
              <a:t>+ PostGIS</a:t>
            </a:r>
            <a:endParaRPr lang="en-US" sz="840" dirty="0"/>
          </a:p>
        </p:txBody>
      </p:sp>
      <p:sp>
        <p:nvSpPr>
          <p:cNvPr id="25" name="Shape 22"/>
          <p:cNvSpPr/>
          <p:nvPr/>
        </p:nvSpPr>
        <p:spPr>
          <a:xfrm>
            <a:off x="9006840" y="2148840"/>
            <a:ext cx="1508760" cy="676656"/>
          </a:xfrm>
          <a:prstGeom prst="roundRect">
            <a:avLst>
              <a:gd name="adj" fmla="val 6757"/>
            </a:avLst>
          </a:prstGeom>
          <a:solidFill>
            <a:srgbClr val="F8EFEF"/>
          </a:solidFill>
          <a:ln w="12700">
            <a:solidFill>
              <a:srgbClr val="D7E3DA"/>
            </a:solidFill>
            <a:prstDash val="solid"/>
          </a:ln>
        </p:spPr>
      </p:sp>
      <p:sp>
        <p:nvSpPr>
          <p:cNvPr id="26" name="Text 23"/>
          <p:cNvSpPr/>
          <p:nvPr/>
        </p:nvSpPr>
        <p:spPr>
          <a:xfrm>
            <a:off x="9079992" y="2258568"/>
            <a:ext cx="1362456" cy="475488"/>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Redis</a:t>
            </a:r>
            <a:endParaRPr lang="en-US" sz="840" dirty="0"/>
          </a:p>
          <a:p>
            <a:pPr algn="ctr" indent="0" marL="0">
              <a:buNone/>
            </a:pPr>
            <a:r>
              <a:rPr lang="en-US" sz="840" b="1" dirty="0">
                <a:solidFill>
                  <a:srgbClr val="17312B"/>
                </a:solidFill>
              </a:rPr>
              <a:t>Lock + Queue</a:t>
            </a:r>
            <a:endParaRPr lang="en-US" sz="840" dirty="0"/>
          </a:p>
        </p:txBody>
      </p:sp>
      <p:sp>
        <p:nvSpPr>
          <p:cNvPr id="27" name="Shape 24"/>
          <p:cNvSpPr/>
          <p:nvPr/>
        </p:nvSpPr>
        <p:spPr>
          <a:xfrm>
            <a:off x="9006840" y="2971800"/>
            <a:ext cx="1508760" cy="676656"/>
          </a:xfrm>
          <a:prstGeom prst="roundRect">
            <a:avLst>
              <a:gd name="adj" fmla="val 6757"/>
            </a:avLst>
          </a:prstGeom>
          <a:solidFill>
            <a:srgbClr val="EEF6FF"/>
          </a:solidFill>
          <a:ln w="12700">
            <a:solidFill>
              <a:srgbClr val="D7E3DA"/>
            </a:solidFill>
            <a:prstDash val="solid"/>
          </a:ln>
        </p:spPr>
      </p:sp>
      <p:sp>
        <p:nvSpPr>
          <p:cNvPr id="28" name="Text 25"/>
          <p:cNvSpPr/>
          <p:nvPr/>
        </p:nvSpPr>
        <p:spPr>
          <a:xfrm>
            <a:off x="9079992" y="3081528"/>
            <a:ext cx="1362456" cy="475488"/>
          </a:xfrm>
          <a:prstGeom prst="rect">
            <a:avLst/>
          </a:prstGeom>
          <a:noFill/>
          <a:ln/>
        </p:spPr>
        <p:txBody>
          <a:bodyPr wrap="square" lIns="0" tIns="0" rIns="0" bIns="0" rtlCol="0" anchor="ctr">
            <a:normAutofit/>
          </a:bodyPr>
          <a:lstStyle/>
          <a:p>
            <a:pPr algn="ctr" indent="0" marL="0">
              <a:buNone/>
            </a:pPr>
            <a:r>
              <a:rPr lang="en-US" sz="840" b="1" dirty="0">
                <a:solidFill>
                  <a:srgbClr val="17312B"/>
                </a:solidFill>
              </a:rPr>
              <a:t>Firebase / FCM</a:t>
            </a:r>
            <a:endParaRPr lang="en-US" sz="840" dirty="0"/>
          </a:p>
          <a:p>
            <a:pPr algn="ctr" indent="0" marL="0">
              <a:buNone/>
            </a:pPr>
            <a:r>
              <a:rPr lang="en-US" sz="840" b="1" dirty="0">
                <a:solidFill>
                  <a:srgbClr val="17312B"/>
                </a:solidFill>
              </a:rPr>
              <a:t>Push + login</a:t>
            </a:r>
            <a:endParaRPr lang="en-US" sz="840" dirty="0"/>
          </a:p>
        </p:txBody>
      </p:sp>
      <p:sp>
        <p:nvSpPr>
          <p:cNvPr id="29" name="Shape 26"/>
          <p:cNvSpPr/>
          <p:nvPr/>
        </p:nvSpPr>
        <p:spPr>
          <a:xfrm>
            <a:off x="868680" y="4315968"/>
            <a:ext cx="2834640" cy="1024128"/>
          </a:xfrm>
          <a:prstGeom prst="roundRect">
            <a:avLst>
              <a:gd name="adj" fmla="val 5357"/>
            </a:avLst>
          </a:prstGeom>
          <a:solidFill>
            <a:srgbClr val="FFFFFF"/>
          </a:solidFill>
          <a:ln w="12700">
            <a:solidFill>
              <a:srgbClr val="D7E3DA"/>
            </a:solidFill>
            <a:prstDash val="solid"/>
          </a:ln>
        </p:spPr>
      </p:sp>
      <p:sp>
        <p:nvSpPr>
          <p:cNvPr id="30" name="Shape 27"/>
          <p:cNvSpPr/>
          <p:nvPr/>
        </p:nvSpPr>
        <p:spPr>
          <a:xfrm>
            <a:off x="868680" y="4315968"/>
            <a:ext cx="73152" cy="1024128"/>
          </a:xfrm>
          <a:prstGeom prst="rect">
            <a:avLst/>
          </a:prstGeom>
          <a:solidFill>
            <a:srgbClr val="1F8A4C"/>
          </a:solidFill>
          <a:ln w="12700">
            <a:solidFill>
              <a:srgbClr val="1F8A4C">
                <a:alpha val="0"/>
              </a:srgbClr>
            </a:solidFill>
            <a:prstDash val="solid"/>
          </a:ln>
        </p:spPr>
      </p:sp>
      <p:sp>
        <p:nvSpPr>
          <p:cNvPr id="31" name="Text 28"/>
          <p:cNvSpPr/>
          <p:nvPr/>
        </p:nvSpPr>
        <p:spPr>
          <a:xfrm>
            <a:off x="1078992" y="4480560"/>
            <a:ext cx="2487168" cy="228600"/>
          </a:xfrm>
          <a:prstGeom prst="rect">
            <a:avLst/>
          </a:prstGeom>
          <a:noFill/>
          <a:ln/>
        </p:spPr>
        <p:txBody>
          <a:bodyPr wrap="square" lIns="0" tIns="0" rIns="0" bIns="0" rtlCol="0" anchor="ctr"/>
          <a:lstStyle/>
          <a:p>
            <a:pPr indent="0" marL="0">
              <a:buNone/>
            </a:pPr>
            <a:r>
              <a:rPr lang="en-US" sz="1150" b="1" dirty="0">
                <a:solidFill>
                  <a:srgbClr val="17312B"/>
                </a:solidFill>
              </a:rPr>
              <a:t>Điểm bảo vệ</a:t>
            </a:r>
            <a:endParaRPr lang="en-US" sz="1150" dirty="0"/>
          </a:p>
        </p:txBody>
      </p:sp>
      <p:sp>
        <p:nvSpPr>
          <p:cNvPr id="32" name="Text 29"/>
          <p:cNvSpPr/>
          <p:nvPr/>
        </p:nvSpPr>
        <p:spPr>
          <a:xfrm>
            <a:off x="1078992" y="4791456"/>
            <a:ext cx="2487168" cy="384048"/>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Client chỉ gọi API/Socket; mọi phân quyền, validation, transaction, raw spatial query được kiểm soát ở backend.</a:t>
            </a:r>
            <a:endParaRPr lang="en-US" sz="870" dirty="0"/>
          </a:p>
        </p:txBody>
      </p:sp>
      <p:sp>
        <p:nvSpPr>
          <p:cNvPr id="33" name="Shape 30"/>
          <p:cNvSpPr/>
          <p:nvPr/>
        </p:nvSpPr>
        <p:spPr>
          <a:xfrm>
            <a:off x="4069080" y="4315968"/>
            <a:ext cx="2834640" cy="1024128"/>
          </a:xfrm>
          <a:prstGeom prst="roundRect">
            <a:avLst>
              <a:gd name="adj" fmla="val 5357"/>
            </a:avLst>
          </a:prstGeom>
          <a:solidFill>
            <a:srgbClr val="FFFFFF"/>
          </a:solidFill>
          <a:ln w="12700">
            <a:solidFill>
              <a:srgbClr val="D7E3DA"/>
            </a:solidFill>
            <a:prstDash val="solid"/>
          </a:ln>
        </p:spPr>
      </p:sp>
      <p:sp>
        <p:nvSpPr>
          <p:cNvPr id="34" name="Shape 31"/>
          <p:cNvSpPr/>
          <p:nvPr/>
        </p:nvSpPr>
        <p:spPr>
          <a:xfrm>
            <a:off x="4069080" y="4315968"/>
            <a:ext cx="73152" cy="1024128"/>
          </a:xfrm>
          <a:prstGeom prst="rect">
            <a:avLst/>
          </a:prstGeom>
          <a:solidFill>
            <a:srgbClr val="2574A9"/>
          </a:solidFill>
          <a:ln w="12700">
            <a:solidFill>
              <a:srgbClr val="2574A9">
                <a:alpha val="0"/>
              </a:srgbClr>
            </a:solidFill>
            <a:prstDash val="solid"/>
          </a:ln>
        </p:spPr>
      </p:sp>
      <p:sp>
        <p:nvSpPr>
          <p:cNvPr id="35" name="Text 32"/>
          <p:cNvSpPr/>
          <p:nvPr/>
        </p:nvSpPr>
        <p:spPr>
          <a:xfrm>
            <a:off x="4279392" y="4480560"/>
            <a:ext cx="2487168" cy="228600"/>
          </a:xfrm>
          <a:prstGeom prst="rect">
            <a:avLst/>
          </a:prstGeom>
          <a:noFill/>
          <a:ln/>
        </p:spPr>
        <p:txBody>
          <a:bodyPr wrap="square" lIns="0" tIns="0" rIns="0" bIns="0" rtlCol="0" anchor="ctr"/>
          <a:lstStyle/>
          <a:p>
            <a:pPr indent="0" marL="0">
              <a:buNone/>
            </a:pPr>
            <a:r>
              <a:rPr lang="en-US" sz="1150" b="1" dirty="0">
                <a:solidFill>
                  <a:srgbClr val="17312B"/>
                </a:solidFill>
              </a:rPr>
              <a:t>Tính mở rộng</a:t>
            </a:r>
            <a:endParaRPr lang="en-US" sz="1150" dirty="0"/>
          </a:p>
        </p:txBody>
      </p:sp>
      <p:sp>
        <p:nvSpPr>
          <p:cNvPr id="36" name="Text 33"/>
          <p:cNvSpPr/>
          <p:nvPr/>
        </p:nvSpPr>
        <p:spPr>
          <a:xfrm>
            <a:off x="4279392" y="4791456"/>
            <a:ext cx="2487168" cy="384048"/>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Redis lock/queue tách xử lý đồng thời, WebSocket/FCM tách realtime notification.</a:t>
            </a:r>
            <a:endParaRPr lang="en-US" sz="870" dirty="0"/>
          </a:p>
        </p:txBody>
      </p:sp>
      <p:sp>
        <p:nvSpPr>
          <p:cNvPr id="37" name="Shape 34"/>
          <p:cNvSpPr/>
          <p:nvPr/>
        </p:nvSpPr>
        <p:spPr>
          <a:xfrm>
            <a:off x="7269480" y="4315968"/>
            <a:ext cx="2834640" cy="1024128"/>
          </a:xfrm>
          <a:prstGeom prst="roundRect">
            <a:avLst>
              <a:gd name="adj" fmla="val 5357"/>
            </a:avLst>
          </a:prstGeom>
          <a:solidFill>
            <a:srgbClr val="FFFFFF"/>
          </a:solidFill>
          <a:ln w="12700">
            <a:solidFill>
              <a:srgbClr val="D7E3DA"/>
            </a:solidFill>
            <a:prstDash val="solid"/>
          </a:ln>
        </p:spPr>
      </p:sp>
      <p:sp>
        <p:nvSpPr>
          <p:cNvPr id="38" name="Shape 35"/>
          <p:cNvSpPr/>
          <p:nvPr/>
        </p:nvSpPr>
        <p:spPr>
          <a:xfrm>
            <a:off x="7269480" y="4315968"/>
            <a:ext cx="73152" cy="1024128"/>
          </a:xfrm>
          <a:prstGeom prst="rect">
            <a:avLst/>
          </a:prstGeom>
          <a:solidFill>
            <a:srgbClr val="F28C38"/>
          </a:solidFill>
          <a:ln w="12700">
            <a:solidFill>
              <a:srgbClr val="F28C38">
                <a:alpha val="0"/>
              </a:srgbClr>
            </a:solidFill>
            <a:prstDash val="solid"/>
          </a:ln>
        </p:spPr>
      </p:sp>
      <p:sp>
        <p:nvSpPr>
          <p:cNvPr id="39" name="Text 36"/>
          <p:cNvSpPr/>
          <p:nvPr/>
        </p:nvSpPr>
        <p:spPr>
          <a:xfrm>
            <a:off x="7479792" y="4480560"/>
            <a:ext cx="2487168" cy="228600"/>
          </a:xfrm>
          <a:prstGeom prst="rect">
            <a:avLst/>
          </a:prstGeom>
          <a:noFill/>
          <a:ln/>
        </p:spPr>
        <p:txBody>
          <a:bodyPr wrap="square" lIns="0" tIns="0" rIns="0" bIns="0" rtlCol="0" anchor="ctr"/>
          <a:lstStyle/>
          <a:p>
            <a:pPr indent="0" marL="0">
              <a:buNone/>
            </a:pPr>
            <a:r>
              <a:rPr lang="en-US" sz="1150" b="1" dirty="0">
                <a:solidFill>
                  <a:srgbClr val="17312B"/>
                </a:solidFill>
              </a:rPr>
              <a:t>Dữ liệu vị trí</a:t>
            </a:r>
            <a:endParaRPr lang="en-US" sz="1150" dirty="0"/>
          </a:p>
        </p:txBody>
      </p:sp>
      <p:sp>
        <p:nvSpPr>
          <p:cNvPr id="40" name="Text 37"/>
          <p:cNvSpPr/>
          <p:nvPr/>
        </p:nvSpPr>
        <p:spPr>
          <a:xfrm>
            <a:off x="7479792" y="4791456"/>
            <a:ext cx="2487168" cy="384048"/>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PostGIS geography + GiST index cho tìm đồ ăn/shipper gần nhất theo mét.</a:t>
            </a:r>
            <a:endParaRPr lang="en-US" sz="87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502920" y="475488"/>
            <a:ext cx="7772400" cy="502920"/>
          </a:xfrm>
          <a:prstGeom prst="rect">
            <a:avLst/>
          </a:prstGeom>
          <a:noFill/>
          <a:ln/>
        </p:spPr>
        <p:txBody>
          <a:bodyPr wrap="square" lIns="0" tIns="0" rIns="0" bIns="0" rtlCol="0" anchor="ctr"/>
          <a:lstStyle/>
          <a:p>
            <a:pPr indent="0" marL="0">
              <a:buNone/>
            </a:pPr>
            <a:r>
              <a:rPr lang="en-US" sz="2500" b="1" dirty="0">
                <a:solidFill>
                  <a:srgbClr val="17312B"/>
                </a:solidFill>
              </a:rPr>
              <a:t>Công nghệ sử dụng</a:t>
            </a:r>
            <a:endParaRPr lang="en-US" sz="2500" dirty="0"/>
          </a:p>
        </p:txBody>
      </p:sp>
      <p:sp>
        <p:nvSpPr>
          <p:cNvPr id="3" name="Text 1"/>
          <p:cNvSpPr/>
          <p:nvPr/>
        </p:nvSpPr>
        <p:spPr>
          <a:xfrm>
            <a:off x="502920" y="987552"/>
            <a:ext cx="8046720" cy="292608"/>
          </a:xfrm>
          <a:prstGeom prst="rect">
            <a:avLst/>
          </a:prstGeom>
          <a:noFill/>
          <a:ln/>
        </p:spPr>
        <p:txBody>
          <a:bodyPr wrap="square" lIns="0" tIns="0" rIns="0" bIns="0" rtlCol="0" anchor="ctr"/>
          <a:lstStyle/>
          <a:p>
            <a:pPr indent="0" marL="0">
              <a:buNone/>
            </a:pPr>
            <a:r>
              <a:rPr lang="en-US" sz="1050" dirty="0">
                <a:solidFill>
                  <a:srgbClr val="5D6A66"/>
                </a:solidFill>
              </a:rPr>
              <a:t>Stack TypeScript xuyên suốt, kèm các dịch vụ cho realtime, queue, geospatial và xác thực.</a:t>
            </a:r>
            <a:endParaRPr lang="en-US" sz="1050" dirty="0"/>
          </a:p>
        </p:txBody>
      </p:sp>
      <p:sp>
        <p:nvSpPr>
          <p:cNvPr id="4" name="Shape 2"/>
          <p:cNvSpPr/>
          <p:nvPr/>
        </p:nvSpPr>
        <p:spPr>
          <a:xfrm>
            <a:off x="502920" y="6446520"/>
            <a:ext cx="11173968" cy="0"/>
          </a:xfrm>
          <a:prstGeom prst="line">
            <a:avLst/>
          </a:prstGeom>
          <a:noFill/>
          <a:ln w="12700">
            <a:solidFill>
              <a:srgbClr val="D7E3DA"/>
            </a:solidFill>
            <a:prstDash val="solid"/>
          </a:ln>
        </p:spPr>
      </p:sp>
      <p:sp>
        <p:nvSpPr>
          <p:cNvPr id="5" name="Text 3"/>
          <p:cNvSpPr/>
          <p:nvPr/>
        </p:nvSpPr>
        <p:spPr>
          <a:xfrm>
            <a:off x="502920" y="6519672"/>
            <a:ext cx="4389120" cy="164592"/>
          </a:xfrm>
          <a:prstGeom prst="rect">
            <a:avLst/>
          </a:prstGeom>
          <a:noFill/>
          <a:ln/>
        </p:spPr>
        <p:txBody>
          <a:bodyPr wrap="square" lIns="0" tIns="0" rIns="0" bIns="0" rtlCol="0" anchor="ctr"/>
          <a:lstStyle/>
          <a:p>
            <a:pPr indent="0" marL="0">
              <a:buNone/>
            </a:pPr>
            <a:r>
              <a:rPr lang="en-US" sz="760" dirty="0">
                <a:solidFill>
                  <a:srgbClr val="5D6A66"/>
                </a:solidFill>
                <a:latin typeface="Aptos" pitchFamily="34" charset="0"/>
                <a:ea typeface="Aptos" pitchFamily="34" charset="-122"/>
                <a:cs typeface="Aptos" pitchFamily="34" charset="-120"/>
              </a:rPr>
              <a:t>FoodResQ | Capstone SP26SE088</a:t>
            </a:r>
            <a:endParaRPr lang="en-US" sz="760" dirty="0"/>
          </a:p>
        </p:txBody>
      </p:sp>
      <p:sp>
        <p:nvSpPr>
          <p:cNvPr id="6" name="Text 4"/>
          <p:cNvSpPr/>
          <p:nvPr/>
        </p:nvSpPr>
        <p:spPr>
          <a:xfrm>
            <a:off x="11192256" y="6492240"/>
            <a:ext cx="457200" cy="201168"/>
          </a:xfrm>
          <a:prstGeom prst="rect">
            <a:avLst/>
          </a:prstGeom>
          <a:noFill/>
          <a:ln/>
        </p:spPr>
        <p:txBody>
          <a:bodyPr wrap="square" lIns="0" tIns="0" rIns="0" bIns="0" rtlCol="0" anchor="ctr"/>
          <a:lstStyle/>
          <a:p>
            <a:pPr algn="r" indent="0" marL="0">
              <a:buNone/>
            </a:pPr>
            <a:r>
              <a:rPr lang="en-US" sz="800" b="1" dirty="0">
                <a:solidFill>
                  <a:srgbClr val="5D6A66"/>
                </a:solidFill>
              </a:rPr>
              <a:t>12</a:t>
            </a:r>
            <a:endParaRPr lang="en-US" sz="800" dirty="0"/>
          </a:p>
        </p:txBody>
      </p:sp>
      <p:pic>
        <p:nvPicPr>
          <p:cNvPr id="7" name="Image 0" descr="D:\Capstone_FoodResQ_Web\apps\web\public\Logo_FoodResQ.png">    </p:cNvPr>
          <p:cNvPicPr>
            <a:picLocks noChangeAspect="1"/>
          </p:cNvPicPr>
          <p:nvPr/>
        </p:nvPicPr>
        <p:blipFill>
          <a:blip r:embed="rId1"/>
          <a:stretch>
            <a:fillRect/>
          </a:stretch>
        </p:blipFill>
        <p:spPr>
          <a:xfrm>
            <a:off x="10652760" y="310896"/>
            <a:ext cx="960120" cy="420624"/>
          </a:xfrm>
          <a:prstGeom prst="rect">
            <a:avLst/>
          </a:prstGeom>
        </p:spPr>
      </p:pic>
      <p:sp>
        <p:nvSpPr>
          <p:cNvPr id="8" name="Shape 5"/>
          <p:cNvSpPr/>
          <p:nvPr/>
        </p:nvSpPr>
        <p:spPr>
          <a:xfrm>
            <a:off x="777240" y="1389888"/>
            <a:ext cx="4983480" cy="987552"/>
          </a:xfrm>
          <a:prstGeom prst="roundRect">
            <a:avLst>
              <a:gd name="adj" fmla="val 5556"/>
            </a:avLst>
          </a:prstGeom>
          <a:solidFill>
            <a:srgbClr val="FFFFFF"/>
          </a:solidFill>
          <a:ln w="12700">
            <a:solidFill>
              <a:srgbClr val="D7E3DA"/>
            </a:solidFill>
            <a:prstDash val="solid"/>
          </a:ln>
        </p:spPr>
      </p:sp>
      <p:sp>
        <p:nvSpPr>
          <p:cNvPr id="9" name="Shape 6"/>
          <p:cNvSpPr/>
          <p:nvPr/>
        </p:nvSpPr>
        <p:spPr>
          <a:xfrm>
            <a:off x="777240" y="1389888"/>
            <a:ext cx="73152" cy="987552"/>
          </a:xfrm>
          <a:prstGeom prst="rect">
            <a:avLst/>
          </a:prstGeom>
          <a:solidFill>
            <a:srgbClr val="1F8A4C"/>
          </a:solidFill>
          <a:ln w="12700">
            <a:solidFill>
              <a:srgbClr val="1F8A4C">
                <a:alpha val="0"/>
              </a:srgbClr>
            </a:solidFill>
            <a:prstDash val="solid"/>
          </a:ln>
        </p:spPr>
      </p:sp>
      <p:sp>
        <p:nvSpPr>
          <p:cNvPr id="10" name="Text 7"/>
          <p:cNvSpPr/>
          <p:nvPr/>
        </p:nvSpPr>
        <p:spPr>
          <a:xfrm>
            <a:off x="987552" y="1554480"/>
            <a:ext cx="4636008" cy="228600"/>
          </a:xfrm>
          <a:prstGeom prst="rect">
            <a:avLst/>
          </a:prstGeom>
          <a:noFill/>
          <a:ln/>
        </p:spPr>
        <p:txBody>
          <a:bodyPr wrap="square" lIns="0" tIns="0" rIns="0" bIns="0" rtlCol="0" anchor="ctr"/>
          <a:lstStyle/>
          <a:p>
            <a:pPr indent="0" marL="0">
              <a:buNone/>
            </a:pPr>
            <a:r>
              <a:rPr lang="en-US" sz="1150" b="1" dirty="0">
                <a:solidFill>
                  <a:srgbClr val="17312B"/>
                </a:solidFill>
              </a:rPr>
              <a:t>Frontend Web</a:t>
            </a:r>
            <a:endParaRPr lang="en-US" sz="1150" dirty="0"/>
          </a:p>
        </p:txBody>
      </p:sp>
      <p:sp>
        <p:nvSpPr>
          <p:cNvPr id="11" name="Text 8"/>
          <p:cNvSpPr/>
          <p:nvPr/>
        </p:nvSpPr>
        <p:spPr>
          <a:xfrm>
            <a:off x="987552" y="1865376"/>
            <a:ext cx="4636008" cy="347472"/>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Next.js App Router, React, Tailwind, shadcn/ui, TanStack Query, Axios, Zod, Zustand</a:t>
            </a:r>
            <a:endParaRPr lang="en-US" sz="870" dirty="0"/>
          </a:p>
        </p:txBody>
      </p:sp>
      <p:sp>
        <p:nvSpPr>
          <p:cNvPr id="12" name="Shape 9"/>
          <p:cNvSpPr/>
          <p:nvPr/>
        </p:nvSpPr>
        <p:spPr>
          <a:xfrm>
            <a:off x="6217920" y="1389888"/>
            <a:ext cx="4983480" cy="987552"/>
          </a:xfrm>
          <a:prstGeom prst="roundRect">
            <a:avLst>
              <a:gd name="adj" fmla="val 5556"/>
            </a:avLst>
          </a:prstGeom>
          <a:solidFill>
            <a:srgbClr val="FFFFFF"/>
          </a:solidFill>
          <a:ln w="12700">
            <a:solidFill>
              <a:srgbClr val="D7E3DA"/>
            </a:solidFill>
            <a:prstDash val="solid"/>
          </a:ln>
        </p:spPr>
      </p:sp>
      <p:sp>
        <p:nvSpPr>
          <p:cNvPr id="13" name="Shape 10"/>
          <p:cNvSpPr/>
          <p:nvPr/>
        </p:nvSpPr>
        <p:spPr>
          <a:xfrm>
            <a:off x="6217920" y="1389888"/>
            <a:ext cx="73152" cy="987552"/>
          </a:xfrm>
          <a:prstGeom prst="rect">
            <a:avLst/>
          </a:prstGeom>
          <a:solidFill>
            <a:srgbClr val="2574A9"/>
          </a:solidFill>
          <a:ln w="12700">
            <a:solidFill>
              <a:srgbClr val="2574A9">
                <a:alpha val="0"/>
              </a:srgbClr>
            </a:solidFill>
            <a:prstDash val="solid"/>
          </a:ln>
        </p:spPr>
      </p:sp>
      <p:sp>
        <p:nvSpPr>
          <p:cNvPr id="14" name="Text 11"/>
          <p:cNvSpPr/>
          <p:nvPr/>
        </p:nvSpPr>
        <p:spPr>
          <a:xfrm>
            <a:off x="6428232" y="1554480"/>
            <a:ext cx="4636008" cy="228600"/>
          </a:xfrm>
          <a:prstGeom prst="rect">
            <a:avLst/>
          </a:prstGeom>
          <a:noFill/>
          <a:ln/>
        </p:spPr>
        <p:txBody>
          <a:bodyPr wrap="square" lIns="0" tIns="0" rIns="0" bIns="0" rtlCol="0" anchor="ctr"/>
          <a:lstStyle/>
          <a:p>
            <a:pPr indent="0" marL="0">
              <a:buNone/>
            </a:pPr>
            <a:r>
              <a:rPr lang="en-US" sz="1150" b="1" dirty="0">
                <a:solidFill>
                  <a:srgbClr val="17312B"/>
                </a:solidFill>
              </a:rPr>
              <a:t>Mobile</a:t>
            </a:r>
            <a:endParaRPr lang="en-US" sz="1150" dirty="0"/>
          </a:p>
        </p:txBody>
      </p:sp>
      <p:sp>
        <p:nvSpPr>
          <p:cNvPr id="15" name="Text 12"/>
          <p:cNvSpPr/>
          <p:nvPr/>
        </p:nvSpPr>
        <p:spPr>
          <a:xfrm>
            <a:off x="6428232" y="1865376"/>
            <a:ext cx="4636008" cy="347472"/>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Expo / React Native, React Query, AsyncStorage, Map/Location, camera/QR flows</a:t>
            </a:r>
            <a:endParaRPr lang="en-US" sz="870" dirty="0"/>
          </a:p>
        </p:txBody>
      </p:sp>
      <p:sp>
        <p:nvSpPr>
          <p:cNvPr id="16" name="Shape 13"/>
          <p:cNvSpPr/>
          <p:nvPr/>
        </p:nvSpPr>
        <p:spPr>
          <a:xfrm>
            <a:off x="777240" y="2807208"/>
            <a:ext cx="4983480" cy="987552"/>
          </a:xfrm>
          <a:prstGeom prst="roundRect">
            <a:avLst>
              <a:gd name="adj" fmla="val 5556"/>
            </a:avLst>
          </a:prstGeom>
          <a:solidFill>
            <a:srgbClr val="FFFFFF"/>
          </a:solidFill>
          <a:ln w="12700">
            <a:solidFill>
              <a:srgbClr val="D7E3DA"/>
            </a:solidFill>
            <a:prstDash val="solid"/>
          </a:ln>
        </p:spPr>
      </p:sp>
      <p:sp>
        <p:nvSpPr>
          <p:cNvPr id="17" name="Shape 14"/>
          <p:cNvSpPr/>
          <p:nvPr/>
        </p:nvSpPr>
        <p:spPr>
          <a:xfrm>
            <a:off x="777240" y="2807208"/>
            <a:ext cx="73152" cy="987552"/>
          </a:xfrm>
          <a:prstGeom prst="rect">
            <a:avLst/>
          </a:prstGeom>
          <a:solidFill>
            <a:srgbClr val="F28C38"/>
          </a:solidFill>
          <a:ln w="12700">
            <a:solidFill>
              <a:srgbClr val="F28C38">
                <a:alpha val="0"/>
              </a:srgbClr>
            </a:solidFill>
            <a:prstDash val="solid"/>
          </a:ln>
        </p:spPr>
      </p:sp>
      <p:sp>
        <p:nvSpPr>
          <p:cNvPr id="18" name="Text 15"/>
          <p:cNvSpPr/>
          <p:nvPr/>
        </p:nvSpPr>
        <p:spPr>
          <a:xfrm>
            <a:off x="987552" y="2971800"/>
            <a:ext cx="4636008" cy="228600"/>
          </a:xfrm>
          <a:prstGeom prst="rect">
            <a:avLst/>
          </a:prstGeom>
          <a:noFill/>
          <a:ln/>
        </p:spPr>
        <p:txBody>
          <a:bodyPr wrap="square" lIns="0" tIns="0" rIns="0" bIns="0" rtlCol="0" anchor="ctr"/>
          <a:lstStyle/>
          <a:p>
            <a:pPr indent="0" marL="0">
              <a:buNone/>
            </a:pPr>
            <a:r>
              <a:rPr lang="en-US" sz="1150" b="1" dirty="0">
                <a:solidFill>
                  <a:srgbClr val="17312B"/>
                </a:solidFill>
              </a:rPr>
              <a:t>Backend</a:t>
            </a:r>
            <a:endParaRPr lang="en-US" sz="1150" dirty="0"/>
          </a:p>
        </p:txBody>
      </p:sp>
      <p:sp>
        <p:nvSpPr>
          <p:cNvPr id="19" name="Text 16"/>
          <p:cNvSpPr/>
          <p:nvPr/>
        </p:nvSpPr>
        <p:spPr>
          <a:xfrm>
            <a:off x="987552" y="3282696"/>
            <a:ext cx="4636008" cy="347472"/>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NestJS, Prisma, Passport JWT, class-validator, Swagger, Pino, Helmet, Throttler</a:t>
            </a:r>
            <a:endParaRPr lang="en-US" sz="870" dirty="0"/>
          </a:p>
        </p:txBody>
      </p:sp>
      <p:sp>
        <p:nvSpPr>
          <p:cNvPr id="20" name="Shape 17"/>
          <p:cNvSpPr/>
          <p:nvPr/>
        </p:nvSpPr>
        <p:spPr>
          <a:xfrm>
            <a:off x="6217920" y="2807208"/>
            <a:ext cx="4983480" cy="987552"/>
          </a:xfrm>
          <a:prstGeom prst="roundRect">
            <a:avLst>
              <a:gd name="adj" fmla="val 5556"/>
            </a:avLst>
          </a:prstGeom>
          <a:solidFill>
            <a:srgbClr val="FFFFFF"/>
          </a:solidFill>
          <a:ln w="12700">
            <a:solidFill>
              <a:srgbClr val="D7E3DA"/>
            </a:solidFill>
            <a:prstDash val="solid"/>
          </a:ln>
        </p:spPr>
      </p:sp>
      <p:sp>
        <p:nvSpPr>
          <p:cNvPr id="21" name="Shape 18"/>
          <p:cNvSpPr/>
          <p:nvPr/>
        </p:nvSpPr>
        <p:spPr>
          <a:xfrm>
            <a:off x="6217920" y="2807208"/>
            <a:ext cx="73152" cy="987552"/>
          </a:xfrm>
          <a:prstGeom prst="rect">
            <a:avLst/>
          </a:prstGeom>
          <a:solidFill>
            <a:srgbClr val="72B16A"/>
          </a:solidFill>
          <a:ln w="12700">
            <a:solidFill>
              <a:srgbClr val="72B16A">
                <a:alpha val="0"/>
              </a:srgbClr>
            </a:solidFill>
            <a:prstDash val="solid"/>
          </a:ln>
        </p:spPr>
      </p:sp>
      <p:sp>
        <p:nvSpPr>
          <p:cNvPr id="22" name="Text 19"/>
          <p:cNvSpPr/>
          <p:nvPr/>
        </p:nvSpPr>
        <p:spPr>
          <a:xfrm>
            <a:off x="6428232" y="2971800"/>
            <a:ext cx="4636008" cy="228600"/>
          </a:xfrm>
          <a:prstGeom prst="rect">
            <a:avLst/>
          </a:prstGeom>
          <a:noFill/>
          <a:ln/>
        </p:spPr>
        <p:txBody>
          <a:bodyPr wrap="square" lIns="0" tIns="0" rIns="0" bIns="0" rtlCol="0" anchor="ctr"/>
          <a:lstStyle/>
          <a:p>
            <a:pPr indent="0" marL="0">
              <a:buNone/>
            </a:pPr>
            <a:r>
              <a:rPr lang="en-US" sz="1150" b="1" dirty="0">
                <a:solidFill>
                  <a:srgbClr val="17312B"/>
                </a:solidFill>
              </a:rPr>
              <a:t>Database</a:t>
            </a:r>
            <a:endParaRPr lang="en-US" sz="1150" dirty="0"/>
          </a:p>
        </p:txBody>
      </p:sp>
      <p:sp>
        <p:nvSpPr>
          <p:cNvPr id="23" name="Text 20"/>
          <p:cNvSpPr/>
          <p:nvPr/>
        </p:nvSpPr>
        <p:spPr>
          <a:xfrm>
            <a:off x="6428232" y="3282696"/>
            <a:ext cx="4636008" cy="347472"/>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PostgreSQL, PostGIS geography(Point,4326), Prisma schema, migrations</a:t>
            </a:r>
            <a:endParaRPr lang="en-US" sz="870" dirty="0"/>
          </a:p>
        </p:txBody>
      </p:sp>
      <p:sp>
        <p:nvSpPr>
          <p:cNvPr id="24" name="Shape 21"/>
          <p:cNvSpPr/>
          <p:nvPr/>
        </p:nvSpPr>
        <p:spPr>
          <a:xfrm>
            <a:off x="777240" y="4224528"/>
            <a:ext cx="4983480" cy="987552"/>
          </a:xfrm>
          <a:prstGeom prst="roundRect">
            <a:avLst>
              <a:gd name="adj" fmla="val 5556"/>
            </a:avLst>
          </a:prstGeom>
          <a:solidFill>
            <a:srgbClr val="FFFFFF"/>
          </a:solidFill>
          <a:ln w="12700">
            <a:solidFill>
              <a:srgbClr val="D7E3DA"/>
            </a:solidFill>
            <a:prstDash val="solid"/>
          </a:ln>
        </p:spPr>
      </p:sp>
      <p:sp>
        <p:nvSpPr>
          <p:cNvPr id="25" name="Shape 22"/>
          <p:cNvSpPr/>
          <p:nvPr/>
        </p:nvSpPr>
        <p:spPr>
          <a:xfrm>
            <a:off x="777240" y="4224528"/>
            <a:ext cx="73152" cy="987552"/>
          </a:xfrm>
          <a:prstGeom prst="rect">
            <a:avLst/>
          </a:prstGeom>
          <a:solidFill>
            <a:srgbClr val="D94D3F"/>
          </a:solidFill>
          <a:ln w="12700">
            <a:solidFill>
              <a:srgbClr val="D94D3F">
                <a:alpha val="0"/>
              </a:srgbClr>
            </a:solidFill>
            <a:prstDash val="solid"/>
          </a:ln>
        </p:spPr>
      </p:sp>
      <p:sp>
        <p:nvSpPr>
          <p:cNvPr id="26" name="Text 23"/>
          <p:cNvSpPr/>
          <p:nvPr/>
        </p:nvSpPr>
        <p:spPr>
          <a:xfrm>
            <a:off x="987552" y="4389120"/>
            <a:ext cx="4636008" cy="228600"/>
          </a:xfrm>
          <a:prstGeom prst="rect">
            <a:avLst/>
          </a:prstGeom>
          <a:noFill/>
          <a:ln/>
        </p:spPr>
        <p:txBody>
          <a:bodyPr wrap="square" lIns="0" tIns="0" rIns="0" bIns="0" rtlCol="0" anchor="ctr"/>
          <a:lstStyle/>
          <a:p>
            <a:pPr indent="0" marL="0">
              <a:buNone/>
            </a:pPr>
            <a:r>
              <a:rPr lang="en-US" sz="1150" b="1" dirty="0">
                <a:solidFill>
                  <a:srgbClr val="17312B"/>
                </a:solidFill>
              </a:rPr>
              <a:t>Async/Realtime</a:t>
            </a:r>
            <a:endParaRPr lang="en-US" sz="1150" dirty="0"/>
          </a:p>
        </p:txBody>
      </p:sp>
      <p:sp>
        <p:nvSpPr>
          <p:cNvPr id="27" name="Text 24"/>
          <p:cNvSpPr/>
          <p:nvPr/>
        </p:nvSpPr>
        <p:spPr>
          <a:xfrm>
            <a:off x="987552" y="4700016"/>
            <a:ext cx="4636008" cy="347472"/>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Redis, Redlock, BullMQ, Socket.IO, Firebase Cloud Messaging</a:t>
            </a:r>
            <a:endParaRPr lang="en-US" sz="870" dirty="0"/>
          </a:p>
        </p:txBody>
      </p:sp>
      <p:sp>
        <p:nvSpPr>
          <p:cNvPr id="28" name="Shape 25"/>
          <p:cNvSpPr/>
          <p:nvPr/>
        </p:nvSpPr>
        <p:spPr>
          <a:xfrm>
            <a:off x="6217920" y="4224528"/>
            <a:ext cx="4983480" cy="987552"/>
          </a:xfrm>
          <a:prstGeom prst="roundRect">
            <a:avLst>
              <a:gd name="adj" fmla="val 5556"/>
            </a:avLst>
          </a:prstGeom>
          <a:solidFill>
            <a:srgbClr val="FFFFFF"/>
          </a:solidFill>
          <a:ln w="12700">
            <a:solidFill>
              <a:srgbClr val="D7E3DA"/>
            </a:solidFill>
            <a:prstDash val="solid"/>
          </a:ln>
        </p:spPr>
      </p:sp>
      <p:sp>
        <p:nvSpPr>
          <p:cNvPr id="29" name="Shape 26"/>
          <p:cNvSpPr/>
          <p:nvPr/>
        </p:nvSpPr>
        <p:spPr>
          <a:xfrm>
            <a:off x="6217920" y="4224528"/>
            <a:ext cx="73152" cy="987552"/>
          </a:xfrm>
          <a:prstGeom prst="rect">
            <a:avLst/>
          </a:prstGeom>
          <a:solidFill>
            <a:srgbClr val="263B35"/>
          </a:solidFill>
          <a:ln w="12700">
            <a:solidFill>
              <a:srgbClr val="263B35">
                <a:alpha val="0"/>
              </a:srgbClr>
            </a:solidFill>
            <a:prstDash val="solid"/>
          </a:ln>
        </p:spPr>
      </p:sp>
      <p:sp>
        <p:nvSpPr>
          <p:cNvPr id="30" name="Text 27"/>
          <p:cNvSpPr/>
          <p:nvPr/>
        </p:nvSpPr>
        <p:spPr>
          <a:xfrm>
            <a:off x="6428232" y="4389120"/>
            <a:ext cx="4636008" cy="228600"/>
          </a:xfrm>
          <a:prstGeom prst="rect">
            <a:avLst/>
          </a:prstGeom>
          <a:noFill/>
          <a:ln/>
        </p:spPr>
        <p:txBody>
          <a:bodyPr wrap="square" lIns="0" tIns="0" rIns="0" bIns="0" rtlCol="0" anchor="ctr"/>
          <a:lstStyle/>
          <a:p>
            <a:pPr indent="0" marL="0">
              <a:buNone/>
            </a:pPr>
            <a:r>
              <a:rPr lang="en-US" sz="1150" b="1" dirty="0">
                <a:solidFill>
                  <a:srgbClr val="17312B"/>
                </a:solidFill>
              </a:rPr>
              <a:t>Media &amp; AI-like services</a:t>
            </a:r>
            <a:endParaRPr lang="en-US" sz="1150" dirty="0"/>
          </a:p>
        </p:txBody>
      </p:sp>
      <p:sp>
        <p:nvSpPr>
          <p:cNvPr id="31" name="Text 28"/>
          <p:cNvSpPr/>
          <p:nvPr/>
        </p:nvSpPr>
        <p:spPr>
          <a:xfrm>
            <a:off x="6428232" y="4700016"/>
            <a:ext cx="4636008" cy="347472"/>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Object storage/Cloudinary assets, OCR/face-match service, proof images</a:t>
            </a:r>
            <a:endParaRPr lang="en-US" sz="87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502920" y="475488"/>
            <a:ext cx="7772400" cy="502920"/>
          </a:xfrm>
          <a:prstGeom prst="rect">
            <a:avLst/>
          </a:prstGeom>
          <a:noFill/>
          <a:ln/>
        </p:spPr>
        <p:txBody>
          <a:bodyPr wrap="square" lIns="0" tIns="0" rIns="0" bIns="0" rtlCol="0" anchor="ctr"/>
          <a:lstStyle/>
          <a:p>
            <a:pPr indent="0" marL="0">
              <a:buNone/>
            </a:pPr>
            <a:r>
              <a:rPr lang="en-US" sz="2500" b="1" dirty="0">
                <a:solidFill>
                  <a:srgbClr val="17312B"/>
                </a:solidFill>
              </a:rPr>
              <a:t>Database/domain model</a:t>
            </a:r>
            <a:endParaRPr lang="en-US" sz="2500" dirty="0"/>
          </a:p>
        </p:txBody>
      </p:sp>
      <p:sp>
        <p:nvSpPr>
          <p:cNvPr id="3" name="Text 1"/>
          <p:cNvSpPr/>
          <p:nvPr/>
        </p:nvSpPr>
        <p:spPr>
          <a:xfrm>
            <a:off x="502920" y="987552"/>
            <a:ext cx="8046720" cy="292608"/>
          </a:xfrm>
          <a:prstGeom prst="rect">
            <a:avLst/>
          </a:prstGeom>
          <a:noFill/>
          <a:ln/>
        </p:spPr>
        <p:txBody>
          <a:bodyPr wrap="square" lIns="0" tIns="0" rIns="0" bIns="0" rtlCol="0" anchor="ctr"/>
          <a:lstStyle/>
          <a:p>
            <a:pPr indent="0" marL="0">
              <a:buNone/>
            </a:pPr>
            <a:r>
              <a:rPr lang="en-US" sz="1050" dirty="0">
                <a:solidFill>
                  <a:srgbClr val="5D6A66"/>
                </a:solidFill>
              </a:rPr>
              <a:t>CSDL được chia theo domain; dữ liệu vị trí dùng PostGIS, public ID dùng UUID.</a:t>
            </a:r>
            <a:endParaRPr lang="en-US" sz="1050" dirty="0"/>
          </a:p>
        </p:txBody>
      </p:sp>
      <p:sp>
        <p:nvSpPr>
          <p:cNvPr id="4" name="Shape 2"/>
          <p:cNvSpPr/>
          <p:nvPr/>
        </p:nvSpPr>
        <p:spPr>
          <a:xfrm>
            <a:off x="502920" y="6446520"/>
            <a:ext cx="11173968" cy="0"/>
          </a:xfrm>
          <a:prstGeom prst="line">
            <a:avLst/>
          </a:prstGeom>
          <a:noFill/>
          <a:ln w="12700">
            <a:solidFill>
              <a:srgbClr val="D7E3DA"/>
            </a:solidFill>
            <a:prstDash val="solid"/>
          </a:ln>
        </p:spPr>
      </p:sp>
      <p:sp>
        <p:nvSpPr>
          <p:cNvPr id="5" name="Text 3"/>
          <p:cNvSpPr/>
          <p:nvPr/>
        </p:nvSpPr>
        <p:spPr>
          <a:xfrm>
            <a:off x="502920" y="6519672"/>
            <a:ext cx="4389120" cy="164592"/>
          </a:xfrm>
          <a:prstGeom prst="rect">
            <a:avLst/>
          </a:prstGeom>
          <a:noFill/>
          <a:ln/>
        </p:spPr>
        <p:txBody>
          <a:bodyPr wrap="square" lIns="0" tIns="0" rIns="0" bIns="0" rtlCol="0" anchor="ctr"/>
          <a:lstStyle/>
          <a:p>
            <a:pPr indent="0" marL="0">
              <a:buNone/>
            </a:pPr>
            <a:r>
              <a:rPr lang="en-US" sz="760" dirty="0">
                <a:solidFill>
                  <a:srgbClr val="5D6A66"/>
                </a:solidFill>
                <a:latin typeface="Aptos" pitchFamily="34" charset="0"/>
                <a:ea typeface="Aptos" pitchFamily="34" charset="-122"/>
                <a:cs typeface="Aptos" pitchFamily="34" charset="-120"/>
              </a:rPr>
              <a:t>FoodResQ | Capstone SP26SE088</a:t>
            </a:r>
            <a:endParaRPr lang="en-US" sz="760" dirty="0"/>
          </a:p>
        </p:txBody>
      </p:sp>
      <p:sp>
        <p:nvSpPr>
          <p:cNvPr id="6" name="Text 4"/>
          <p:cNvSpPr/>
          <p:nvPr/>
        </p:nvSpPr>
        <p:spPr>
          <a:xfrm>
            <a:off x="11192256" y="6492240"/>
            <a:ext cx="457200" cy="201168"/>
          </a:xfrm>
          <a:prstGeom prst="rect">
            <a:avLst/>
          </a:prstGeom>
          <a:noFill/>
          <a:ln/>
        </p:spPr>
        <p:txBody>
          <a:bodyPr wrap="square" lIns="0" tIns="0" rIns="0" bIns="0" rtlCol="0" anchor="ctr"/>
          <a:lstStyle/>
          <a:p>
            <a:pPr algn="r" indent="0" marL="0">
              <a:buNone/>
            </a:pPr>
            <a:r>
              <a:rPr lang="en-US" sz="800" b="1" dirty="0">
                <a:solidFill>
                  <a:srgbClr val="5D6A66"/>
                </a:solidFill>
              </a:rPr>
              <a:t>13</a:t>
            </a:r>
            <a:endParaRPr lang="en-US" sz="800" dirty="0"/>
          </a:p>
        </p:txBody>
      </p:sp>
      <p:pic>
        <p:nvPicPr>
          <p:cNvPr id="7" name="Image 0" descr="D:\Capstone_FoodResQ_Web\apps\web\public\Logo_FoodResQ.png">    </p:cNvPr>
          <p:cNvPicPr>
            <a:picLocks noChangeAspect="1"/>
          </p:cNvPicPr>
          <p:nvPr/>
        </p:nvPicPr>
        <p:blipFill>
          <a:blip r:embed="rId1"/>
          <a:stretch>
            <a:fillRect/>
          </a:stretch>
        </p:blipFill>
        <p:spPr>
          <a:xfrm>
            <a:off x="10652760" y="310896"/>
            <a:ext cx="960120" cy="420624"/>
          </a:xfrm>
          <a:prstGeom prst="rect">
            <a:avLst/>
          </a:prstGeom>
        </p:spPr>
      </p:pic>
      <p:sp>
        <p:nvSpPr>
          <p:cNvPr id="8" name="Shape 5"/>
          <p:cNvSpPr/>
          <p:nvPr/>
        </p:nvSpPr>
        <p:spPr>
          <a:xfrm>
            <a:off x="713232" y="1417320"/>
            <a:ext cx="2514600" cy="1143000"/>
          </a:xfrm>
          <a:prstGeom prst="roundRect">
            <a:avLst>
              <a:gd name="adj" fmla="val 4800"/>
            </a:avLst>
          </a:prstGeom>
          <a:solidFill>
            <a:srgbClr val="FFFFFF"/>
          </a:solidFill>
          <a:ln w="12700">
            <a:solidFill>
              <a:srgbClr val="D7E3DA"/>
            </a:solidFill>
            <a:prstDash val="solid"/>
          </a:ln>
        </p:spPr>
      </p:sp>
      <p:sp>
        <p:nvSpPr>
          <p:cNvPr id="9" name="Shape 6"/>
          <p:cNvSpPr/>
          <p:nvPr/>
        </p:nvSpPr>
        <p:spPr>
          <a:xfrm>
            <a:off x="713232" y="1417320"/>
            <a:ext cx="73152" cy="1143000"/>
          </a:xfrm>
          <a:prstGeom prst="rect">
            <a:avLst/>
          </a:prstGeom>
          <a:solidFill>
            <a:srgbClr val="1F8A4C"/>
          </a:solidFill>
          <a:ln w="12700">
            <a:solidFill>
              <a:srgbClr val="1F8A4C">
                <a:alpha val="0"/>
              </a:srgbClr>
            </a:solidFill>
            <a:prstDash val="solid"/>
          </a:ln>
        </p:spPr>
      </p:sp>
      <p:sp>
        <p:nvSpPr>
          <p:cNvPr id="10" name="Text 7"/>
          <p:cNvSpPr/>
          <p:nvPr/>
        </p:nvSpPr>
        <p:spPr>
          <a:xfrm>
            <a:off x="923544" y="1581912"/>
            <a:ext cx="2167128" cy="228600"/>
          </a:xfrm>
          <a:prstGeom prst="rect">
            <a:avLst/>
          </a:prstGeom>
          <a:noFill/>
          <a:ln/>
        </p:spPr>
        <p:txBody>
          <a:bodyPr wrap="square" lIns="0" tIns="0" rIns="0" bIns="0" rtlCol="0" anchor="ctr"/>
          <a:lstStyle/>
          <a:p>
            <a:pPr indent="0" marL="0">
              <a:buNone/>
            </a:pPr>
            <a:r>
              <a:rPr lang="en-US" sz="1150" b="1" dirty="0">
                <a:solidFill>
                  <a:srgbClr val="17312B"/>
                </a:solidFill>
              </a:rPr>
              <a:t>Identity</a:t>
            </a:r>
            <a:endParaRPr lang="en-US" sz="1150" dirty="0"/>
          </a:p>
        </p:txBody>
      </p:sp>
      <p:sp>
        <p:nvSpPr>
          <p:cNvPr id="11" name="Text 8"/>
          <p:cNvSpPr/>
          <p:nvPr/>
        </p:nvSpPr>
        <p:spPr>
          <a:xfrm>
            <a:off x="923544" y="1892808"/>
            <a:ext cx="2167128" cy="50292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users, refresh_tokens, provider/receiver/volunteer profiles, waiver</a:t>
            </a:r>
            <a:endParaRPr lang="en-US" sz="870" dirty="0"/>
          </a:p>
        </p:txBody>
      </p:sp>
      <p:sp>
        <p:nvSpPr>
          <p:cNvPr id="12" name="Shape 9"/>
          <p:cNvSpPr/>
          <p:nvPr/>
        </p:nvSpPr>
        <p:spPr>
          <a:xfrm>
            <a:off x="3493008" y="1417320"/>
            <a:ext cx="2514600" cy="1143000"/>
          </a:xfrm>
          <a:prstGeom prst="roundRect">
            <a:avLst>
              <a:gd name="adj" fmla="val 4800"/>
            </a:avLst>
          </a:prstGeom>
          <a:solidFill>
            <a:srgbClr val="FFFFFF"/>
          </a:solidFill>
          <a:ln w="12700">
            <a:solidFill>
              <a:srgbClr val="D7E3DA"/>
            </a:solidFill>
            <a:prstDash val="solid"/>
          </a:ln>
        </p:spPr>
      </p:sp>
      <p:sp>
        <p:nvSpPr>
          <p:cNvPr id="13" name="Shape 10"/>
          <p:cNvSpPr/>
          <p:nvPr/>
        </p:nvSpPr>
        <p:spPr>
          <a:xfrm>
            <a:off x="3493008" y="1417320"/>
            <a:ext cx="73152" cy="1143000"/>
          </a:xfrm>
          <a:prstGeom prst="rect">
            <a:avLst/>
          </a:prstGeom>
          <a:solidFill>
            <a:srgbClr val="F28C38"/>
          </a:solidFill>
          <a:ln w="12700">
            <a:solidFill>
              <a:srgbClr val="F28C38">
                <a:alpha val="0"/>
              </a:srgbClr>
            </a:solidFill>
            <a:prstDash val="solid"/>
          </a:ln>
        </p:spPr>
      </p:sp>
      <p:sp>
        <p:nvSpPr>
          <p:cNvPr id="14" name="Text 11"/>
          <p:cNvSpPr/>
          <p:nvPr/>
        </p:nvSpPr>
        <p:spPr>
          <a:xfrm>
            <a:off x="3703320" y="1581912"/>
            <a:ext cx="2167128" cy="228600"/>
          </a:xfrm>
          <a:prstGeom prst="rect">
            <a:avLst/>
          </a:prstGeom>
          <a:noFill/>
          <a:ln/>
        </p:spPr>
        <p:txBody>
          <a:bodyPr wrap="square" lIns="0" tIns="0" rIns="0" bIns="0" rtlCol="0" anchor="ctr"/>
          <a:lstStyle/>
          <a:p>
            <a:pPr indent="0" marL="0">
              <a:buNone/>
            </a:pPr>
            <a:r>
              <a:rPr lang="en-US" sz="1150" b="1" dirty="0">
                <a:solidFill>
                  <a:srgbClr val="17312B"/>
                </a:solidFill>
              </a:rPr>
              <a:t>Food sharing</a:t>
            </a:r>
            <a:endParaRPr lang="en-US" sz="1150" dirty="0"/>
          </a:p>
        </p:txBody>
      </p:sp>
      <p:sp>
        <p:nvSpPr>
          <p:cNvPr id="15" name="Text 12"/>
          <p:cNvSpPr/>
          <p:nvPr/>
        </p:nvSpPr>
        <p:spPr>
          <a:xfrm>
            <a:off x="3703320" y="1892808"/>
            <a:ext cx="2167128" cy="50292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food_listings, reservations, deliveries, bulk_runs, ratings</a:t>
            </a:r>
            <a:endParaRPr lang="en-US" sz="870" dirty="0"/>
          </a:p>
        </p:txBody>
      </p:sp>
      <p:sp>
        <p:nvSpPr>
          <p:cNvPr id="16" name="Shape 13"/>
          <p:cNvSpPr/>
          <p:nvPr/>
        </p:nvSpPr>
        <p:spPr>
          <a:xfrm>
            <a:off x="6272784" y="1417320"/>
            <a:ext cx="2514600" cy="1143000"/>
          </a:xfrm>
          <a:prstGeom prst="roundRect">
            <a:avLst>
              <a:gd name="adj" fmla="val 4800"/>
            </a:avLst>
          </a:prstGeom>
          <a:solidFill>
            <a:srgbClr val="FFFFFF"/>
          </a:solidFill>
          <a:ln w="12700">
            <a:solidFill>
              <a:srgbClr val="D7E3DA"/>
            </a:solidFill>
            <a:prstDash val="solid"/>
          </a:ln>
        </p:spPr>
      </p:sp>
      <p:sp>
        <p:nvSpPr>
          <p:cNvPr id="17" name="Shape 14"/>
          <p:cNvSpPr/>
          <p:nvPr/>
        </p:nvSpPr>
        <p:spPr>
          <a:xfrm>
            <a:off x="6272784" y="1417320"/>
            <a:ext cx="73152" cy="1143000"/>
          </a:xfrm>
          <a:prstGeom prst="rect">
            <a:avLst/>
          </a:prstGeom>
          <a:solidFill>
            <a:srgbClr val="2574A9"/>
          </a:solidFill>
          <a:ln w="12700">
            <a:solidFill>
              <a:srgbClr val="2574A9">
                <a:alpha val="0"/>
              </a:srgbClr>
            </a:solidFill>
            <a:prstDash val="solid"/>
          </a:ln>
        </p:spPr>
      </p:sp>
      <p:sp>
        <p:nvSpPr>
          <p:cNvPr id="18" name="Text 15"/>
          <p:cNvSpPr/>
          <p:nvPr/>
        </p:nvSpPr>
        <p:spPr>
          <a:xfrm>
            <a:off x="6483096" y="1581912"/>
            <a:ext cx="2167128" cy="228600"/>
          </a:xfrm>
          <a:prstGeom prst="rect">
            <a:avLst/>
          </a:prstGeom>
          <a:noFill/>
          <a:ln/>
        </p:spPr>
        <p:txBody>
          <a:bodyPr wrap="square" lIns="0" tIns="0" rIns="0" bIns="0" rtlCol="0" anchor="ctr"/>
          <a:lstStyle/>
          <a:p>
            <a:pPr indent="0" marL="0">
              <a:buNone/>
            </a:pPr>
            <a:r>
              <a:rPr lang="en-US" sz="1150" b="1" dirty="0">
                <a:solidFill>
                  <a:srgbClr val="17312B"/>
                </a:solidFill>
              </a:rPr>
              <a:t>Campaign kitchen</a:t>
            </a:r>
            <a:endParaRPr lang="en-US" sz="1150" dirty="0"/>
          </a:p>
        </p:txBody>
      </p:sp>
      <p:sp>
        <p:nvSpPr>
          <p:cNvPr id="19" name="Text 16"/>
          <p:cNvSpPr/>
          <p:nvPr/>
        </p:nvSpPr>
        <p:spPr>
          <a:xfrm>
            <a:off x="6483096" y="1892808"/>
            <a:ext cx="2167128" cy="50292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kitchen_campaigns, shifts, assignments, recipes, menu, distribution</a:t>
            </a:r>
            <a:endParaRPr lang="en-US" sz="870" dirty="0"/>
          </a:p>
        </p:txBody>
      </p:sp>
      <p:sp>
        <p:nvSpPr>
          <p:cNvPr id="20" name="Shape 17"/>
          <p:cNvSpPr/>
          <p:nvPr/>
        </p:nvSpPr>
        <p:spPr>
          <a:xfrm>
            <a:off x="9052560" y="1417320"/>
            <a:ext cx="2514600" cy="1143000"/>
          </a:xfrm>
          <a:prstGeom prst="roundRect">
            <a:avLst>
              <a:gd name="adj" fmla="val 4800"/>
            </a:avLst>
          </a:prstGeom>
          <a:solidFill>
            <a:srgbClr val="FFFFFF"/>
          </a:solidFill>
          <a:ln w="12700">
            <a:solidFill>
              <a:srgbClr val="D7E3DA"/>
            </a:solidFill>
            <a:prstDash val="solid"/>
          </a:ln>
        </p:spPr>
      </p:sp>
      <p:sp>
        <p:nvSpPr>
          <p:cNvPr id="21" name="Shape 18"/>
          <p:cNvSpPr/>
          <p:nvPr/>
        </p:nvSpPr>
        <p:spPr>
          <a:xfrm>
            <a:off x="9052560" y="1417320"/>
            <a:ext cx="73152" cy="1143000"/>
          </a:xfrm>
          <a:prstGeom prst="rect">
            <a:avLst/>
          </a:prstGeom>
          <a:solidFill>
            <a:srgbClr val="D94D3F"/>
          </a:solidFill>
          <a:ln w="12700">
            <a:solidFill>
              <a:srgbClr val="D94D3F">
                <a:alpha val="0"/>
              </a:srgbClr>
            </a:solidFill>
            <a:prstDash val="solid"/>
          </a:ln>
        </p:spPr>
      </p:sp>
      <p:sp>
        <p:nvSpPr>
          <p:cNvPr id="22" name="Text 19"/>
          <p:cNvSpPr/>
          <p:nvPr/>
        </p:nvSpPr>
        <p:spPr>
          <a:xfrm>
            <a:off x="9262872" y="1581912"/>
            <a:ext cx="2167128" cy="228600"/>
          </a:xfrm>
          <a:prstGeom prst="rect">
            <a:avLst/>
          </a:prstGeom>
          <a:noFill/>
          <a:ln/>
        </p:spPr>
        <p:txBody>
          <a:bodyPr wrap="square" lIns="0" tIns="0" rIns="0" bIns="0" rtlCol="0" anchor="ctr"/>
          <a:lstStyle/>
          <a:p>
            <a:pPr indent="0" marL="0">
              <a:buNone/>
            </a:pPr>
            <a:r>
              <a:rPr lang="en-US" sz="1150" b="1" dirty="0">
                <a:solidFill>
                  <a:srgbClr val="17312B"/>
                </a:solidFill>
              </a:rPr>
              <a:t>Governance</a:t>
            </a:r>
            <a:endParaRPr lang="en-US" sz="1150" dirty="0"/>
          </a:p>
        </p:txBody>
      </p:sp>
      <p:sp>
        <p:nvSpPr>
          <p:cNvPr id="23" name="Text 20"/>
          <p:cNvSpPr/>
          <p:nvPr/>
        </p:nvSpPr>
        <p:spPr>
          <a:xfrm>
            <a:off x="9262872" y="1892808"/>
            <a:ext cx="2167128" cy="50292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trust history, reports, notifications, audit_logs, system_configs, ESG</a:t>
            </a:r>
            <a:endParaRPr lang="en-US" sz="870" dirty="0"/>
          </a:p>
        </p:txBody>
      </p:sp>
      <p:sp>
        <p:nvSpPr>
          <p:cNvPr id="24" name="Shape 21"/>
          <p:cNvSpPr/>
          <p:nvPr/>
        </p:nvSpPr>
        <p:spPr>
          <a:xfrm>
            <a:off x="914400" y="3127248"/>
            <a:ext cx="3886200" cy="1572768"/>
          </a:xfrm>
          <a:prstGeom prst="roundRect">
            <a:avLst>
              <a:gd name="adj" fmla="val 2907"/>
            </a:avLst>
          </a:prstGeom>
          <a:solidFill>
            <a:srgbClr val="F9FBFA"/>
          </a:solidFill>
          <a:ln w="12700">
            <a:solidFill>
              <a:srgbClr val="D7E3DA"/>
            </a:solidFill>
            <a:prstDash val="solid"/>
          </a:ln>
        </p:spPr>
      </p:sp>
      <p:sp>
        <p:nvSpPr>
          <p:cNvPr id="25" name="Text 22"/>
          <p:cNvSpPr/>
          <p:nvPr/>
        </p:nvSpPr>
        <p:spPr>
          <a:xfrm>
            <a:off x="1078992" y="3273552"/>
            <a:ext cx="3557016"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26" name="Text 23"/>
          <p:cNvSpPr/>
          <p:nvPr/>
        </p:nvSpPr>
        <p:spPr>
          <a:xfrm>
            <a:off x="1078992" y="3538728"/>
            <a:ext cx="3557016" cy="1024128"/>
          </a:xfrm>
          <a:prstGeom prst="rect">
            <a:avLst/>
          </a:prstGeom>
          <a:noFill/>
          <a:ln/>
        </p:spPr>
        <p:txBody>
          <a:bodyPr wrap="square" lIns="0" tIns="0" rIns="0" bIns="0" rtlCol="0" anchor="ctr">
            <a:normAutofit/>
          </a:bodyPr>
          <a:lstStyle/>
          <a:p>
            <a:pPr indent="0" marL="0">
              <a:buNone/>
            </a:pPr>
            <a:r>
              <a:rPr lang="en-US" sz="820" b="1" dirty="0">
                <a:solidFill>
                  <a:srgbClr val="17312B"/>
                </a:solidFill>
              </a:rPr>
              <a:t>Dán ảnh ERD từ dbdiagram/draw.io: ưu tiên zoom vào 4 cụm chính, không cần toàn bộ 44 bảng trong 1 ảnh</a:t>
            </a:r>
            <a:endParaRPr lang="en-US" sz="820" dirty="0"/>
          </a:p>
        </p:txBody>
      </p:sp>
      <p:sp>
        <p:nvSpPr>
          <p:cNvPr id="27" name="Shape 24"/>
          <p:cNvSpPr/>
          <p:nvPr/>
        </p:nvSpPr>
        <p:spPr>
          <a:xfrm>
            <a:off x="5257800" y="3127248"/>
            <a:ext cx="3886200" cy="1572768"/>
          </a:xfrm>
          <a:prstGeom prst="roundRect">
            <a:avLst>
              <a:gd name="adj" fmla="val 2907"/>
            </a:avLst>
          </a:prstGeom>
          <a:solidFill>
            <a:srgbClr val="F9FBFA"/>
          </a:solidFill>
          <a:ln w="12700">
            <a:solidFill>
              <a:srgbClr val="D7E3DA"/>
            </a:solidFill>
            <a:prstDash val="solid"/>
          </a:ln>
        </p:spPr>
      </p:sp>
      <p:sp>
        <p:nvSpPr>
          <p:cNvPr id="28" name="Text 25"/>
          <p:cNvSpPr/>
          <p:nvPr/>
        </p:nvSpPr>
        <p:spPr>
          <a:xfrm>
            <a:off x="5422392" y="3273552"/>
            <a:ext cx="3557016" cy="182880"/>
          </a:xfrm>
          <a:prstGeom prst="rect">
            <a:avLst/>
          </a:prstGeom>
          <a:noFill/>
          <a:ln/>
        </p:spPr>
        <p:txBody>
          <a:bodyPr wrap="square" lIns="0" tIns="0" rIns="0" bIns="0" rtlCol="0" anchor="ctr"/>
          <a:lstStyle/>
          <a:p>
            <a:pPr indent="0" marL="0">
              <a:buNone/>
            </a:pPr>
            <a:r>
              <a:rPr lang="en-US" sz="720" b="1" dirty="0">
                <a:solidFill>
                  <a:srgbClr val="1F8A4C"/>
                </a:solidFill>
              </a:rPr>
              <a:t>Ảnh cần chụp</a:t>
            </a:r>
            <a:endParaRPr lang="en-US" sz="720" dirty="0"/>
          </a:p>
        </p:txBody>
      </p:sp>
      <p:sp>
        <p:nvSpPr>
          <p:cNvPr id="29" name="Text 26"/>
          <p:cNvSpPr/>
          <p:nvPr/>
        </p:nvSpPr>
        <p:spPr>
          <a:xfrm>
            <a:off x="5422392" y="3538728"/>
            <a:ext cx="3557016" cy="1024128"/>
          </a:xfrm>
          <a:prstGeom prst="rect">
            <a:avLst/>
          </a:prstGeom>
          <a:noFill/>
          <a:ln/>
        </p:spPr>
        <p:txBody>
          <a:bodyPr wrap="square" lIns="0" tIns="0" rIns="0" bIns="0" rtlCol="0" anchor="ctr">
            <a:normAutofit/>
          </a:bodyPr>
          <a:lstStyle/>
          <a:p>
            <a:pPr indent="0" marL="0">
              <a:buNone/>
            </a:pPr>
            <a:r>
              <a:rPr lang="en-US" sz="820" b="1" dirty="0">
                <a:solidFill>
                  <a:srgbClr val="17312B"/>
                </a:solidFill>
              </a:rPr>
              <a:t>Ảnh Prisma schema hoặc bảng `food_listings`/`reservations` để giải thích UUID, status, geography, QR</a:t>
            </a:r>
            <a:endParaRPr lang="en-US" sz="820" dirty="0"/>
          </a:p>
        </p:txBody>
      </p:sp>
      <p:sp>
        <p:nvSpPr>
          <p:cNvPr id="30" name="Shape 27"/>
          <p:cNvSpPr/>
          <p:nvPr/>
        </p:nvSpPr>
        <p:spPr>
          <a:xfrm>
            <a:off x="9555480" y="3127248"/>
            <a:ext cx="1691640" cy="1572768"/>
          </a:xfrm>
          <a:prstGeom prst="roundRect">
            <a:avLst>
              <a:gd name="adj" fmla="val 3488"/>
            </a:avLst>
          </a:prstGeom>
          <a:solidFill>
            <a:srgbClr val="FFFFFF"/>
          </a:solidFill>
          <a:ln w="12700">
            <a:solidFill>
              <a:srgbClr val="D7E3DA"/>
            </a:solidFill>
            <a:prstDash val="solid"/>
          </a:ln>
        </p:spPr>
      </p:sp>
      <p:sp>
        <p:nvSpPr>
          <p:cNvPr id="31" name="Shape 28"/>
          <p:cNvSpPr/>
          <p:nvPr/>
        </p:nvSpPr>
        <p:spPr>
          <a:xfrm>
            <a:off x="9555480" y="3127248"/>
            <a:ext cx="73152" cy="1572768"/>
          </a:xfrm>
          <a:prstGeom prst="rect">
            <a:avLst/>
          </a:prstGeom>
          <a:solidFill>
            <a:srgbClr val="72B16A"/>
          </a:solidFill>
          <a:ln w="12700">
            <a:solidFill>
              <a:srgbClr val="72B16A">
                <a:alpha val="0"/>
              </a:srgbClr>
            </a:solidFill>
            <a:prstDash val="solid"/>
          </a:ln>
        </p:spPr>
      </p:sp>
      <p:sp>
        <p:nvSpPr>
          <p:cNvPr id="32" name="Text 29"/>
          <p:cNvSpPr/>
          <p:nvPr/>
        </p:nvSpPr>
        <p:spPr>
          <a:xfrm>
            <a:off x="9765792" y="3291840"/>
            <a:ext cx="1344168" cy="228600"/>
          </a:xfrm>
          <a:prstGeom prst="rect">
            <a:avLst/>
          </a:prstGeom>
          <a:noFill/>
          <a:ln/>
        </p:spPr>
        <p:txBody>
          <a:bodyPr wrap="square" lIns="0" tIns="0" rIns="0" bIns="0" rtlCol="0" anchor="ctr"/>
          <a:lstStyle/>
          <a:p>
            <a:pPr indent="0" marL="0">
              <a:buNone/>
            </a:pPr>
            <a:r>
              <a:rPr lang="en-US" sz="1150" b="1" dirty="0">
                <a:solidFill>
                  <a:srgbClr val="17312B"/>
                </a:solidFill>
              </a:rPr>
              <a:t>Con số</a:t>
            </a:r>
            <a:endParaRPr lang="en-US" sz="1150" dirty="0"/>
          </a:p>
        </p:txBody>
      </p:sp>
      <p:sp>
        <p:nvSpPr>
          <p:cNvPr id="33" name="Text 30"/>
          <p:cNvSpPr/>
          <p:nvPr/>
        </p:nvSpPr>
        <p:spPr>
          <a:xfrm>
            <a:off x="9765792" y="3602736"/>
            <a:ext cx="1344168" cy="932688"/>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44 bảng</a:t>
            </a:r>
            <a:endParaRPr lang="en-US" sz="870" dirty="0"/>
          </a:p>
          <a:p>
            <a:pPr indent="0" marL="0">
              <a:buNone/>
            </a:pPr>
            <a:r>
              <a:rPr lang="en-US" sz="870" dirty="0">
                <a:solidFill>
                  <a:srgbClr val="5D6A66"/>
                </a:solidFill>
              </a:rPr>
              <a:t>29 enum</a:t>
            </a:r>
            <a:endParaRPr lang="en-US" sz="870" dirty="0"/>
          </a:p>
          <a:p>
            <a:pPr indent="0" marL="0">
              <a:buNone/>
            </a:pPr>
            <a:r>
              <a:rPr lang="en-US" sz="870" dirty="0">
                <a:solidFill>
                  <a:srgbClr val="5D6A66"/>
                </a:solidFill>
              </a:rPr>
              <a:t>71 quan hệ</a:t>
            </a:r>
            <a:endParaRPr lang="en-US" sz="870" dirty="0"/>
          </a:p>
          <a:p>
            <a:pPr indent="0" marL="0">
              <a:buNone/>
            </a:pPr>
            <a:r>
              <a:rPr lang="en-US" sz="870" dirty="0">
                <a:solidFill>
                  <a:srgbClr val="5D6A66"/>
                </a:solidFill>
              </a:rPr>
              <a:t>PostGIS indexes</a:t>
            </a:r>
            <a:endParaRPr lang="en-US" sz="87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502920" y="475488"/>
            <a:ext cx="7772400" cy="502920"/>
          </a:xfrm>
          <a:prstGeom prst="rect">
            <a:avLst/>
          </a:prstGeom>
          <a:noFill/>
          <a:ln/>
        </p:spPr>
        <p:txBody>
          <a:bodyPr wrap="square" lIns="0" tIns="0" rIns="0" bIns="0" rtlCol="0" anchor="ctr"/>
          <a:lstStyle/>
          <a:p>
            <a:pPr indent="0" marL="0">
              <a:buNone/>
            </a:pPr>
            <a:r>
              <a:rPr lang="en-US" sz="2500" b="1" dirty="0">
                <a:solidFill>
                  <a:srgbClr val="17312B"/>
                </a:solidFill>
              </a:rPr>
              <a:t>Checklist ảnh demo nên chụp</a:t>
            </a:r>
            <a:endParaRPr lang="en-US" sz="2500" dirty="0"/>
          </a:p>
        </p:txBody>
      </p:sp>
      <p:sp>
        <p:nvSpPr>
          <p:cNvPr id="3" name="Text 1"/>
          <p:cNvSpPr/>
          <p:nvPr/>
        </p:nvSpPr>
        <p:spPr>
          <a:xfrm>
            <a:off x="502920" y="987552"/>
            <a:ext cx="8046720" cy="292608"/>
          </a:xfrm>
          <a:prstGeom prst="rect">
            <a:avLst/>
          </a:prstGeom>
          <a:noFill/>
          <a:ln/>
        </p:spPr>
        <p:txBody>
          <a:bodyPr wrap="square" lIns="0" tIns="0" rIns="0" bIns="0" rtlCol="0" anchor="ctr"/>
          <a:lstStyle/>
          <a:p>
            <a:pPr indent="0" marL="0">
              <a:buNone/>
            </a:pPr>
            <a:r>
              <a:rPr lang="en-US" sz="1050" dirty="0">
                <a:solidFill>
                  <a:srgbClr val="5D6A66"/>
                </a:solidFill>
              </a:rPr>
              <a:t>Các ảnh này sẽ làm slide thuyết phục hơn vì hội đồng nhìn thấy hệ thống thật đang chạy.</a:t>
            </a:r>
            <a:endParaRPr lang="en-US" sz="1050" dirty="0"/>
          </a:p>
        </p:txBody>
      </p:sp>
      <p:sp>
        <p:nvSpPr>
          <p:cNvPr id="4" name="Shape 2"/>
          <p:cNvSpPr/>
          <p:nvPr/>
        </p:nvSpPr>
        <p:spPr>
          <a:xfrm>
            <a:off x="502920" y="6446520"/>
            <a:ext cx="11173968" cy="0"/>
          </a:xfrm>
          <a:prstGeom prst="line">
            <a:avLst/>
          </a:prstGeom>
          <a:noFill/>
          <a:ln w="12700">
            <a:solidFill>
              <a:srgbClr val="D7E3DA"/>
            </a:solidFill>
            <a:prstDash val="solid"/>
          </a:ln>
        </p:spPr>
      </p:sp>
      <p:sp>
        <p:nvSpPr>
          <p:cNvPr id="5" name="Text 3"/>
          <p:cNvSpPr/>
          <p:nvPr/>
        </p:nvSpPr>
        <p:spPr>
          <a:xfrm>
            <a:off x="502920" y="6519672"/>
            <a:ext cx="4389120" cy="164592"/>
          </a:xfrm>
          <a:prstGeom prst="rect">
            <a:avLst/>
          </a:prstGeom>
          <a:noFill/>
          <a:ln/>
        </p:spPr>
        <p:txBody>
          <a:bodyPr wrap="square" lIns="0" tIns="0" rIns="0" bIns="0" rtlCol="0" anchor="ctr"/>
          <a:lstStyle/>
          <a:p>
            <a:pPr indent="0" marL="0">
              <a:buNone/>
            </a:pPr>
            <a:r>
              <a:rPr lang="en-US" sz="760" dirty="0">
                <a:solidFill>
                  <a:srgbClr val="5D6A66"/>
                </a:solidFill>
                <a:latin typeface="Aptos" pitchFamily="34" charset="0"/>
                <a:ea typeface="Aptos" pitchFamily="34" charset="-122"/>
                <a:cs typeface="Aptos" pitchFamily="34" charset="-120"/>
              </a:rPr>
              <a:t>FoodResQ | Capstone SP26SE088</a:t>
            </a:r>
            <a:endParaRPr lang="en-US" sz="760" dirty="0"/>
          </a:p>
        </p:txBody>
      </p:sp>
      <p:sp>
        <p:nvSpPr>
          <p:cNvPr id="6" name="Text 4"/>
          <p:cNvSpPr/>
          <p:nvPr/>
        </p:nvSpPr>
        <p:spPr>
          <a:xfrm>
            <a:off x="11192256" y="6492240"/>
            <a:ext cx="457200" cy="201168"/>
          </a:xfrm>
          <a:prstGeom prst="rect">
            <a:avLst/>
          </a:prstGeom>
          <a:noFill/>
          <a:ln/>
        </p:spPr>
        <p:txBody>
          <a:bodyPr wrap="square" lIns="0" tIns="0" rIns="0" bIns="0" rtlCol="0" anchor="ctr"/>
          <a:lstStyle/>
          <a:p>
            <a:pPr algn="r" indent="0" marL="0">
              <a:buNone/>
            </a:pPr>
            <a:r>
              <a:rPr lang="en-US" sz="800" b="1" dirty="0">
                <a:solidFill>
                  <a:srgbClr val="5D6A66"/>
                </a:solidFill>
              </a:rPr>
              <a:t>14</a:t>
            </a:r>
            <a:endParaRPr lang="en-US" sz="800" dirty="0"/>
          </a:p>
        </p:txBody>
      </p:sp>
      <p:pic>
        <p:nvPicPr>
          <p:cNvPr id="7" name="Image 0" descr="D:\Capstone_FoodResQ_Web\apps\web\public\Logo_FoodResQ.png">    </p:cNvPr>
          <p:cNvPicPr>
            <a:picLocks noChangeAspect="1"/>
          </p:cNvPicPr>
          <p:nvPr/>
        </p:nvPicPr>
        <p:blipFill>
          <a:blip r:embed="rId1"/>
          <a:stretch>
            <a:fillRect/>
          </a:stretch>
        </p:blipFill>
        <p:spPr>
          <a:xfrm>
            <a:off x="10652760" y="310896"/>
            <a:ext cx="960120" cy="420624"/>
          </a:xfrm>
          <a:prstGeom prst="rect">
            <a:avLst/>
          </a:prstGeom>
        </p:spPr>
      </p:pic>
      <p:sp>
        <p:nvSpPr>
          <p:cNvPr id="8" name="Shape 5"/>
          <p:cNvSpPr/>
          <p:nvPr/>
        </p:nvSpPr>
        <p:spPr>
          <a:xfrm>
            <a:off x="822960" y="1417320"/>
            <a:ext cx="4754880" cy="411480"/>
          </a:xfrm>
          <a:prstGeom prst="roundRect">
            <a:avLst>
              <a:gd name="adj" fmla="val 8889"/>
            </a:avLst>
          </a:prstGeom>
          <a:solidFill>
            <a:srgbClr val="FFFFFF"/>
          </a:solidFill>
          <a:ln w="12700">
            <a:solidFill>
              <a:srgbClr val="D7E3DA"/>
            </a:solidFill>
            <a:prstDash val="solid"/>
          </a:ln>
        </p:spPr>
      </p:sp>
      <p:sp>
        <p:nvSpPr>
          <p:cNvPr id="9" name="Text 6"/>
          <p:cNvSpPr/>
          <p:nvPr/>
        </p:nvSpPr>
        <p:spPr>
          <a:xfrm>
            <a:off x="969264" y="1540764"/>
            <a:ext cx="4462272" cy="109728"/>
          </a:xfrm>
          <a:prstGeom prst="rect">
            <a:avLst/>
          </a:prstGeom>
          <a:noFill/>
          <a:ln/>
        </p:spPr>
        <p:txBody>
          <a:bodyPr wrap="square" lIns="0" tIns="0" rIns="0" bIns="0" rtlCol="0" anchor="ctr"/>
          <a:lstStyle/>
          <a:p>
            <a:pPr indent="0" marL="0">
              <a:buNone/>
            </a:pPr>
            <a:r>
              <a:rPr lang="en-US" sz="880" b="1" dirty="0">
                <a:solidFill>
                  <a:srgbClr val="17312B"/>
                </a:solidFill>
              </a:rPr>
              <a:t>1. Login/Register + chọn vai trò</a:t>
            </a:r>
            <a:endParaRPr lang="en-US" sz="880" dirty="0"/>
          </a:p>
        </p:txBody>
      </p:sp>
      <p:sp>
        <p:nvSpPr>
          <p:cNvPr id="10" name="Shape 7"/>
          <p:cNvSpPr/>
          <p:nvPr/>
        </p:nvSpPr>
        <p:spPr>
          <a:xfrm>
            <a:off x="6126480" y="1417320"/>
            <a:ext cx="4754880" cy="411480"/>
          </a:xfrm>
          <a:prstGeom prst="roundRect">
            <a:avLst>
              <a:gd name="adj" fmla="val 8889"/>
            </a:avLst>
          </a:prstGeom>
          <a:solidFill>
            <a:srgbClr val="FFFFFF"/>
          </a:solidFill>
          <a:ln w="12700">
            <a:solidFill>
              <a:srgbClr val="D7E3DA"/>
            </a:solidFill>
            <a:prstDash val="solid"/>
          </a:ln>
        </p:spPr>
      </p:sp>
      <p:sp>
        <p:nvSpPr>
          <p:cNvPr id="11" name="Text 8"/>
          <p:cNvSpPr/>
          <p:nvPr/>
        </p:nvSpPr>
        <p:spPr>
          <a:xfrm>
            <a:off x="6272784" y="1540764"/>
            <a:ext cx="4462272" cy="109728"/>
          </a:xfrm>
          <a:prstGeom prst="rect">
            <a:avLst/>
          </a:prstGeom>
          <a:noFill/>
          <a:ln/>
        </p:spPr>
        <p:txBody>
          <a:bodyPr wrap="square" lIns="0" tIns="0" rIns="0" bIns="0" rtlCol="0" anchor="ctr"/>
          <a:lstStyle/>
          <a:p>
            <a:pPr indent="0" marL="0">
              <a:buNone/>
            </a:pPr>
            <a:r>
              <a:rPr lang="en-US" sz="880" b="1" dirty="0">
                <a:solidFill>
                  <a:srgbClr val="17312B"/>
                </a:solidFill>
              </a:rPr>
              <a:t>2. Receiver home: tìm đồ ăn gần vị trí</a:t>
            </a:r>
            <a:endParaRPr lang="en-US" sz="880" dirty="0"/>
          </a:p>
        </p:txBody>
      </p:sp>
      <p:sp>
        <p:nvSpPr>
          <p:cNvPr id="12" name="Shape 9"/>
          <p:cNvSpPr/>
          <p:nvPr/>
        </p:nvSpPr>
        <p:spPr>
          <a:xfrm>
            <a:off x="822960" y="2130552"/>
            <a:ext cx="4754880" cy="411480"/>
          </a:xfrm>
          <a:prstGeom prst="roundRect">
            <a:avLst>
              <a:gd name="adj" fmla="val 8889"/>
            </a:avLst>
          </a:prstGeom>
          <a:solidFill>
            <a:srgbClr val="FFFFFF"/>
          </a:solidFill>
          <a:ln w="12700">
            <a:solidFill>
              <a:srgbClr val="D7E3DA"/>
            </a:solidFill>
            <a:prstDash val="solid"/>
          </a:ln>
        </p:spPr>
      </p:sp>
      <p:sp>
        <p:nvSpPr>
          <p:cNvPr id="13" name="Text 10"/>
          <p:cNvSpPr/>
          <p:nvPr/>
        </p:nvSpPr>
        <p:spPr>
          <a:xfrm>
            <a:off x="969264" y="2253996"/>
            <a:ext cx="4462272" cy="109728"/>
          </a:xfrm>
          <a:prstGeom prst="rect">
            <a:avLst/>
          </a:prstGeom>
          <a:noFill/>
          <a:ln/>
        </p:spPr>
        <p:txBody>
          <a:bodyPr wrap="square" lIns="0" tIns="0" rIns="0" bIns="0" rtlCol="0" anchor="ctr"/>
          <a:lstStyle/>
          <a:p>
            <a:pPr indent="0" marL="0">
              <a:buNone/>
            </a:pPr>
            <a:r>
              <a:rPr lang="en-US" sz="880" b="1" dirty="0">
                <a:solidFill>
                  <a:srgbClr val="17312B"/>
                </a:solidFill>
              </a:rPr>
              <a:t>3. Listing detail + reserve modal</a:t>
            </a:r>
            <a:endParaRPr lang="en-US" sz="880" dirty="0"/>
          </a:p>
        </p:txBody>
      </p:sp>
      <p:sp>
        <p:nvSpPr>
          <p:cNvPr id="14" name="Shape 11"/>
          <p:cNvSpPr/>
          <p:nvPr/>
        </p:nvSpPr>
        <p:spPr>
          <a:xfrm>
            <a:off x="6126480" y="2130552"/>
            <a:ext cx="4754880" cy="411480"/>
          </a:xfrm>
          <a:prstGeom prst="roundRect">
            <a:avLst>
              <a:gd name="adj" fmla="val 8889"/>
            </a:avLst>
          </a:prstGeom>
          <a:solidFill>
            <a:srgbClr val="FFFFFF"/>
          </a:solidFill>
          <a:ln w="12700">
            <a:solidFill>
              <a:srgbClr val="D7E3DA"/>
            </a:solidFill>
            <a:prstDash val="solid"/>
          </a:ln>
        </p:spPr>
      </p:sp>
      <p:sp>
        <p:nvSpPr>
          <p:cNvPr id="15" name="Text 12"/>
          <p:cNvSpPr/>
          <p:nvPr/>
        </p:nvSpPr>
        <p:spPr>
          <a:xfrm>
            <a:off x="6272784" y="2253996"/>
            <a:ext cx="4462272" cy="109728"/>
          </a:xfrm>
          <a:prstGeom prst="rect">
            <a:avLst/>
          </a:prstGeom>
          <a:noFill/>
          <a:ln/>
        </p:spPr>
        <p:txBody>
          <a:bodyPr wrap="square" lIns="0" tIns="0" rIns="0" bIns="0" rtlCol="0" anchor="ctr"/>
          <a:lstStyle/>
          <a:p>
            <a:pPr indent="0" marL="0">
              <a:buNone/>
            </a:pPr>
            <a:r>
              <a:rPr lang="en-US" sz="880" b="1" dirty="0">
                <a:solidFill>
                  <a:srgbClr val="17312B"/>
                </a:solidFill>
              </a:rPr>
              <a:t>4. QR reservation sau khi đặt</a:t>
            </a:r>
            <a:endParaRPr lang="en-US" sz="880" dirty="0"/>
          </a:p>
        </p:txBody>
      </p:sp>
      <p:sp>
        <p:nvSpPr>
          <p:cNvPr id="16" name="Shape 13"/>
          <p:cNvSpPr/>
          <p:nvPr/>
        </p:nvSpPr>
        <p:spPr>
          <a:xfrm>
            <a:off x="822960" y="2843784"/>
            <a:ext cx="4754880" cy="411480"/>
          </a:xfrm>
          <a:prstGeom prst="roundRect">
            <a:avLst>
              <a:gd name="adj" fmla="val 8889"/>
            </a:avLst>
          </a:prstGeom>
          <a:solidFill>
            <a:srgbClr val="FFFFFF"/>
          </a:solidFill>
          <a:ln w="12700">
            <a:solidFill>
              <a:srgbClr val="D7E3DA"/>
            </a:solidFill>
            <a:prstDash val="solid"/>
          </a:ln>
        </p:spPr>
      </p:sp>
      <p:sp>
        <p:nvSpPr>
          <p:cNvPr id="17" name="Text 14"/>
          <p:cNvSpPr/>
          <p:nvPr/>
        </p:nvSpPr>
        <p:spPr>
          <a:xfrm>
            <a:off x="969264" y="2967228"/>
            <a:ext cx="4462272" cy="109728"/>
          </a:xfrm>
          <a:prstGeom prst="rect">
            <a:avLst/>
          </a:prstGeom>
          <a:noFill/>
          <a:ln/>
        </p:spPr>
        <p:txBody>
          <a:bodyPr wrap="square" lIns="0" tIns="0" rIns="0" bIns="0" rtlCol="0" anchor="ctr"/>
          <a:lstStyle/>
          <a:p>
            <a:pPr indent="0" marL="0">
              <a:buNone/>
            </a:pPr>
            <a:r>
              <a:rPr lang="en-US" sz="880" b="1" dirty="0">
                <a:solidFill>
                  <a:srgbClr val="17312B"/>
                </a:solidFill>
              </a:rPr>
              <a:t>5. Provider create listing</a:t>
            </a:r>
            <a:endParaRPr lang="en-US" sz="880" dirty="0"/>
          </a:p>
        </p:txBody>
      </p:sp>
      <p:sp>
        <p:nvSpPr>
          <p:cNvPr id="18" name="Shape 15"/>
          <p:cNvSpPr/>
          <p:nvPr/>
        </p:nvSpPr>
        <p:spPr>
          <a:xfrm>
            <a:off x="6126480" y="2843784"/>
            <a:ext cx="4754880" cy="411480"/>
          </a:xfrm>
          <a:prstGeom prst="roundRect">
            <a:avLst>
              <a:gd name="adj" fmla="val 8889"/>
            </a:avLst>
          </a:prstGeom>
          <a:solidFill>
            <a:srgbClr val="FFFFFF"/>
          </a:solidFill>
          <a:ln w="12700">
            <a:solidFill>
              <a:srgbClr val="D7E3DA"/>
            </a:solidFill>
            <a:prstDash val="solid"/>
          </a:ln>
        </p:spPr>
      </p:sp>
      <p:sp>
        <p:nvSpPr>
          <p:cNvPr id="19" name="Text 16"/>
          <p:cNvSpPr/>
          <p:nvPr/>
        </p:nvSpPr>
        <p:spPr>
          <a:xfrm>
            <a:off x="6272784" y="2967228"/>
            <a:ext cx="4462272" cy="109728"/>
          </a:xfrm>
          <a:prstGeom prst="rect">
            <a:avLst/>
          </a:prstGeom>
          <a:noFill/>
          <a:ln/>
        </p:spPr>
        <p:txBody>
          <a:bodyPr wrap="square" lIns="0" tIns="0" rIns="0" bIns="0" rtlCol="0" anchor="ctr"/>
          <a:lstStyle/>
          <a:p>
            <a:pPr indent="0" marL="0">
              <a:buNone/>
            </a:pPr>
            <a:r>
              <a:rPr lang="en-US" sz="880" b="1" dirty="0">
                <a:solidFill>
                  <a:srgbClr val="17312B"/>
                </a:solidFill>
              </a:rPr>
              <a:t>6. Provider scan QR / orders</a:t>
            </a:r>
            <a:endParaRPr lang="en-US" sz="880" dirty="0"/>
          </a:p>
        </p:txBody>
      </p:sp>
      <p:sp>
        <p:nvSpPr>
          <p:cNvPr id="20" name="Shape 17"/>
          <p:cNvSpPr/>
          <p:nvPr/>
        </p:nvSpPr>
        <p:spPr>
          <a:xfrm>
            <a:off x="822960" y="3557016"/>
            <a:ext cx="4754880" cy="411480"/>
          </a:xfrm>
          <a:prstGeom prst="roundRect">
            <a:avLst>
              <a:gd name="adj" fmla="val 8889"/>
            </a:avLst>
          </a:prstGeom>
          <a:solidFill>
            <a:srgbClr val="FFFFFF"/>
          </a:solidFill>
          <a:ln w="12700">
            <a:solidFill>
              <a:srgbClr val="D7E3DA"/>
            </a:solidFill>
            <a:prstDash val="solid"/>
          </a:ln>
        </p:spPr>
      </p:sp>
      <p:sp>
        <p:nvSpPr>
          <p:cNvPr id="21" name="Text 18"/>
          <p:cNvSpPr/>
          <p:nvPr/>
        </p:nvSpPr>
        <p:spPr>
          <a:xfrm>
            <a:off x="969264" y="3680460"/>
            <a:ext cx="4462272" cy="109728"/>
          </a:xfrm>
          <a:prstGeom prst="rect">
            <a:avLst/>
          </a:prstGeom>
          <a:noFill/>
          <a:ln/>
        </p:spPr>
        <p:txBody>
          <a:bodyPr wrap="square" lIns="0" tIns="0" rIns="0" bIns="0" rtlCol="0" anchor="ctr"/>
          <a:lstStyle/>
          <a:p>
            <a:pPr indent="0" marL="0">
              <a:buNone/>
            </a:pPr>
            <a:r>
              <a:rPr lang="en-US" sz="880" b="1" dirty="0">
                <a:solidFill>
                  <a:srgbClr val="17312B"/>
                </a:solidFill>
              </a:rPr>
              <a:t>7. Volunteer delivery offers + tracking</a:t>
            </a:r>
            <a:endParaRPr lang="en-US" sz="880" dirty="0"/>
          </a:p>
        </p:txBody>
      </p:sp>
      <p:sp>
        <p:nvSpPr>
          <p:cNvPr id="22" name="Shape 19"/>
          <p:cNvSpPr/>
          <p:nvPr/>
        </p:nvSpPr>
        <p:spPr>
          <a:xfrm>
            <a:off x="6126480" y="3557016"/>
            <a:ext cx="4754880" cy="411480"/>
          </a:xfrm>
          <a:prstGeom prst="roundRect">
            <a:avLst>
              <a:gd name="adj" fmla="val 8889"/>
            </a:avLst>
          </a:prstGeom>
          <a:solidFill>
            <a:srgbClr val="FFFFFF"/>
          </a:solidFill>
          <a:ln w="12700">
            <a:solidFill>
              <a:srgbClr val="D7E3DA"/>
            </a:solidFill>
            <a:prstDash val="solid"/>
          </a:ln>
        </p:spPr>
      </p:sp>
      <p:sp>
        <p:nvSpPr>
          <p:cNvPr id="23" name="Text 20"/>
          <p:cNvSpPr/>
          <p:nvPr/>
        </p:nvSpPr>
        <p:spPr>
          <a:xfrm>
            <a:off x="6272784" y="3680460"/>
            <a:ext cx="4462272" cy="109728"/>
          </a:xfrm>
          <a:prstGeom prst="rect">
            <a:avLst/>
          </a:prstGeom>
          <a:noFill/>
          <a:ln/>
        </p:spPr>
        <p:txBody>
          <a:bodyPr wrap="square" lIns="0" tIns="0" rIns="0" bIns="0" rtlCol="0" anchor="ctr"/>
          <a:lstStyle/>
          <a:p>
            <a:pPr indent="0" marL="0">
              <a:buNone/>
            </a:pPr>
            <a:r>
              <a:rPr lang="en-US" sz="880" b="1" dirty="0">
                <a:solidFill>
                  <a:srgbClr val="17312B"/>
                </a:solidFill>
              </a:rPr>
              <a:t>8. Charity campaign manage + kitchen dashboard</a:t>
            </a:r>
            <a:endParaRPr lang="en-US" sz="880" dirty="0"/>
          </a:p>
        </p:txBody>
      </p:sp>
      <p:sp>
        <p:nvSpPr>
          <p:cNvPr id="24" name="Shape 21"/>
          <p:cNvSpPr/>
          <p:nvPr/>
        </p:nvSpPr>
        <p:spPr>
          <a:xfrm>
            <a:off x="822960" y="4270248"/>
            <a:ext cx="4754880" cy="411480"/>
          </a:xfrm>
          <a:prstGeom prst="roundRect">
            <a:avLst>
              <a:gd name="adj" fmla="val 8889"/>
            </a:avLst>
          </a:prstGeom>
          <a:solidFill>
            <a:srgbClr val="FFFFFF"/>
          </a:solidFill>
          <a:ln w="12700">
            <a:solidFill>
              <a:srgbClr val="D7E3DA"/>
            </a:solidFill>
            <a:prstDash val="solid"/>
          </a:ln>
        </p:spPr>
      </p:sp>
      <p:sp>
        <p:nvSpPr>
          <p:cNvPr id="25" name="Text 22"/>
          <p:cNvSpPr/>
          <p:nvPr/>
        </p:nvSpPr>
        <p:spPr>
          <a:xfrm>
            <a:off x="969264" y="4393692"/>
            <a:ext cx="4462272" cy="109728"/>
          </a:xfrm>
          <a:prstGeom prst="rect">
            <a:avLst/>
          </a:prstGeom>
          <a:noFill/>
          <a:ln/>
        </p:spPr>
        <p:txBody>
          <a:bodyPr wrap="square" lIns="0" tIns="0" rIns="0" bIns="0" rtlCol="0" anchor="ctr"/>
          <a:lstStyle/>
          <a:p>
            <a:pPr indent="0" marL="0">
              <a:buNone/>
            </a:pPr>
            <a:r>
              <a:rPr lang="en-US" sz="880" b="1" dirty="0">
                <a:solidFill>
                  <a:srgbClr val="17312B"/>
                </a:solidFill>
              </a:rPr>
              <a:t>9. Admin reports/verification</a:t>
            </a:r>
            <a:endParaRPr lang="en-US" sz="880" dirty="0"/>
          </a:p>
        </p:txBody>
      </p:sp>
      <p:sp>
        <p:nvSpPr>
          <p:cNvPr id="26" name="Shape 23"/>
          <p:cNvSpPr/>
          <p:nvPr/>
        </p:nvSpPr>
        <p:spPr>
          <a:xfrm>
            <a:off x="6126480" y="4270248"/>
            <a:ext cx="4754880" cy="411480"/>
          </a:xfrm>
          <a:prstGeom prst="roundRect">
            <a:avLst>
              <a:gd name="adj" fmla="val 8889"/>
            </a:avLst>
          </a:prstGeom>
          <a:solidFill>
            <a:srgbClr val="FFFFFF"/>
          </a:solidFill>
          <a:ln w="12700">
            <a:solidFill>
              <a:srgbClr val="D7E3DA"/>
            </a:solidFill>
            <a:prstDash val="solid"/>
          </a:ln>
        </p:spPr>
      </p:sp>
      <p:sp>
        <p:nvSpPr>
          <p:cNvPr id="27" name="Text 24"/>
          <p:cNvSpPr/>
          <p:nvPr/>
        </p:nvSpPr>
        <p:spPr>
          <a:xfrm>
            <a:off x="6272784" y="4393692"/>
            <a:ext cx="4462272" cy="109728"/>
          </a:xfrm>
          <a:prstGeom prst="rect">
            <a:avLst/>
          </a:prstGeom>
          <a:noFill/>
          <a:ln/>
        </p:spPr>
        <p:txBody>
          <a:bodyPr wrap="square" lIns="0" tIns="0" rIns="0" bIns="0" rtlCol="0" anchor="ctr"/>
          <a:lstStyle/>
          <a:p>
            <a:pPr indent="0" marL="0">
              <a:buNone/>
            </a:pPr>
            <a:r>
              <a:rPr lang="en-US" sz="880" b="1" dirty="0">
                <a:solidFill>
                  <a:srgbClr val="17312B"/>
                </a:solidFill>
              </a:rPr>
              <a:t>10. ESG dashboard + DB/ERD tổng quan</a:t>
            </a:r>
            <a:endParaRPr lang="en-US" sz="880" dirty="0"/>
          </a:p>
        </p:txBody>
      </p:sp>
      <p:sp>
        <p:nvSpPr>
          <p:cNvPr id="28" name="Shape 25"/>
          <p:cNvSpPr/>
          <p:nvPr/>
        </p:nvSpPr>
        <p:spPr>
          <a:xfrm>
            <a:off x="868680" y="5513832"/>
            <a:ext cx="10287000" cy="502920"/>
          </a:xfrm>
          <a:prstGeom prst="roundRect">
            <a:avLst>
              <a:gd name="adj" fmla="val 10909"/>
            </a:avLst>
          </a:prstGeom>
          <a:solidFill>
            <a:srgbClr val="FFFFFF"/>
          </a:solidFill>
          <a:ln w="12700">
            <a:solidFill>
              <a:srgbClr val="D7E3DA"/>
            </a:solidFill>
            <a:prstDash val="solid"/>
          </a:ln>
        </p:spPr>
      </p:sp>
      <p:sp>
        <p:nvSpPr>
          <p:cNvPr id="29" name="Shape 26"/>
          <p:cNvSpPr/>
          <p:nvPr/>
        </p:nvSpPr>
        <p:spPr>
          <a:xfrm>
            <a:off x="868680" y="5513832"/>
            <a:ext cx="73152" cy="502920"/>
          </a:xfrm>
          <a:prstGeom prst="rect">
            <a:avLst/>
          </a:prstGeom>
          <a:solidFill>
            <a:srgbClr val="1F8A4C"/>
          </a:solidFill>
          <a:ln w="12700">
            <a:solidFill>
              <a:srgbClr val="1F8A4C">
                <a:alpha val="0"/>
              </a:srgbClr>
            </a:solidFill>
            <a:prstDash val="solid"/>
          </a:ln>
        </p:spPr>
      </p:sp>
      <p:sp>
        <p:nvSpPr>
          <p:cNvPr id="30" name="Text 27"/>
          <p:cNvSpPr/>
          <p:nvPr/>
        </p:nvSpPr>
        <p:spPr>
          <a:xfrm>
            <a:off x="1078992" y="5678424"/>
            <a:ext cx="9939528" cy="228600"/>
          </a:xfrm>
          <a:prstGeom prst="rect">
            <a:avLst/>
          </a:prstGeom>
          <a:noFill/>
          <a:ln/>
        </p:spPr>
        <p:txBody>
          <a:bodyPr wrap="square" lIns="0" tIns="0" rIns="0" bIns="0" rtlCol="0" anchor="ctr"/>
          <a:lstStyle/>
          <a:p>
            <a:pPr indent="0" marL="0">
              <a:buNone/>
            </a:pPr>
            <a:r>
              <a:rPr lang="en-US" sz="1150" b="1" dirty="0">
                <a:solidFill>
                  <a:srgbClr val="17312B"/>
                </a:solidFill>
              </a:rPr>
              <a:t>Gợi ý khi chụp</a:t>
            </a:r>
            <a:endParaRPr lang="en-US" sz="1150" dirty="0"/>
          </a:p>
        </p:txBody>
      </p:sp>
      <p:sp>
        <p:nvSpPr>
          <p:cNvPr id="31" name="Text 28"/>
          <p:cNvSpPr/>
          <p:nvPr/>
        </p:nvSpPr>
        <p:spPr>
          <a:xfrm>
            <a:off x="1078992" y="5989320"/>
            <a:ext cx="9939528" cy="-13716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Chụp full màn hình, zoom 100%, dữ liệu demo có tên món/địa chỉ rõ, tránh che các trạng thái quan trọng như active, confirmed, picked_up, delivered.</a:t>
            </a:r>
            <a:endParaRPr lang="en-US" sz="87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5"/>
        </a:solidFill>
      </p:bgPr>
    </p:bg>
    <p:spTree>
      <p:nvGrpSpPr>
        <p:cNvPr id="1" name=""/>
        <p:cNvGrpSpPr/>
        <p:nvPr/>
      </p:nvGrpSpPr>
      <p:grpSpPr>
        <a:xfrm>
          <a:off x="0" y="0"/>
          <a:ext cx="0" cy="0"/>
          <a:chOff x="0" y="0"/>
          <a:chExt cx="0" cy="0"/>
        </a:xfrm>
      </p:grpSpPr>
      <p:sp>
        <p:nvSpPr>
          <p:cNvPr id="2" name="Text 0"/>
          <p:cNvSpPr/>
          <p:nvPr/>
        </p:nvSpPr>
        <p:spPr>
          <a:xfrm>
            <a:off x="502920" y="475488"/>
            <a:ext cx="7772400" cy="502920"/>
          </a:xfrm>
          <a:prstGeom prst="rect">
            <a:avLst/>
          </a:prstGeom>
          <a:noFill/>
          <a:ln/>
        </p:spPr>
        <p:txBody>
          <a:bodyPr wrap="square" lIns="0" tIns="0" rIns="0" bIns="0" rtlCol="0" anchor="ctr"/>
          <a:lstStyle/>
          <a:p>
            <a:pPr indent="0" marL="0">
              <a:buNone/>
            </a:pPr>
            <a:r>
              <a:rPr lang="en-US" sz="2500" b="1" dirty="0">
                <a:solidFill>
                  <a:srgbClr val="17312B"/>
                </a:solidFill>
              </a:rPr>
              <a:t>Thông điệp kết luận</a:t>
            </a:r>
            <a:endParaRPr lang="en-US" sz="2500" dirty="0"/>
          </a:p>
        </p:txBody>
      </p:sp>
      <p:sp>
        <p:nvSpPr>
          <p:cNvPr id="3" name="Text 1"/>
          <p:cNvSpPr/>
          <p:nvPr/>
        </p:nvSpPr>
        <p:spPr>
          <a:xfrm>
            <a:off x="502920" y="987552"/>
            <a:ext cx="8046720" cy="292608"/>
          </a:xfrm>
          <a:prstGeom prst="rect">
            <a:avLst/>
          </a:prstGeom>
          <a:noFill/>
          <a:ln/>
        </p:spPr>
        <p:txBody>
          <a:bodyPr wrap="square" lIns="0" tIns="0" rIns="0" bIns="0" rtlCol="0" anchor="ctr"/>
          <a:lstStyle/>
          <a:p>
            <a:pPr indent="0" marL="0">
              <a:buNone/>
            </a:pPr>
            <a:r>
              <a:rPr lang="en-US" sz="1050" dirty="0">
                <a:solidFill>
                  <a:srgbClr val="5D6A66"/>
                </a:solidFill>
              </a:rPr>
              <a:t>FoodResQ không chỉ là app đặt đồ ăn miễn phí; đây là hệ thống điều phối cứu trợ thực phẩm có kiểm soát.</a:t>
            </a:r>
            <a:endParaRPr lang="en-US" sz="1050" dirty="0"/>
          </a:p>
        </p:txBody>
      </p:sp>
      <p:sp>
        <p:nvSpPr>
          <p:cNvPr id="4" name="Shape 2"/>
          <p:cNvSpPr/>
          <p:nvPr/>
        </p:nvSpPr>
        <p:spPr>
          <a:xfrm>
            <a:off x="502920" y="6446520"/>
            <a:ext cx="11173968" cy="0"/>
          </a:xfrm>
          <a:prstGeom prst="line">
            <a:avLst/>
          </a:prstGeom>
          <a:noFill/>
          <a:ln w="12700">
            <a:solidFill>
              <a:srgbClr val="D7E3DA"/>
            </a:solidFill>
            <a:prstDash val="solid"/>
          </a:ln>
        </p:spPr>
      </p:sp>
      <p:sp>
        <p:nvSpPr>
          <p:cNvPr id="5" name="Text 3"/>
          <p:cNvSpPr/>
          <p:nvPr/>
        </p:nvSpPr>
        <p:spPr>
          <a:xfrm>
            <a:off x="502920" y="6519672"/>
            <a:ext cx="4389120" cy="164592"/>
          </a:xfrm>
          <a:prstGeom prst="rect">
            <a:avLst/>
          </a:prstGeom>
          <a:noFill/>
          <a:ln/>
        </p:spPr>
        <p:txBody>
          <a:bodyPr wrap="square" lIns="0" tIns="0" rIns="0" bIns="0" rtlCol="0" anchor="ctr"/>
          <a:lstStyle/>
          <a:p>
            <a:pPr indent="0" marL="0">
              <a:buNone/>
            </a:pPr>
            <a:r>
              <a:rPr lang="en-US" sz="760" dirty="0">
                <a:solidFill>
                  <a:srgbClr val="5D6A66"/>
                </a:solidFill>
                <a:latin typeface="Aptos" pitchFamily="34" charset="0"/>
                <a:ea typeface="Aptos" pitchFamily="34" charset="-122"/>
                <a:cs typeface="Aptos" pitchFamily="34" charset="-120"/>
              </a:rPr>
              <a:t>FoodResQ | Capstone SP26SE088</a:t>
            </a:r>
            <a:endParaRPr lang="en-US" sz="760" dirty="0"/>
          </a:p>
        </p:txBody>
      </p:sp>
      <p:sp>
        <p:nvSpPr>
          <p:cNvPr id="6" name="Text 4"/>
          <p:cNvSpPr/>
          <p:nvPr/>
        </p:nvSpPr>
        <p:spPr>
          <a:xfrm>
            <a:off x="11192256" y="6492240"/>
            <a:ext cx="457200" cy="201168"/>
          </a:xfrm>
          <a:prstGeom prst="rect">
            <a:avLst/>
          </a:prstGeom>
          <a:noFill/>
          <a:ln/>
        </p:spPr>
        <p:txBody>
          <a:bodyPr wrap="square" lIns="0" tIns="0" rIns="0" bIns="0" rtlCol="0" anchor="ctr"/>
          <a:lstStyle/>
          <a:p>
            <a:pPr algn="r" indent="0" marL="0">
              <a:buNone/>
            </a:pPr>
            <a:r>
              <a:rPr lang="en-US" sz="800" b="1" dirty="0">
                <a:solidFill>
                  <a:srgbClr val="5D6A66"/>
                </a:solidFill>
              </a:rPr>
              <a:t>15</a:t>
            </a:r>
            <a:endParaRPr lang="en-US" sz="800" dirty="0"/>
          </a:p>
        </p:txBody>
      </p:sp>
      <p:pic>
        <p:nvPicPr>
          <p:cNvPr id="7" name="Image 0" descr="D:\Capstone_FoodResQ_Web\apps\web\public\Logo_FoodResQ.png">    </p:cNvPr>
          <p:cNvPicPr>
            <a:picLocks noChangeAspect="1"/>
          </p:cNvPicPr>
          <p:nvPr/>
        </p:nvPicPr>
        <p:blipFill>
          <a:blip r:embed="rId1"/>
          <a:stretch>
            <a:fillRect/>
          </a:stretch>
        </p:blipFill>
        <p:spPr>
          <a:xfrm>
            <a:off x="10652760" y="310896"/>
            <a:ext cx="960120" cy="420624"/>
          </a:xfrm>
          <a:prstGeom prst="rect">
            <a:avLst/>
          </a:prstGeom>
        </p:spPr>
      </p:pic>
      <p:sp>
        <p:nvSpPr>
          <p:cNvPr id="8" name="Shape 5"/>
          <p:cNvSpPr/>
          <p:nvPr/>
        </p:nvSpPr>
        <p:spPr>
          <a:xfrm>
            <a:off x="822960" y="1508760"/>
            <a:ext cx="2971800" cy="2560320"/>
          </a:xfrm>
          <a:prstGeom prst="roundRect">
            <a:avLst>
              <a:gd name="adj" fmla="val 2143"/>
            </a:avLst>
          </a:prstGeom>
          <a:solidFill>
            <a:srgbClr val="FFFFFF"/>
          </a:solidFill>
          <a:ln w="12700">
            <a:solidFill>
              <a:srgbClr val="D7E3DA"/>
            </a:solidFill>
            <a:prstDash val="solid"/>
          </a:ln>
        </p:spPr>
      </p:sp>
      <p:sp>
        <p:nvSpPr>
          <p:cNvPr id="9" name="Shape 6"/>
          <p:cNvSpPr/>
          <p:nvPr/>
        </p:nvSpPr>
        <p:spPr>
          <a:xfrm>
            <a:off x="822960" y="1508760"/>
            <a:ext cx="73152" cy="2560320"/>
          </a:xfrm>
          <a:prstGeom prst="rect">
            <a:avLst/>
          </a:prstGeom>
          <a:solidFill>
            <a:srgbClr val="1F8A4C"/>
          </a:solidFill>
          <a:ln w="12700">
            <a:solidFill>
              <a:srgbClr val="1F8A4C">
                <a:alpha val="0"/>
              </a:srgbClr>
            </a:solidFill>
            <a:prstDash val="solid"/>
          </a:ln>
        </p:spPr>
      </p:sp>
      <p:sp>
        <p:nvSpPr>
          <p:cNvPr id="10" name="Text 7"/>
          <p:cNvSpPr/>
          <p:nvPr/>
        </p:nvSpPr>
        <p:spPr>
          <a:xfrm>
            <a:off x="1033272" y="1673352"/>
            <a:ext cx="2624328" cy="228600"/>
          </a:xfrm>
          <a:prstGeom prst="rect">
            <a:avLst/>
          </a:prstGeom>
          <a:noFill/>
          <a:ln/>
        </p:spPr>
        <p:txBody>
          <a:bodyPr wrap="square" lIns="0" tIns="0" rIns="0" bIns="0" rtlCol="0" anchor="ctr"/>
          <a:lstStyle/>
          <a:p>
            <a:pPr indent="0" marL="0">
              <a:buNone/>
            </a:pPr>
            <a:r>
              <a:rPr lang="en-US" sz="1150" b="1" dirty="0">
                <a:solidFill>
                  <a:srgbClr val="17312B"/>
                </a:solidFill>
              </a:rPr>
              <a:t>Giá trị nghiệp vụ</a:t>
            </a:r>
            <a:endParaRPr lang="en-US" sz="1150" dirty="0"/>
          </a:p>
        </p:txBody>
      </p:sp>
      <p:sp>
        <p:nvSpPr>
          <p:cNvPr id="11" name="Text 8"/>
          <p:cNvSpPr/>
          <p:nvPr/>
        </p:nvSpPr>
        <p:spPr>
          <a:xfrm>
            <a:off x="1033272" y="1984248"/>
            <a:ext cx="2624328" cy="192024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Tạo cầu nối realtime giữa nguồn thực phẩm dư và người cần hỗ trợ; mở rộng sang bếp chiến dịch và phân phối số lượng lớn.</a:t>
            </a:r>
            <a:endParaRPr lang="en-US" sz="870" dirty="0"/>
          </a:p>
        </p:txBody>
      </p:sp>
      <p:sp>
        <p:nvSpPr>
          <p:cNvPr id="12" name="Shape 9"/>
          <p:cNvSpPr/>
          <p:nvPr/>
        </p:nvSpPr>
        <p:spPr>
          <a:xfrm>
            <a:off x="4160520" y="1508760"/>
            <a:ext cx="2971800" cy="2560320"/>
          </a:xfrm>
          <a:prstGeom prst="roundRect">
            <a:avLst>
              <a:gd name="adj" fmla="val 2143"/>
            </a:avLst>
          </a:prstGeom>
          <a:solidFill>
            <a:srgbClr val="FFFFFF"/>
          </a:solidFill>
          <a:ln w="12700">
            <a:solidFill>
              <a:srgbClr val="D7E3DA"/>
            </a:solidFill>
            <a:prstDash val="solid"/>
          </a:ln>
        </p:spPr>
      </p:sp>
      <p:sp>
        <p:nvSpPr>
          <p:cNvPr id="13" name="Shape 10"/>
          <p:cNvSpPr/>
          <p:nvPr/>
        </p:nvSpPr>
        <p:spPr>
          <a:xfrm>
            <a:off x="4160520" y="1508760"/>
            <a:ext cx="73152" cy="2560320"/>
          </a:xfrm>
          <a:prstGeom prst="rect">
            <a:avLst/>
          </a:prstGeom>
          <a:solidFill>
            <a:srgbClr val="2574A9"/>
          </a:solidFill>
          <a:ln w="12700">
            <a:solidFill>
              <a:srgbClr val="2574A9">
                <a:alpha val="0"/>
              </a:srgbClr>
            </a:solidFill>
            <a:prstDash val="solid"/>
          </a:ln>
        </p:spPr>
      </p:sp>
      <p:sp>
        <p:nvSpPr>
          <p:cNvPr id="14" name="Text 11"/>
          <p:cNvSpPr/>
          <p:nvPr/>
        </p:nvSpPr>
        <p:spPr>
          <a:xfrm>
            <a:off x="4370832" y="1673352"/>
            <a:ext cx="2624328" cy="228600"/>
          </a:xfrm>
          <a:prstGeom prst="rect">
            <a:avLst/>
          </a:prstGeom>
          <a:noFill/>
          <a:ln/>
        </p:spPr>
        <p:txBody>
          <a:bodyPr wrap="square" lIns="0" tIns="0" rIns="0" bIns="0" rtlCol="0" anchor="ctr"/>
          <a:lstStyle/>
          <a:p>
            <a:pPr indent="0" marL="0">
              <a:buNone/>
            </a:pPr>
            <a:r>
              <a:rPr lang="en-US" sz="1150" b="1" dirty="0">
                <a:solidFill>
                  <a:srgbClr val="17312B"/>
                </a:solidFill>
              </a:rPr>
              <a:t>Giá trị kỹ thuật</a:t>
            </a:r>
            <a:endParaRPr lang="en-US" sz="1150" dirty="0"/>
          </a:p>
        </p:txBody>
      </p:sp>
      <p:sp>
        <p:nvSpPr>
          <p:cNvPr id="15" name="Text 12"/>
          <p:cNvSpPr/>
          <p:nvPr/>
        </p:nvSpPr>
        <p:spPr>
          <a:xfrm>
            <a:off x="4370832" y="1984248"/>
            <a:ext cx="2624328" cy="192024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Giải quyết vị trí, cạnh tranh số lượng, realtime, queue, xác thực QR/face, trust score và audit trên một kiến trúc rõ ràng.</a:t>
            </a:r>
            <a:endParaRPr lang="en-US" sz="870" dirty="0"/>
          </a:p>
        </p:txBody>
      </p:sp>
      <p:sp>
        <p:nvSpPr>
          <p:cNvPr id="16" name="Shape 13"/>
          <p:cNvSpPr/>
          <p:nvPr/>
        </p:nvSpPr>
        <p:spPr>
          <a:xfrm>
            <a:off x="7498080" y="1508760"/>
            <a:ext cx="2971800" cy="2560320"/>
          </a:xfrm>
          <a:prstGeom prst="roundRect">
            <a:avLst>
              <a:gd name="adj" fmla="val 2143"/>
            </a:avLst>
          </a:prstGeom>
          <a:solidFill>
            <a:srgbClr val="FFFFFF"/>
          </a:solidFill>
          <a:ln w="12700">
            <a:solidFill>
              <a:srgbClr val="D7E3DA"/>
            </a:solidFill>
            <a:prstDash val="solid"/>
          </a:ln>
        </p:spPr>
      </p:sp>
      <p:sp>
        <p:nvSpPr>
          <p:cNvPr id="17" name="Shape 14"/>
          <p:cNvSpPr/>
          <p:nvPr/>
        </p:nvSpPr>
        <p:spPr>
          <a:xfrm>
            <a:off x="7498080" y="1508760"/>
            <a:ext cx="73152" cy="2560320"/>
          </a:xfrm>
          <a:prstGeom prst="rect">
            <a:avLst/>
          </a:prstGeom>
          <a:solidFill>
            <a:srgbClr val="F28C38"/>
          </a:solidFill>
          <a:ln w="12700">
            <a:solidFill>
              <a:srgbClr val="F28C38">
                <a:alpha val="0"/>
              </a:srgbClr>
            </a:solidFill>
            <a:prstDash val="solid"/>
          </a:ln>
        </p:spPr>
      </p:sp>
      <p:sp>
        <p:nvSpPr>
          <p:cNvPr id="18" name="Text 15"/>
          <p:cNvSpPr/>
          <p:nvPr/>
        </p:nvSpPr>
        <p:spPr>
          <a:xfrm>
            <a:off x="7708392" y="1673352"/>
            <a:ext cx="2624328" cy="228600"/>
          </a:xfrm>
          <a:prstGeom prst="rect">
            <a:avLst/>
          </a:prstGeom>
          <a:noFill/>
          <a:ln/>
        </p:spPr>
        <p:txBody>
          <a:bodyPr wrap="square" lIns="0" tIns="0" rIns="0" bIns="0" rtlCol="0" anchor="ctr"/>
          <a:lstStyle/>
          <a:p>
            <a:pPr indent="0" marL="0">
              <a:buNone/>
            </a:pPr>
            <a:r>
              <a:rPr lang="en-US" sz="1150" b="1" dirty="0">
                <a:solidFill>
                  <a:srgbClr val="17312B"/>
                </a:solidFill>
              </a:rPr>
              <a:t>Giá trị bảo vệ</a:t>
            </a:r>
            <a:endParaRPr lang="en-US" sz="1150" dirty="0"/>
          </a:p>
        </p:txBody>
      </p:sp>
      <p:sp>
        <p:nvSpPr>
          <p:cNvPr id="19" name="Text 16"/>
          <p:cNvSpPr/>
          <p:nvPr/>
        </p:nvSpPr>
        <p:spPr>
          <a:xfrm>
            <a:off x="7708392" y="1984248"/>
            <a:ext cx="2624328" cy="1920240"/>
          </a:xfrm>
          <a:prstGeom prst="rect">
            <a:avLst/>
          </a:prstGeom>
          <a:noFill/>
          <a:ln/>
        </p:spPr>
        <p:txBody>
          <a:bodyPr wrap="square" lIns="254" tIns="254" rIns="254" bIns="254" rtlCol="0" anchor="ctr">
            <a:normAutofit/>
          </a:bodyPr>
          <a:lstStyle/>
          <a:p>
            <a:pPr indent="0" marL="0">
              <a:buNone/>
            </a:pPr>
            <a:r>
              <a:rPr lang="en-US" sz="870" dirty="0">
                <a:solidFill>
                  <a:srgbClr val="5D6A66"/>
                </a:solidFill>
              </a:rPr>
              <a:t>Có luồng demo cụ thể, cơ chế chống lạm dụng, database domain rõ và công nghệ phù hợp với yêu cầu capstone.</a:t>
            </a:r>
            <a:endParaRPr lang="en-US" sz="870" dirty="0"/>
          </a:p>
        </p:txBody>
      </p:sp>
      <p:sp>
        <p:nvSpPr>
          <p:cNvPr id="20" name="Text 17"/>
          <p:cNvSpPr/>
          <p:nvPr/>
        </p:nvSpPr>
        <p:spPr>
          <a:xfrm>
            <a:off x="4773168" y="4828032"/>
            <a:ext cx="2651760" cy="566928"/>
          </a:xfrm>
          <a:prstGeom prst="rect">
            <a:avLst/>
          </a:prstGeom>
          <a:noFill/>
          <a:ln/>
        </p:spPr>
        <p:txBody>
          <a:bodyPr wrap="square" lIns="0" tIns="0" rIns="0" bIns="0" rtlCol="0" anchor="ctr"/>
          <a:lstStyle/>
          <a:p>
            <a:pPr algn="ctr" indent="0" marL="0">
              <a:buNone/>
            </a:pPr>
            <a:r>
              <a:rPr lang="en-US" sz="3100" b="1" dirty="0">
                <a:solidFill>
                  <a:srgbClr val="1F8A4C"/>
                </a:solidFill>
              </a:rPr>
              <a:t>Q&amp;A</a:t>
            </a:r>
            <a:endParaRPr lang="en-US" sz="3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FPT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FoodResQ - System Overview</dc:title>
  <dc:subject>FoodResQ system overview for capstone defense</dc:subject>
  <dc:creator>FoodResQ Team</dc:creator>
  <cp:lastModifiedBy>FoodResQ Team</cp:lastModifiedBy>
  <cp:revision>1</cp:revision>
  <dcterms:created xsi:type="dcterms:W3CDTF">2026-08-15T16:47:19Z</dcterms:created>
  <dcterms:modified xsi:type="dcterms:W3CDTF">2026-08-15T16:47:19Z</dcterms:modified>
</cp:coreProperties>
</file>